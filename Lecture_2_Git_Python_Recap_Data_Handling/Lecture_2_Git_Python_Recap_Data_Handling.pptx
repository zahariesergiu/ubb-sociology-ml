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IBM Plex Sans"/>
      <p:regular r:id="rId29"/>
      <p:bold r:id="rId30"/>
      <p:italic r:id="rId31"/>
      <p:boldItalic r:id="rId32"/>
    </p:embeddedFont>
    <p:embeddedFont>
      <p:font typeface="Space Mono"/>
      <p:bold r:id="rId33"/>
      <p:boldItalic r:id="rId34"/>
    </p:embeddedFont>
    <p:embeddedFont>
      <p:font typeface="IBM Plex Sans Condensed"/>
      <p:regular r:id="rId35"/>
      <p:bold r:id="rId36"/>
      <p:italic r:id="rId37"/>
      <p:boldItalic r:id="rId38"/>
    </p:embeddedFon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4.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BMPlex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italic.fntdata"/><Relationship Id="rId30" Type="http://schemas.openxmlformats.org/officeDocument/2006/relationships/font" Target="fonts/IBMPlexSans-bold.fntdata"/><Relationship Id="rId11" Type="http://schemas.openxmlformats.org/officeDocument/2006/relationships/slide" Target="slides/slide5.xml"/><Relationship Id="rId33" Type="http://schemas.openxmlformats.org/officeDocument/2006/relationships/font" Target="fonts/SpaceMono-bold.fntdata"/><Relationship Id="rId10" Type="http://schemas.openxmlformats.org/officeDocument/2006/relationships/slide" Target="slides/slide4.xml"/><Relationship Id="rId32" Type="http://schemas.openxmlformats.org/officeDocument/2006/relationships/font" Target="fonts/IBMPlexSans-boldItalic.fntdata"/><Relationship Id="rId13" Type="http://schemas.openxmlformats.org/officeDocument/2006/relationships/slide" Target="slides/slide7.xml"/><Relationship Id="rId35" Type="http://schemas.openxmlformats.org/officeDocument/2006/relationships/font" Target="fonts/IBMPlexSansCondensed-regular.fntdata"/><Relationship Id="rId12" Type="http://schemas.openxmlformats.org/officeDocument/2006/relationships/slide" Target="slides/slide6.xml"/><Relationship Id="rId34" Type="http://schemas.openxmlformats.org/officeDocument/2006/relationships/font" Target="fonts/SpaceMono-boldItalic.fntdata"/><Relationship Id="rId15" Type="http://schemas.openxmlformats.org/officeDocument/2006/relationships/slide" Target="slides/slide9.xml"/><Relationship Id="rId37" Type="http://schemas.openxmlformats.org/officeDocument/2006/relationships/font" Target="fonts/IBMPlexSansCondensed-italic.fntdata"/><Relationship Id="rId14" Type="http://schemas.openxmlformats.org/officeDocument/2006/relationships/slide" Target="slides/slide8.xml"/><Relationship Id="rId36" Type="http://schemas.openxmlformats.org/officeDocument/2006/relationships/font" Target="fonts/IBMPlexSansCondensed-bold.fntdata"/><Relationship Id="rId17" Type="http://schemas.openxmlformats.org/officeDocument/2006/relationships/slide" Target="slides/slide11.xml"/><Relationship Id="rId39" Type="http://schemas.openxmlformats.org/officeDocument/2006/relationships/font" Target="fonts/OpenSans-regular.fntdata"/><Relationship Id="rId16" Type="http://schemas.openxmlformats.org/officeDocument/2006/relationships/slide" Target="slides/slide10.xml"/><Relationship Id="rId38" Type="http://schemas.openxmlformats.org/officeDocument/2006/relationships/font" Target="fonts/IBMPlexSansCondensed-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24bd064d7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24bd064d7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b480890f08_0_4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b480890f08_0_4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480890f08_0_5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b480890f08_0_5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24bd064d7e_0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24bd064d7e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24bd064d7e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24bd064d7e_0_2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4bd064d7e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24bd064d7e_0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24bd064d7e_0_4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24bd064d7e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24bd064d7e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24bd064d7e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b47f8bfc9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3b47f8bfc9e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2" name="Google Shape;8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3" name="Google Shape;8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8" name="Shape 88"/>
        <p:cNvGrpSpPr/>
        <p:nvPr/>
      </p:nvGrpSpPr>
      <p:grpSpPr>
        <a:xfrm>
          <a:off x="0" y="0"/>
          <a:ext cx="0" cy="0"/>
          <a:chOff x="0" y="0"/>
          <a:chExt cx="0" cy="0"/>
        </a:xfrm>
      </p:grpSpPr>
      <p:sp>
        <p:nvSpPr>
          <p:cNvPr id="89" name="Google Shape;8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1" name="Google Shape;9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2" name="Shape 92"/>
        <p:cNvGrpSpPr/>
        <p:nvPr/>
      </p:nvGrpSpPr>
      <p:grpSpPr>
        <a:xfrm>
          <a:off x="0" y="0"/>
          <a:ext cx="0" cy="0"/>
          <a:chOff x="0" y="0"/>
          <a:chExt cx="0" cy="0"/>
        </a:xfrm>
      </p:grpSpPr>
      <p:sp>
        <p:nvSpPr>
          <p:cNvPr id="93" name="Google Shape;93;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4" name="Google Shape;94;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5" name="Google Shape;9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6" name="Shape 96"/>
        <p:cNvGrpSpPr/>
        <p:nvPr/>
      </p:nvGrpSpPr>
      <p:grpSpPr>
        <a:xfrm>
          <a:off x="0" y="0"/>
          <a:ext cx="0" cy="0"/>
          <a:chOff x="0" y="0"/>
          <a:chExt cx="0" cy="0"/>
        </a:xfrm>
      </p:grpSpPr>
      <p:sp>
        <p:nvSpPr>
          <p:cNvPr id="97" name="Google Shape;97;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8" name="Google Shape;9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 name="Shape 99"/>
        <p:cNvGrpSpPr/>
        <p:nvPr/>
      </p:nvGrpSpPr>
      <p:grpSpPr>
        <a:xfrm>
          <a:off x="0" y="0"/>
          <a:ext cx="0" cy="0"/>
          <a:chOff x="0" y="0"/>
          <a:chExt cx="0" cy="0"/>
        </a:xfrm>
      </p:grpSpPr>
      <p:sp>
        <p:nvSpPr>
          <p:cNvPr id="100" name="Google Shape;100;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1" name="Google Shape;10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4" name="Google Shape;10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7" name="Google Shape;107;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8" name="Google Shape;108;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9" name="Google Shape;10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2" name="Google Shape;112;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3" name="Google Shape;11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4" name="Shape 114"/>
        <p:cNvGrpSpPr/>
        <p:nvPr/>
      </p:nvGrpSpPr>
      <p:grpSpPr>
        <a:xfrm>
          <a:off x="0" y="0"/>
          <a:ext cx="0" cy="0"/>
          <a:chOff x="0" y="0"/>
          <a:chExt cx="0" cy="0"/>
        </a:xfrm>
      </p:grpSpPr>
      <p:sp>
        <p:nvSpPr>
          <p:cNvPr id="115" name="Google Shape;115;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7" name="Google Shape;117;p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8" name="Google Shape;118;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9" name="Google Shape;11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3" name="Shape 123"/>
        <p:cNvGrpSpPr/>
        <p:nvPr/>
      </p:nvGrpSpPr>
      <p:grpSpPr>
        <a:xfrm>
          <a:off x="0" y="0"/>
          <a:ext cx="0" cy="0"/>
          <a:chOff x="0" y="0"/>
          <a:chExt cx="0" cy="0"/>
        </a:xfrm>
      </p:grpSpPr>
      <p:sp>
        <p:nvSpPr>
          <p:cNvPr id="124" name="Google Shape;124;p2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5" name="Google Shape;125;p2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26" name="Google Shape;12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
        <p:nvSpPr>
          <p:cNvPr id="128" name="Google Shape;12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4" name="Shape 84"/>
        <p:cNvGrpSpPr/>
        <p:nvPr/>
      </p:nvGrpSpPr>
      <p:grpSpPr>
        <a:xfrm>
          <a:off x="0" y="0"/>
          <a:ext cx="0" cy="0"/>
          <a:chOff x="0" y="0"/>
          <a:chExt cx="0" cy="0"/>
        </a:xfrm>
      </p:grpSpPr>
      <p:sp>
        <p:nvSpPr>
          <p:cNvPr id="85" name="Google Shape;85;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6" name="Google Shape;86;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7" name="Google Shape;8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github.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github.com/edu" TargetMode="External"/><Relationship Id="rId4" Type="http://schemas.openxmlformats.org/officeDocument/2006/relationships/hyperlink" Target="https://github.com/edu"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github.com/zahariesergiu/ubb-sociology-ml" TargetMode="External"/><Relationship Id="rId4" Type="http://schemas.openxmlformats.org/officeDocument/2006/relationships/hyperlink" Target="https://github.com/zahariesergiu/ubb-sociology-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0" Type="http://schemas.openxmlformats.org/officeDocument/2006/relationships/hyperlink" Target="https://alan-turing-institute.github.io/rds-course/modules/m2/2.2.5-PrivacyAndAnonymisation.html" TargetMode="External"/><Relationship Id="rId22" Type="http://schemas.openxmlformats.org/officeDocument/2006/relationships/hyperlink" Target="https://alan-turing-institute.github.io/rds-course/modules/m3/overview.html" TargetMode="External"/><Relationship Id="rId21" Type="http://schemas.openxmlformats.org/officeDocument/2006/relationships/hyperlink" Target="https://alan-turing-institute.github.io/rds-course/modules/m3/overview.html" TargetMode="External"/><Relationship Id="rId24" Type="http://schemas.openxmlformats.org/officeDocument/2006/relationships/hyperlink" Target="https://towardsdatascience.com/how-to-deal-with-imbalanced-data-34ab7db9b100" TargetMode="External"/><Relationship Id="rId23" Type="http://schemas.openxmlformats.org/officeDocument/2006/relationships/hyperlink" Target="https://towardsdatascience.com/how-to-deal-with-imbalanced-data-34ab7db9b100" TargetMode="External"/><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alan-turing-institute.github.io/rse-course/html/module04_version_control_with_git/index.html" TargetMode="External"/><Relationship Id="rId4" Type="http://schemas.openxmlformats.org/officeDocument/2006/relationships/hyperlink" Target="https://alan-turing-institute.github.io/rse-course/html/module04_version_control_with_git/index.html" TargetMode="External"/><Relationship Id="rId9" Type="http://schemas.openxmlformats.org/officeDocument/2006/relationships/hyperlink" Target="https://data-feminism.mitpress.mit.edu/" TargetMode="External"/><Relationship Id="rId25" Type="http://schemas.openxmlformats.org/officeDocument/2006/relationships/hyperlink" Target="https://towardsdatascience.com/how-to-deal-with-imbalanced-data-34ab7db9b100" TargetMode="External"/><Relationship Id="rId5" Type="http://schemas.openxmlformats.org/officeDocument/2006/relationships/hyperlink" Target="https://alan-turing-institute.github.io/rse-course/html/module03_research_data_in_python/index.html" TargetMode="External"/><Relationship Id="rId6" Type="http://schemas.openxmlformats.org/officeDocument/2006/relationships/hyperlink" Target="https://alan-turing-institute.github.io/rse-course/html/module03_research_data_in_python/index.html" TargetMode="External"/><Relationship Id="rId7" Type="http://schemas.openxmlformats.org/officeDocument/2006/relationships/hyperlink" Target="https://alan-turing-institute.github.io/rse-course/html/module03_research_data_in_python/index.html" TargetMode="External"/><Relationship Id="rId8" Type="http://schemas.openxmlformats.org/officeDocument/2006/relationships/hyperlink" Target="https://data-feminism.mitpress.mit.edu/" TargetMode="External"/><Relationship Id="rId11" Type="http://schemas.openxmlformats.org/officeDocument/2006/relationships/hyperlink" Target="https://blogs.bl.uk/thenewsroom/2019/07/moving-from-a-newspaper-collection-to-a-news-collection.html" TargetMode="External"/><Relationship Id="rId10" Type="http://schemas.openxmlformats.org/officeDocument/2006/relationships/hyperlink" Target="https://data-feminism.mitpress.mit.edu/" TargetMode="External"/><Relationship Id="rId13" Type="http://schemas.openxmlformats.org/officeDocument/2006/relationships/hyperlink" Target="https://www.turing.ac.uk/research/research-projects/project-odysseus-understanding-london-busyness-and-exiting-lockdown" TargetMode="External"/><Relationship Id="rId12" Type="http://schemas.openxmlformats.org/officeDocument/2006/relationships/hyperlink" Target="https://blogs.bl.uk/thenewsroom/2019/07/moving-from-a-newspaper-collection-to-a-news-collection.html" TargetMode="External"/><Relationship Id="rId15" Type="http://schemas.openxmlformats.org/officeDocument/2006/relationships/hyperlink" Target="https://www.turing.ac.uk/research/research-projects/project-odysseus-understanding-london-busyness-and-exiting-lockdown" TargetMode="External"/><Relationship Id="rId14" Type="http://schemas.openxmlformats.org/officeDocument/2006/relationships/hyperlink" Target="https://www.turing.ac.uk/research/research-projects/project-odysseus-understanding-london-busyness-and-exiting-lockdown" TargetMode="External"/><Relationship Id="rId17" Type="http://schemas.openxmlformats.org/officeDocument/2006/relationships/hyperlink" Target="https://alan-turing-institute.github.io/rds-course/modules/m2/2.1.4-DataSourcesAndFormats.html" TargetMode="External"/><Relationship Id="rId16" Type="http://schemas.openxmlformats.org/officeDocument/2006/relationships/hyperlink" Target="https://alan-turing-institute.github.io/rds-course/modules/m2/2.1.4-DataSourcesAndFormats.html" TargetMode="External"/><Relationship Id="rId19" Type="http://schemas.openxmlformats.org/officeDocument/2006/relationships/hyperlink" Target="https://alan-turing-institute.github.io/rds-course/modules/m2/2.2.5-PrivacyAndAnonymisation.html" TargetMode="External"/><Relationship Id="rId18" Type="http://schemas.openxmlformats.org/officeDocument/2006/relationships/hyperlink" Target="https://alan-turing-institute.github.io/rds-course/modules/m2/2.1.4-DataSourcesAndFormats.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mailto:zahariesergiu@gmail.com" TargetMode="External"/><Relationship Id="rId4" Type="http://schemas.openxmlformats.org/officeDocument/2006/relationships/hyperlink" Target="https://www.linkedin.com/in/zahariesergiu/" TargetMode="External"/><Relationship Id="rId5" Type="http://schemas.openxmlformats.org/officeDocument/2006/relationships/hyperlink" Target="https://github.com/zahariesergiu/ubb-sociology-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ctrTitle"/>
          </p:nvPr>
        </p:nvSpPr>
        <p:spPr>
          <a:xfrm>
            <a:off x="311700" y="377425"/>
            <a:ext cx="8634600" cy="3132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US" sz="1100">
                <a:highlight>
                  <a:srgbClr val="FFFFFF"/>
                </a:highlight>
              </a:rPr>
              <a:t>			</a:t>
            </a:r>
            <a:endParaRPr sz="1100">
              <a:highlight>
                <a:srgbClr val="FFFFFF"/>
              </a:highlight>
            </a:endParaRPr>
          </a:p>
          <a:p>
            <a:pPr indent="0" lvl="0" marL="0" rtl="0" algn="ctr">
              <a:lnSpc>
                <a:spcPct val="100000"/>
              </a:lnSpc>
              <a:spcBef>
                <a:spcPts val="0"/>
              </a:spcBef>
              <a:spcAft>
                <a:spcPts val="0"/>
              </a:spcAft>
              <a:buSzPts val="5200"/>
              <a:buNone/>
            </a:pPr>
            <a:r>
              <a:rPr b="1" lang="en-US" sz="4400">
                <a:highlight>
                  <a:srgbClr val="FFFFFF"/>
                </a:highlight>
              </a:rPr>
              <a:t>Machine learning:</a:t>
            </a:r>
            <a:endParaRPr b="1" sz="4400">
              <a:highlight>
                <a:srgbClr val="FFFFFF"/>
              </a:highlight>
            </a:endParaRPr>
          </a:p>
          <a:p>
            <a:pPr indent="0" lvl="0" marL="0" rtl="0" algn="ctr">
              <a:lnSpc>
                <a:spcPct val="100000"/>
              </a:lnSpc>
              <a:spcBef>
                <a:spcPts val="0"/>
              </a:spcBef>
              <a:spcAft>
                <a:spcPts val="0"/>
              </a:spcAft>
              <a:buSzPts val="5200"/>
              <a:buNone/>
            </a:pPr>
            <a:r>
              <a:rPr b="1" lang="en-US" sz="4400">
                <a:highlight>
                  <a:srgbClr val="FFFFFF"/>
                </a:highlight>
              </a:rPr>
              <a:t>prediction,</a:t>
            </a:r>
            <a:endParaRPr b="1" sz="4400">
              <a:highlight>
                <a:srgbClr val="FFFFFF"/>
              </a:highlight>
            </a:endParaRPr>
          </a:p>
          <a:p>
            <a:pPr indent="0" lvl="0" marL="0" rtl="0" algn="ctr">
              <a:lnSpc>
                <a:spcPct val="100000"/>
              </a:lnSpc>
              <a:spcBef>
                <a:spcPts val="0"/>
              </a:spcBef>
              <a:spcAft>
                <a:spcPts val="0"/>
              </a:spcAft>
              <a:buSzPts val="5200"/>
              <a:buNone/>
            </a:pPr>
            <a:r>
              <a:rPr b="1" lang="en-US" sz="4400">
                <a:highlight>
                  <a:srgbClr val="FFFFFF"/>
                </a:highlight>
              </a:rPr>
              <a:t>classification and</a:t>
            </a:r>
            <a:endParaRPr b="1" sz="4400">
              <a:highlight>
                <a:srgbClr val="FFFFFF"/>
              </a:highlight>
            </a:endParaRPr>
          </a:p>
          <a:p>
            <a:pPr indent="0" lvl="0" marL="0" rtl="0" algn="ctr">
              <a:lnSpc>
                <a:spcPct val="100000"/>
              </a:lnSpc>
              <a:spcBef>
                <a:spcPts val="0"/>
              </a:spcBef>
              <a:spcAft>
                <a:spcPts val="0"/>
              </a:spcAft>
              <a:buSzPts val="5200"/>
              <a:buNone/>
            </a:pPr>
            <a:r>
              <a:rPr b="1" lang="en-US" sz="4400">
                <a:highlight>
                  <a:srgbClr val="FFFFFF"/>
                </a:highlight>
              </a:rPr>
              <a:t>clustering</a:t>
            </a:r>
            <a:endParaRPr sz="4400"/>
          </a:p>
        </p:txBody>
      </p:sp>
      <p:sp>
        <p:nvSpPr>
          <p:cNvPr id="134" name="Google Shape;134;p26"/>
          <p:cNvSpPr txBox="1"/>
          <p:nvPr>
            <p:ph idx="1" type="subTitle"/>
          </p:nvPr>
        </p:nvSpPr>
        <p:spPr>
          <a:xfrm>
            <a:off x="311700" y="3552150"/>
            <a:ext cx="8520600" cy="7926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ctr">
              <a:lnSpc>
                <a:spcPct val="100000"/>
              </a:lnSpc>
              <a:spcBef>
                <a:spcPts val="0"/>
              </a:spcBef>
              <a:spcAft>
                <a:spcPts val="0"/>
              </a:spcAft>
              <a:buClr>
                <a:schemeClr val="dk1"/>
              </a:buClr>
              <a:buSzPct val="28205"/>
              <a:buFont typeface="Arial"/>
              <a:buNone/>
            </a:pPr>
            <a:r>
              <a:rPr b="1" lang="en-US" sz="3900">
                <a:solidFill>
                  <a:schemeClr val="dk1"/>
                </a:solidFill>
                <a:highlight>
                  <a:srgbClr val="FFFFFF"/>
                </a:highlight>
              </a:rPr>
              <a:t>UBB Faculty of Sociology</a:t>
            </a:r>
            <a:endParaRPr b="1" sz="3900">
              <a:solidFill>
                <a:schemeClr val="dk1"/>
              </a:solidFill>
              <a:highlight>
                <a:srgbClr val="FFFFFF"/>
              </a:highlight>
            </a:endParaRPr>
          </a:p>
          <a:p>
            <a:pPr indent="0" lvl="0" marL="0" rtl="0" algn="ctr">
              <a:lnSpc>
                <a:spcPct val="100000"/>
              </a:lnSpc>
              <a:spcBef>
                <a:spcPts val="0"/>
              </a:spcBef>
              <a:spcAft>
                <a:spcPts val="0"/>
              </a:spcAft>
              <a:buSzPct val="875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US"/>
              <a:t>Course Agenda</a:t>
            </a:r>
            <a:endParaRPr b="1"/>
          </a:p>
        </p:txBody>
      </p:sp>
      <p:sp>
        <p:nvSpPr>
          <p:cNvPr id="140" name="Google Shape;140;p27"/>
          <p:cNvSpPr txBox="1"/>
          <p:nvPr>
            <p:ph idx="1" type="body"/>
          </p:nvPr>
        </p:nvSpPr>
        <p:spPr>
          <a:xfrm>
            <a:off x="87925" y="1152475"/>
            <a:ext cx="8744400" cy="3416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50000"/>
              </a:lnSpc>
              <a:spcBef>
                <a:spcPts val="0"/>
              </a:spcBef>
              <a:spcAft>
                <a:spcPts val="0"/>
              </a:spcAft>
              <a:buSzPts val="1946"/>
              <a:buNone/>
            </a:pPr>
            <a:r>
              <a:rPr b="1" lang="en-US" sz="2000">
                <a:solidFill>
                  <a:schemeClr val="dk1"/>
                </a:solidFill>
              </a:rPr>
              <a:t>#1  Intro, Simple Linear Regression</a:t>
            </a:r>
            <a:endParaRPr b="1" sz="2000">
              <a:solidFill>
                <a:schemeClr val="dk1"/>
              </a:solidFill>
            </a:endParaRPr>
          </a:p>
          <a:p>
            <a:pPr indent="0" lvl="0" marL="0" rtl="0" algn="l">
              <a:lnSpc>
                <a:spcPct val="150000"/>
              </a:lnSpc>
              <a:spcBef>
                <a:spcPts val="0"/>
              </a:spcBef>
              <a:spcAft>
                <a:spcPts val="0"/>
              </a:spcAft>
              <a:buSzPts val="1946"/>
              <a:buNone/>
            </a:pPr>
            <a:r>
              <a:rPr b="1" lang="en-US" sz="2000">
                <a:solidFill>
                  <a:schemeClr val="dk1"/>
                </a:solidFill>
                <a:highlight>
                  <a:srgbClr val="FFE289"/>
                </a:highlight>
              </a:rPr>
              <a:t>#2  Python recap, Git, Handling data, EDA</a:t>
            </a:r>
            <a:endParaRPr b="1" sz="2000">
              <a:solidFill>
                <a:schemeClr val="dk1"/>
              </a:solidFill>
              <a:highlight>
                <a:srgbClr val="FFE289"/>
              </a:highlight>
            </a:endParaRPr>
          </a:p>
          <a:p>
            <a:pPr indent="0" lvl="0" marL="0" rtl="0" algn="l">
              <a:lnSpc>
                <a:spcPct val="150000"/>
              </a:lnSpc>
              <a:spcBef>
                <a:spcPts val="0"/>
              </a:spcBef>
              <a:spcAft>
                <a:spcPts val="0"/>
              </a:spcAft>
              <a:buSzPts val="1946"/>
              <a:buNone/>
            </a:pPr>
            <a:r>
              <a:rPr b="1" lang="en-US" sz="2000">
                <a:solidFill>
                  <a:schemeClr val="dk1"/>
                </a:solidFill>
                <a:highlight>
                  <a:srgbClr val="F6F1EE"/>
                </a:highlight>
              </a:rPr>
              <a:t>#3  Regression, Decision Trees</a:t>
            </a:r>
            <a:endParaRPr b="1" sz="2000">
              <a:solidFill>
                <a:schemeClr val="dk1"/>
              </a:solidFill>
              <a:highlight>
                <a:srgbClr val="F6F1EE"/>
              </a:highlight>
            </a:endParaRPr>
          </a:p>
          <a:p>
            <a:pPr indent="0" lvl="0" marL="0" rtl="0" algn="l">
              <a:lnSpc>
                <a:spcPct val="150000"/>
              </a:lnSpc>
              <a:spcBef>
                <a:spcPts val="0"/>
              </a:spcBef>
              <a:spcAft>
                <a:spcPts val="0"/>
              </a:spcAft>
              <a:buSzPts val="1946"/>
              <a:buNone/>
            </a:pPr>
            <a:r>
              <a:rPr b="1" lang="en-US" sz="2000">
                <a:solidFill>
                  <a:schemeClr val="dk1"/>
                </a:solidFill>
                <a:highlight>
                  <a:srgbClr val="F6F1EE"/>
                </a:highlight>
              </a:rPr>
              <a:t>#4  Bias, Variance,  Overfitting, Classification, Metrics</a:t>
            </a:r>
            <a:endParaRPr b="1" sz="2000">
              <a:solidFill>
                <a:schemeClr val="dk1"/>
              </a:solidFill>
              <a:highlight>
                <a:srgbClr val="F6F1EE"/>
              </a:highlight>
            </a:endParaRPr>
          </a:p>
          <a:p>
            <a:pPr indent="0" lvl="0" marL="0" rtl="0" algn="l">
              <a:lnSpc>
                <a:spcPct val="150000"/>
              </a:lnSpc>
              <a:spcBef>
                <a:spcPts val="0"/>
              </a:spcBef>
              <a:spcAft>
                <a:spcPts val="0"/>
              </a:spcAft>
              <a:buSzPts val="1946"/>
              <a:buNone/>
            </a:pPr>
            <a:r>
              <a:rPr b="1" lang="en-US" sz="2000">
                <a:solidFill>
                  <a:schemeClr val="dk1"/>
                </a:solidFill>
                <a:highlight>
                  <a:srgbClr val="F6F1EE"/>
                </a:highlight>
              </a:rPr>
              <a:t>#5  Random Forest Classifier, Clustering</a:t>
            </a:r>
            <a:endParaRPr b="1" sz="2000">
              <a:solidFill>
                <a:schemeClr val="dk1"/>
              </a:solidFill>
              <a:highlight>
                <a:srgbClr val="F6F1EE"/>
              </a:highlight>
            </a:endParaRPr>
          </a:p>
          <a:p>
            <a:pPr indent="0" lvl="0" marL="0" rtl="0" algn="l">
              <a:lnSpc>
                <a:spcPct val="150000"/>
              </a:lnSpc>
              <a:spcBef>
                <a:spcPts val="0"/>
              </a:spcBef>
              <a:spcAft>
                <a:spcPts val="0"/>
              </a:spcAft>
              <a:buSzPts val="1946"/>
              <a:buNone/>
            </a:pPr>
            <a:r>
              <a:rPr b="1" lang="en-US" sz="2000">
                <a:solidFill>
                  <a:schemeClr val="dk1"/>
                </a:solidFill>
                <a:highlight>
                  <a:srgbClr val="F6F1EE"/>
                </a:highlight>
              </a:rPr>
              <a:t>#6  Neural Newtorks</a:t>
            </a:r>
            <a:endParaRPr b="1" sz="2000">
              <a:solidFill>
                <a:schemeClr val="dk1"/>
              </a:solidFill>
              <a:highlight>
                <a:srgbClr val="F6F1EE"/>
              </a:highlight>
            </a:endParaRPr>
          </a:p>
          <a:p>
            <a:pPr indent="0" lvl="0" marL="0" rtl="0" algn="l">
              <a:lnSpc>
                <a:spcPct val="150000"/>
              </a:lnSpc>
              <a:spcBef>
                <a:spcPts val="0"/>
              </a:spcBef>
              <a:spcAft>
                <a:spcPts val="0"/>
              </a:spcAft>
              <a:buSzPts val="1946"/>
              <a:buNone/>
            </a:pPr>
            <a:r>
              <a:rPr b="1" lang="en-US" sz="2000">
                <a:solidFill>
                  <a:schemeClr val="dk1"/>
                </a:solidFill>
                <a:highlight>
                  <a:srgbClr val="F6F1EE"/>
                </a:highlight>
              </a:rPr>
              <a:t>#7  Help Final Project</a:t>
            </a:r>
            <a:endParaRPr b="1" sz="2000">
              <a:solidFill>
                <a:schemeClr val="dk1"/>
              </a:solidFill>
              <a:highlight>
                <a:srgbClr val="F6F1EE"/>
              </a:highlight>
            </a:endParaRPr>
          </a:p>
          <a:p>
            <a:pPr indent="0" lvl="0" marL="0" rtl="0" algn="l">
              <a:lnSpc>
                <a:spcPct val="150000"/>
              </a:lnSpc>
              <a:spcBef>
                <a:spcPts val="0"/>
              </a:spcBef>
              <a:spcAft>
                <a:spcPts val="0"/>
              </a:spcAft>
              <a:buSzPts val="1946"/>
              <a:buNone/>
            </a:pPr>
            <a:r>
              <a:rPr b="1" lang="en-US" sz="2000">
                <a:solidFill>
                  <a:schemeClr val="dk1"/>
                </a:solidFill>
                <a:highlight>
                  <a:srgbClr val="F6F1EE"/>
                </a:highlight>
              </a:rPr>
              <a:t>#8  Help Final Project</a:t>
            </a:r>
            <a:endParaRPr b="1">
              <a:solidFill>
                <a:schemeClr val="dk1"/>
              </a:solidFill>
              <a:highlight>
                <a:srgbClr val="F6F1EE"/>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idx="1" type="body"/>
          </p:nvPr>
        </p:nvSpPr>
        <p:spPr>
          <a:xfrm>
            <a:off x="311700" y="58625"/>
            <a:ext cx="8520600" cy="232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946"/>
              <a:buNone/>
            </a:pPr>
            <a:r>
              <a:rPr b="1" lang="en-US" sz="6000">
                <a:highlight>
                  <a:srgbClr val="F6F1EE"/>
                </a:highlight>
                <a:latin typeface="Arial"/>
                <a:ea typeface="Arial"/>
                <a:cs typeface="Arial"/>
                <a:sym typeface="Arial"/>
              </a:rPr>
              <a:t>2</a:t>
            </a:r>
            <a:r>
              <a:rPr b="1" lang="en-US" sz="6000">
                <a:solidFill>
                  <a:schemeClr val="dk1"/>
                </a:solidFill>
                <a:highlight>
                  <a:srgbClr val="F6F1EE"/>
                </a:highlight>
                <a:latin typeface="Arial"/>
                <a:ea typeface="Arial"/>
                <a:cs typeface="Arial"/>
                <a:sym typeface="Arial"/>
              </a:rPr>
              <a:t>. git, </a:t>
            </a:r>
            <a:r>
              <a:rPr b="1" lang="en-US" sz="6000">
                <a:highlight>
                  <a:srgbClr val="F6F1EE"/>
                </a:highlight>
                <a:latin typeface="Arial"/>
                <a:ea typeface="Arial"/>
                <a:cs typeface="Arial"/>
                <a:sym typeface="Arial"/>
              </a:rPr>
              <a:t>Python recap, Data Handling</a:t>
            </a:r>
            <a:endParaRPr sz="6000">
              <a:highlight>
                <a:srgbClr val="F6F1EE"/>
              </a:highlight>
              <a:latin typeface="Arial"/>
              <a:ea typeface="Arial"/>
              <a:cs typeface="Arial"/>
              <a:sym typeface="Arial"/>
            </a:endParaRPr>
          </a:p>
        </p:txBody>
      </p:sp>
      <p:sp>
        <p:nvSpPr>
          <p:cNvPr id="146" name="Google Shape;146;p28"/>
          <p:cNvSpPr txBox="1"/>
          <p:nvPr>
            <p:ph type="title"/>
          </p:nvPr>
        </p:nvSpPr>
        <p:spPr>
          <a:xfrm>
            <a:off x="381525" y="2576725"/>
            <a:ext cx="6031200" cy="24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920"/>
              <a:t>#2.1  Catch Up</a:t>
            </a:r>
            <a:endParaRPr sz="1920"/>
          </a:p>
          <a:p>
            <a:pPr indent="0" lvl="0" marL="0" rtl="0" algn="l">
              <a:spcBef>
                <a:spcPts val="0"/>
              </a:spcBef>
              <a:spcAft>
                <a:spcPts val="0"/>
              </a:spcAft>
              <a:buClr>
                <a:schemeClr val="dk1"/>
              </a:buClr>
              <a:buSzPts val="1100"/>
              <a:buFont typeface="Arial"/>
              <a:buNone/>
            </a:pPr>
            <a:r>
              <a:rPr lang="en-US" sz="1920"/>
              <a:t>#2.2  Git</a:t>
            </a:r>
            <a:endParaRPr sz="1920"/>
          </a:p>
          <a:p>
            <a:pPr indent="0" lvl="0" marL="0" rtl="0" algn="l">
              <a:spcBef>
                <a:spcPts val="0"/>
              </a:spcBef>
              <a:spcAft>
                <a:spcPts val="0"/>
              </a:spcAft>
              <a:buClr>
                <a:schemeClr val="dk1"/>
              </a:buClr>
              <a:buSzPts val="1100"/>
              <a:buFont typeface="Arial"/>
              <a:buNone/>
            </a:pPr>
            <a:r>
              <a:rPr lang="en-US" sz="1920"/>
              <a:t>#2.3  Python recap</a:t>
            </a:r>
            <a:endParaRPr sz="1920"/>
          </a:p>
          <a:p>
            <a:pPr indent="0" lvl="0" marL="0" rtl="0" algn="l">
              <a:spcBef>
                <a:spcPts val="0"/>
              </a:spcBef>
              <a:spcAft>
                <a:spcPts val="0"/>
              </a:spcAft>
              <a:buClr>
                <a:schemeClr val="dk1"/>
              </a:buClr>
              <a:buSzPts val="1100"/>
              <a:buFont typeface="Arial"/>
              <a:buNone/>
            </a:pPr>
            <a:r>
              <a:rPr lang="en-US" sz="1920"/>
              <a:t>#2.4  Python Exercises</a:t>
            </a:r>
            <a:endParaRPr sz="1920"/>
          </a:p>
          <a:p>
            <a:pPr indent="0" lvl="0" marL="0" rtl="0" algn="l">
              <a:spcBef>
                <a:spcPts val="0"/>
              </a:spcBef>
              <a:spcAft>
                <a:spcPts val="0"/>
              </a:spcAft>
              <a:buClr>
                <a:schemeClr val="dk1"/>
              </a:buClr>
              <a:buSzPts val="1100"/>
              <a:buFont typeface="Arial"/>
              <a:buNone/>
            </a:pPr>
            <a:r>
              <a:rPr lang="en-US" sz="1920"/>
              <a:t>#2.5  Data Handling with Python: Numpy, Pandas</a:t>
            </a:r>
            <a:endParaRPr sz="1920"/>
          </a:p>
          <a:p>
            <a:pPr indent="0" lvl="0" marL="0" rtl="0" algn="l">
              <a:spcBef>
                <a:spcPts val="0"/>
              </a:spcBef>
              <a:spcAft>
                <a:spcPts val="0"/>
              </a:spcAft>
              <a:buClr>
                <a:schemeClr val="dk1"/>
              </a:buClr>
              <a:buSzPts val="1100"/>
              <a:buFont typeface="Arial"/>
              <a:buNone/>
            </a:pPr>
            <a:r>
              <a:rPr lang="en-US" sz="1920"/>
              <a:t>#2.6  Final Project Task 1: Census Data Preprocess</a:t>
            </a:r>
            <a:endParaRPr sz="1920"/>
          </a:p>
          <a:p>
            <a:pPr indent="0" lvl="0" marL="0" rtl="0" algn="l">
              <a:spcBef>
                <a:spcPts val="0"/>
              </a:spcBef>
              <a:spcAft>
                <a:spcPts val="0"/>
              </a:spcAft>
              <a:buSzPts val="1100"/>
              <a:buNone/>
            </a:pPr>
            <a:r>
              <a:rPr lang="en-US" sz="1920"/>
              <a:t>#2.7  Questions &amp; Further reading</a:t>
            </a:r>
            <a:endParaRPr sz="192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p:nvPr/>
        </p:nvSpPr>
        <p:spPr>
          <a:xfrm>
            <a:off x="367751" y="850125"/>
            <a:ext cx="7240505" cy="4092864"/>
          </a:xfrm>
          <a:custGeom>
            <a:rect b="b" l="l" r="r" t="t"/>
            <a:pathLst>
              <a:path extrusionOk="0" h="4092864" w="7240505">
                <a:moveTo>
                  <a:pt x="0" y="0"/>
                </a:moveTo>
                <a:lnTo>
                  <a:pt x="7240505" y="0"/>
                </a:lnTo>
                <a:lnTo>
                  <a:pt x="7240505" y="4092864"/>
                </a:lnTo>
                <a:lnTo>
                  <a:pt x="0" y="4092864"/>
                </a:lnTo>
                <a:lnTo>
                  <a:pt x="0" y="0"/>
                </a:lnTo>
                <a:close/>
              </a:path>
            </a:pathLst>
          </a:custGeom>
          <a:blipFill rotWithShape="1">
            <a:blip r:embed="rId3">
              <a:alphaModFix/>
            </a:blip>
            <a:stretch>
              <a:fillRect b="0" l="0" r="0" t="0"/>
            </a:stretch>
          </a:blipFill>
          <a:ln>
            <a:noFill/>
          </a:ln>
        </p:spPr>
      </p:sp>
      <p:sp>
        <p:nvSpPr>
          <p:cNvPr id="152" name="Google Shape;152;p29"/>
          <p:cNvSpPr txBox="1"/>
          <p:nvPr/>
        </p:nvSpPr>
        <p:spPr>
          <a:xfrm>
            <a:off x="658675" y="1451125"/>
            <a:ext cx="7185000" cy="11205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t/>
            </a:r>
            <a:endParaRPr>
              <a:solidFill>
                <a:schemeClr val="dk1"/>
              </a:solidFill>
              <a:latin typeface="Calibri"/>
              <a:ea typeface="Calibri"/>
              <a:cs typeface="Calibri"/>
              <a:sym typeface="Calibri"/>
            </a:endParaRPr>
          </a:p>
          <a:p>
            <a:pPr indent="0" lvl="0" marL="0" rtl="0" algn="l">
              <a:lnSpc>
                <a:spcPct val="120000"/>
              </a:lnSpc>
              <a:spcBef>
                <a:spcPts val="0"/>
              </a:spcBef>
              <a:spcAft>
                <a:spcPts val="0"/>
              </a:spcAft>
              <a:buNone/>
            </a:pPr>
            <a:r>
              <a:rPr lang="en-US" sz="2000">
                <a:solidFill>
                  <a:schemeClr val="dk1"/>
                </a:solidFill>
                <a:latin typeface="Calibri"/>
                <a:ea typeface="Calibri"/>
                <a:cs typeface="Calibri"/>
                <a:sym typeface="Calibri"/>
              </a:rPr>
              <a:t>Share one thing that stood out to you: </a:t>
            </a:r>
            <a:endParaRPr sz="2000">
              <a:solidFill>
                <a:schemeClr val="dk1"/>
              </a:solidFill>
              <a:latin typeface="Calibri"/>
              <a:ea typeface="Calibri"/>
              <a:cs typeface="Calibri"/>
              <a:sym typeface="Calibri"/>
            </a:endParaRPr>
          </a:p>
          <a:p>
            <a:pPr indent="457200" lvl="0" marL="0" rtl="0" algn="l">
              <a:lnSpc>
                <a:spcPct val="120000"/>
              </a:lnSpc>
              <a:spcBef>
                <a:spcPts val="0"/>
              </a:spcBef>
              <a:spcAft>
                <a:spcPts val="0"/>
              </a:spcAft>
              <a:buNone/>
            </a:pPr>
            <a:r>
              <a:rPr lang="en-US" sz="2000">
                <a:solidFill>
                  <a:schemeClr val="dk1"/>
                </a:solidFill>
                <a:latin typeface="Calibri"/>
                <a:ea typeface="Calibri"/>
                <a:cs typeface="Calibri"/>
                <a:sym typeface="Calibri"/>
              </a:rPr>
              <a:t>one thing you found surprising / interesting / useful etc.</a:t>
            </a:r>
            <a:endParaRPr>
              <a:solidFill>
                <a:schemeClr val="dk1"/>
              </a:solidFill>
              <a:latin typeface="Calibri"/>
              <a:ea typeface="Calibri"/>
              <a:cs typeface="Calibri"/>
              <a:sym typeface="Calibri"/>
            </a:endParaRPr>
          </a:p>
        </p:txBody>
      </p:sp>
      <p:sp>
        <p:nvSpPr>
          <p:cNvPr id="153" name="Google Shape;153;p29"/>
          <p:cNvSpPr/>
          <p:nvPr/>
        </p:nvSpPr>
        <p:spPr>
          <a:xfrm>
            <a:off x="0" y="0"/>
            <a:ext cx="9144000" cy="9144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0" lIns="0" spcFirstLastPara="1" rIns="0" wrap="square" tIns="0">
            <a:noAutofit/>
          </a:bodyPr>
          <a:lstStyle/>
          <a:p>
            <a:pPr indent="457200" lvl="0" marL="0" marR="0" rtl="0" algn="l">
              <a:lnSpc>
                <a:spcPct val="100000"/>
              </a:lnSpc>
              <a:spcBef>
                <a:spcPts val="0"/>
              </a:spcBef>
              <a:spcAft>
                <a:spcPts val="0"/>
              </a:spcAft>
              <a:buClr>
                <a:srgbClr val="000000"/>
              </a:buClr>
              <a:buSzPts val="1100"/>
              <a:buFont typeface="Arial"/>
              <a:buNone/>
            </a:pPr>
            <a:r>
              <a:rPr lang="en-US" sz="2800"/>
              <a:t>2</a:t>
            </a:r>
            <a:r>
              <a:rPr b="0" i="0" lang="en-US" sz="2800" u="none" cap="none" strike="noStrike">
                <a:solidFill>
                  <a:srgbClr val="000000"/>
                </a:solidFill>
                <a:latin typeface="Arial"/>
                <a:ea typeface="Arial"/>
                <a:cs typeface="Arial"/>
                <a:sym typeface="Arial"/>
              </a:rPr>
              <a:t>.</a:t>
            </a:r>
            <a:r>
              <a:rPr lang="en-US" sz="2800"/>
              <a:t>1</a:t>
            </a:r>
            <a:r>
              <a:rPr b="0" i="0" lang="en-US" sz="2800" u="none" cap="none" strike="noStrike">
                <a:solidFill>
                  <a:srgbClr val="000000"/>
                </a:solidFill>
                <a:latin typeface="Arial"/>
                <a:ea typeface="Arial"/>
                <a:cs typeface="Arial"/>
                <a:sym typeface="Arial"/>
              </a:rPr>
              <a:t> </a:t>
            </a:r>
            <a:r>
              <a:rPr lang="en-US" sz="2800"/>
              <a:t>Catch up</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nvSpPr>
        <p:spPr>
          <a:xfrm>
            <a:off x="658725" y="1496850"/>
            <a:ext cx="7603200" cy="300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300">
                <a:solidFill>
                  <a:schemeClr val="dk1"/>
                </a:solidFill>
                <a:latin typeface="Calibri"/>
                <a:ea typeface="Calibri"/>
                <a:cs typeface="Calibri"/>
                <a:sym typeface="Calibri"/>
              </a:rPr>
              <a:t>What is Git?</a:t>
            </a:r>
            <a:endParaRPr b="1" sz="23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br>
              <a:rPr b="1" lang="en-US">
                <a:solidFill>
                  <a:schemeClr val="dk1"/>
                </a:solidFill>
                <a:latin typeface="Calibri"/>
                <a:ea typeface="Calibri"/>
                <a:cs typeface="Calibri"/>
                <a:sym typeface="Calibri"/>
              </a:rPr>
            </a:br>
            <a:r>
              <a:rPr lang="en-US">
                <a:solidFill>
                  <a:schemeClr val="dk1"/>
                </a:solidFill>
                <a:latin typeface="Calibri"/>
                <a:ea typeface="Calibri"/>
                <a:cs typeface="Calibri"/>
                <a:sym typeface="Calibri"/>
              </a:rPr>
              <a:t>Git is a distributed version control system that allows developers to track changes in their code, collaborate seamlessly, and manage project history. It ensures efficient collaboration and provides tools for branching, merging, and resolving conflicts.</a:t>
            </a:r>
            <a:endParaRPr>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a:solidFill>
                  <a:schemeClr val="dk1"/>
                </a:solidFill>
                <a:latin typeface="Calibri"/>
                <a:ea typeface="Calibri"/>
                <a:cs typeface="Calibri"/>
                <a:sym typeface="Calibri"/>
              </a:rPr>
              <a:t>Key Features</a:t>
            </a:r>
            <a:endParaRPr b="1">
              <a:solidFill>
                <a:schemeClr val="dk1"/>
              </a:solidFill>
              <a:latin typeface="Calibri"/>
              <a:ea typeface="Calibri"/>
              <a:cs typeface="Calibri"/>
              <a:sym typeface="Calibri"/>
            </a:endParaRPr>
          </a:p>
          <a:p>
            <a:pPr indent="-317500" lvl="0" marL="457200" rtl="0" algn="l">
              <a:lnSpc>
                <a:spcPct val="115000"/>
              </a:lnSpc>
              <a:spcBef>
                <a:spcPts val="1200"/>
              </a:spcBef>
              <a:spcAft>
                <a:spcPts val="0"/>
              </a:spcAft>
              <a:buClr>
                <a:schemeClr val="dk1"/>
              </a:buClr>
              <a:buSzPts val="1400"/>
              <a:buFont typeface="Calibri"/>
              <a:buChar char="●"/>
            </a:pPr>
            <a:r>
              <a:rPr lang="en-US">
                <a:solidFill>
                  <a:schemeClr val="dk1"/>
                </a:solidFill>
                <a:latin typeface="Calibri"/>
                <a:ea typeface="Calibri"/>
                <a:cs typeface="Calibri"/>
                <a:sym typeface="Calibri"/>
              </a:rPr>
              <a:t>Version Control: Track and revert changes.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Collaboration: Work with multiple contributors.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Branching: Experiment without affecting the main code.</a:t>
            </a:r>
            <a:endParaRPr>
              <a:solidFill>
                <a:schemeClr val="dk1"/>
              </a:solidFill>
              <a:latin typeface="Calibri"/>
              <a:ea typeface="Calibri"/>
              <a:cs typeface="Calibri"/>
              <a:sym typeface="Calibri"/>
            </a:endParaRPr>
          </a:p>
        </p:txBody>
      </p:sp>
      <p:sp>
        <p:nvSpPr>
          <p:cNvPr id="159" name="Google Shape;159;p30"/>
          <p:cNvSpPr/>
          <p:nvPr/>
        </p:nvSpPr>
        <p:spPr>
          <a:xfrm>
            <a:off x="0" y="0"/>
            <a:ext cx="9144000" cy="9144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0" lIns="0" spcFirstLastPara="1" rIns="0" wrap="square" tIns="0">
            <a:noAutofit/>
          </a:bodyPr>
          <a:lstStyle/>
          <a:p>
            <a:pPr indent="457200" lvl="0" marL="0" marR="0" rtl="0" algn="l">
              <a:lnSpc>
                <a:spcPct val="100000"/>
              </a:lnSpc>
              <a:spcBef>
                <a:spcPts val="0"/>
              </a:spcBef>
              <a:spcAft>
                <a:spcPts val="0"/>
              </a:spcAft>
              <a:buClr>
                <a:srgbClr val="000000"/>
              </a:buClr>
              <a:buSzPts val="1100"/>
              <a:buFont typeface="Arial"/>
              <a:buNone/>
            </a:pPr>
            <a:r>
              <a:rPr lang="en-US" sz="2800"/>
              <a:t>2</a:t>
            </a:r>
            <a:r>
              <a:rPr b="0" i="0" lang="en-US" sz="2800" u="none" cap="none" strike="noStrike">
                <a:solidFill>
                  <a:srgbClr val="000000"/>
                </a:solidFill>
                <a:latin typeface="Arial"/>
                <a:ea typeface="Arial"/>
                <a:cs typeface="Arial"/>
                <a:sym typeface="Arial"/>
              </a:rPr>
              <a:t>.</a:t>
            </a:r>
            <a:r>
              <a:rPr lang="en-US" sz="2800"/>
              <a:t>2</a:t>
            </a:r>
            <a:r>
              <a:rPr b="0" i="0" lang="en-US" sz="2800" u="none" cap="none" strike="noStrike">
                <a:solidFill>
                  <a:srgbClr val="000000"/>
                </a:solidFill>
                <a:latin typeface="Arial"/>
                <a:ea typeface="Arial"/>
                <a:cs typeface="Arial"/>
                <a:sym typeface="Arial"/>
              </a:rPr>
              <a:t> </a:t>
            </a:r>
            <a:r>
              <a:rPr lang="en-US" sz="2800"/>
              <a:t>Git</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p:nvPr/>
        </p:nvSpPr>
        <p:spPr>
          <a:xfrm>
            <a:off x="4508497" y="345396"/>
            <a:ext cx="4307500" cy="4617701"/>
          </a:xfrm>
          <a:custGeom>
            <a:rect b="b" l="l" r="r" t="t"/>
            <a:pathLst>
              <a:path extrusionOk="0" h="4617701" w="4307500">
                <a:moveTo>
                  <a:pt x="0" y="0"/>
                </a:moveTo>
                <a:lnTo>
                  <a:pt x="4307500" y="0"/>
                </a:lnTo>
                <a:lnTo>
                  <a:pt x="4307500" y="4617700"/>
                </a:lnTo>
                <a:lnTo>
                  <a:pt x="0" y="4617700"/>
                </a:lnTo>
                <a:lnTo>
                  <a:pt x="0" y="0"/>
                </a:lnTo>
                <a:close/>
              </a:path>
            </a:pathLst>
          </a:custGeom>
          <a:blipFill rotWithShape="1">
            <a:blip r:embed="rId3">
              <a:alphaModFix/>
            </a:blip>
            <a:stretch>
              <a:fillRect b="0" l="0" r="0" t="0"/>
            </a:stretch>
          </a:blipFill>
          <a:ln>
            <a:noFill/>
          </a:ln>
        </p:spPr>
      </p:sp>
      <p:sp>
        <p:nvSpPr>
          <p:cNvPr id="165" name="Google Shape;165;p31"/>
          <p:cNvSpPr txBox="1"/>
          <p:nvPr/>
        </p:nvSpPr>
        <p:spPr>
          <a:xfrm>
            <a:off x="282550" y="194657"/>
            <a:ext cx="3774600" cy="322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latin typeface="Calibri"/>
                <a:ea typeface="Calibri"/>
                <a:cs typeface="Calibri"/>
                <a:sym typeface="Calibri"/>
              </a:rPr>
              <a:t>What is Version Control?</a:t>
            </a:r>
            <a:endParaRPr b="1" i="0" sz="20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None/>
            </a:pPr>
            <a:r>
              <a:t/>
            </a:r>
            <a:endParaRPr b="1" sz="2000">
              <a:latin typeface="Calibri"/>
              <a:ea typeface="Calibri"/>
              <a:cs typeface="Calibri"/>
              <a:sym typeface="Calibri"/>
            </a:endParaRPr>
          </a:p>
          <a:p>
            <a:pPr indent="0" lvl="0" marL="0" marR="0" rtl="0" algn="l">
              <a:lnSpc>
                <a:spcPct val="115000"/>
              </a:lnSpc>
              <a:spcBef>
                <a:spcPts val="0"/>
              </a:spcBef>
              <a:spcAft>
                <a:spcPts val="0"/>
              </a:spcAft>
              <a:buNone/>
            </a:pPr>
            <a:r>
              <a:rPr i="0" lang="en-US" sz="1600" u="none" cap="none" strike="noStrike">
                <a:solidFill>
                  <a:srgbClr val="000000"/>
                </a:solidFill>
                <a:latin typeface="Calibri"/>
                <a:ea typeface="Calibri"/>
                <a:cs typeface="Calibri"/>
                <a:sym typeface="Calibri"/>
              </a:rPr>
              <a:t>Version control is a tool for managing changes to a set of ﬁles.</a:t>
            </a:r>
            <a:endParaRPr>
              <a:latin typeface="Calibri"/>
              <a:ea typeface="Calibri"/>
              <a:cs typeface="Calibri"/>
              <a:sym typeface="Calibri"/>
            </a:endParaRPr>
          </a:p>
          <a:p>
            <a:pPr indent="0" lvl="0" marL="0" marR="0" rtl="0" algn="l">
              <a:lnSpc>
                <a:spcPct val="115000"/>
              </a:lnSpc>
              <a:spcBef>
                <a:spcPts val="0"/>
              </a:spcBef>
              <a:spcAft>
                <a:spcPts val="0"/>
              </a:spcAft>
              <a:buNone/>
            </a:pPr>
            <a:r>
              <a:rPr i="0" lang="en-US" sz="1600" u="none" cap="none" strike="noStrike">
                <a:solidFill>
                  <a:srgbClr val="000000"/>
                </a:solidFill>
                <a:latin typeface="Calibri"/>
                <a:ea typeface="Calibri"/>
                <a:cs typeface="Calibri"/>
                <a:sym typeface="Calibri"/>
              </a:rPr>
              <a:t>There are many different version control </a:t>
            </a:r>
            <a:endParaRPr>
              <a:latin typeface="Calibri"/>
              <a:ea typeface="Calibri"/>
              <a:cs typeface="Calibri"/>
              <a:sym typeface="Calibri"/>
            </a:endParaRPr>
          </a:p>
          <a:p>
            <a:pPr indent="0" lvl="0" marL="0" marR="0" rtl="0" algn="l">
              <a:lnSpc>
                <a:spcPct val="115000"/>
              </a:lnSpc>
              <a:spcBef>
                <a:spcPts val="0"/>
              </a:spcBef>
              <a:spcAft>
                <a:spcPts val="0"/>
              </a:spcAft>
              <a:buNone/>
            </a:pPr>
            <a:r>
              <a:rPr i="0" lang="en-US" sz="1600" u="none" cap="none" strike="noStrike">
                <a:solidFill>
                  <a:srgbClr val="000000"/>
                </a:solidFill>
                <a:latin typeface="Calibri"/>
                <a:ea typeface="Calibri"/>
                <a:cs typeface="Calibri"/>
                <a:sym typeface="Calibri"/>
              </a:rPr>
              <a:t>systems:</a:t>
            </a:r>
            <a:endParaRPr i="0" sz="16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None/>
            </a:pPr>
            <a:r>
              <a:t/>
            </a:r>
            <a:endParaRPr sz="1600">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Git</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Mercurial (hg)</a:t>
            </a:r>
            <a:endParaRPr>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CVS</a:t>
            </a:r>
            <a:endParaRPr>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Subversion (svn)</a:t>
            </a:r>
            <a:endParaRPr sz="1600">
              <a:latin typeface="Calibri"/>
              <a:ea typeface="Calibri"/>
              <a:cs typeface="Calibri"/>
              <a:sym typeface="Calibri"/>
            </a:endParaRPr>
          </a:p>
        </p:txBody>
      </p:sp>
      <p:sp>
        <p:nvSpPr>
          <p:cNvPr id="166" name="Google Shape;166;p31"/>
          <p:cNvSpPr txBox="1"/>
          <p:nvPr/>
        </p:nvSpPr>
        <p:spPr>
          <a:xfrm>
            <a:off x="4300825" y="194650"/>
            <a:ext cx="4247100" cy="567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000000"/>
                </a:solidFill>
                <a:latin typeface="Calibri"/>
                <a:ea typeface="Calibri"/>
                <a:cs typeface="Calibri"/>
                <a:sym typeface="Calibri"/>
              </a:rPr>
              <a:t>Why use version control?</a:t>
            </a:r>
            <a:endParaRPr>
              <a:latin typeface="Calibri"/>
              <a:ea typeface="Calibri"/>
              <a:cs typeface="Calibri"/>
              <a:sym typeface="Calibri"/>
            </a:endParaRPr>
          </a:p>
          <a:p>
            <a:pPr indent="0" lvl="0" marL="0" marR="0" rtl="0" algn="l">
              <a:lnSpc>
                <a:spcPct val="225500"/>
              </a:lnSpc>
              <a:spcBef>
                <a:spcPts val="0"/>
              </a:spcBef>
              <a:spcAft>
                <a:spcPts val="0"/>
              </a:spcAft>
              <a:buNone/>
            </a:pPr>
            <a:r>
              <a:rPr i="0" lang="en-US" sz="1600" u="none" cap="none" strike="noStrike">
                <a:solidFill>
                  <a:srgbClr val="000000"/>
                </a:solidFill>
                <a:latin typeface="Calibri"/>
                <a:ea typeface="Calibri"/>
                <a:cs typeface="Calibri"/>
                <a:sym typeface="Calibri"/>
              </a:rPr>
              <a:t>Version control is a tool for </a:t>
            </a:r>
            <a:endParaRPr i="0" sz="1600" u="none" cap="none" strike="noStrike">
              <a:solidFill>
                <a:srgbClr val="000000"/>
              </a:solidFill>
              <a:latin typeface="Calibri"/>
              <a:ea typeface="Calibri"/>
              <a:cs typeface="Calibri"/>
              <a:sym typeface="Calibri"/>
            </a:endParaRPr>
          </a:p>
          <a:p>
            <a:pPr indent="-330200" lvl="0" marL="457200" rtl="0" algn="l">
              <a:lnSpc>
                <a:spcPct val="2255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Better kind of backup.</a:t>
            </a:r>
            <a:endParaRPr>
              <a:solidFill>
                <a:schemeClr val="dk1"/>
              </a:solidFill>
              <a:latin typeface="Calibri"/>
              <a:ea typeface="Calibri"/>
              <a:cs typeface="Calibri"/>
              <a:sym typeface="Calibri"/>
            </a:endParaRPr>
          </a:p>
          <a:p>
            <a:pPr indent="-330200" lvl="0" marL="457200" rtl="0" algn="l">
              <a:lnSpc>
                <a:spcPct val="505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Review history (“When did I introduce </a:t>
            </a:r>
            <a:endParaRPr>
              <a:solidFill>
                <a:schemeClr val="dk1"/>
              </a:solidFill>
              <a:latin typeface="Calibri"/>
              <a:ea typeface="Calibri"/>
              <a:cs typeface="Calibri"/>
              <a:sym typeface="Calibri"/>
            </a:endParaRPr>
          </a:p>
          <a:p>
            <a:pPr indent="0" lvl="0" marL="0" rtl="0" algn="l">
              <a:lnSpc>
                <a:spcPct val="225500"/>
              </a:lnSpc>
              <a:spcBef>
                <a:spcPts val="0"/>
              </a:spcBef>
              <a:spcAft>
                <a:spcPts val="0"/>
              </a:spcAft>
              <a:buClr>
                <a:schemeClr val="dk1"/>
              </a:buClr>
              <a:buFont typeface="Arial"/>
              <a:buNone/>
            </a:pPr>
            <a:r>
              <a:rPr lang="en-US" sz="1600">
                <a:solidFill>
                  <a:schemeClr val="dk1"/>
                </a:solidFill>
                <a:latin typeface="Calibri"/>
                <a:ea typeface="Calibri"/>
                <a:cs typeface="Calibri"/>
                <a:sym typeface="Calibri"/>
              </a:rPr>
              <a:t>this bug?”).</a:t>
            </a:r>
            <a:endParaRPr>
              <a:solidFill>
                <a:schemeClr val="dk1"/>
              </a:solidFill>
              <a:latin typeface="Calibri"/>
              <a:ea typeface="Calibri"/>
              <a:cs typeface="Calibri"/>
              <a:sym typeface="Calibri"/>
            </a:endParaRPr>
          </a:p>
          <a:p>
            <a:pPr indent="-330200" lvl="0" marL="457200" rtl="0" algn="l">
              <a:lnSpc>
                <a:spcPct val="505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Restore older code versions.</a:t>
            </a:r>
            <a:endParaRPr>
              <a:solidFill>
                <a:schemeClr val="dk1"/>
              </a:solidFill>
              <a:latin typeface="Calibri"/>
              <a:ea typeface="Calibri"/>
              <a:cs typeface="Calibri"/>
              <a:sym typeface="Calibri"/>
            </a:endParaRPr>
          </a:p>
          <a:p>
            <a:pPr indent="0" lvl="0" marL="0" rtl="0" algn="l">
              <a:lnSpc>
                <a:spcPct val="225500"/>
              </a:lnSpc>
              <a:spcBef>
                <a:spcPts val="0"/>
              </a:spcBef>
              <a:spcAft>
                <a:spcPts val="0"/>
              </a:spcAft>
              <a:buClr>
                <a:schemeClr val="dk1"/>
              </a:buClr>
              <a:buFont typeface="Arial"/>
              <a:buNone/>
            </a:pPr>
            <a:r>
              <a:rPr lang="en-US" sz="1600">
                <a:solidFill>
                  <a:schemeClr val="dk1"/>
                </a:solidFill>
                <a:latin typeface="Calibri"/>
                <a:ea typeface="Calibri"/>
                <a:cs typeface="Calibri"/>
                <a:sym typeface="Calibri"/>
              </a:rPr>
              <a:t>Ability to undo mistakes.</a:t>
            </a:r>
            <a:endParaRPr>
              <a:solidFill>
                <a:schemeClr val="dk1"/>
              </a:solidFill>
              <a:latin typeface="Calibri"/>
              <a:ea typeface="Calibri"/>
              <a:cs typeface="Calibri"/>
              <a:sym typeface="Calibri"/>
            </a:endParaRPr>
          </a:p>
          <a:p>
            <a:pPr indent="-330200" lvl="0" marL="457200" rtl="0" algn="l">
              <a:lnSpc>
                <a:spcPct val="505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Maintain several versions of the code </a:t>
            </a:r>
            <a:endParaRPr>
              <a:solidFill>
                <a:schemeClr val="dk1"/>
              </a:solidFill>
              <a:latin typeface="Calibri"/>
              <a:ea typeface="Calibri"/>
              <a:cs typeface="Calibri"/>
              <a:sym typeface="Calibri"/>
            </a:endParaRPr>
          </a:p>
          <a:p>
            <a:pPr indent="0" lvl="0" marL="0" rtl="0" algn="l">
              <a:lnSpc>
                <a:spcPct val="225500"/>
              </a:lnSpc>
              <a:spcBef>
                <a:spcPts val="0"/>
              </a:spcBef>
              <a:spcAft>
                <a:spcPts val="0"/>
              </a:spcAft>
              <a:buNone/>
            </a:pPr>
            <a:r>
              <a:rPr lang="en-US" sz="1600">
                <a:solidFill>
                  <a:schemeClr val="dk1"/>
                </a:solidFill>
                <a:latin typeface="Calibri"/>
                <a:ea typeface="Calibri"/>
                <a:cs typeface="Calibri"/>
                <a:sym typeface="Calibri"/>
              </a:rPr>
              <a:t>at a time.</a:t>
            </a:r>
            <a:endParaRPr sz="1600">
              <a:solidFill>
                <a:schemeClr val="dk1"/>
              </a:solidFill>
              <a:latin typeface="Calibri"/>
              <a:ea typeface="Calibri"/>
              <a:cs typeface="Calibri"/>
              <a:sym typeface="Calibri"/>
            </a:endParaRPr>
          </a:p>
          <a:p>
            <a:pPr indent="-330200" lvl="0" marL="457200" rtl="0" algn="l">
              <a:lnSpc>
                <a:spcPct val="250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“How can I share my code?”</a:t>
            </a:r>
            <a:endParaRPr>
              <a:solidFill>
                <a:schemeClr val="dk1"/>
              </a:solidFill>
              <a:latin typeface="Calibri"/>
              <a:ea typeface="Calibri"/>
              <a:cs typeface="Calibri"/>
              <a:sym typeface="Calibri"/>
            </a:endParaRPr>
          </a:p>
          <a:p>
            <a:pPr indent="-330200" lvl="0" marL="457200" rtl="0" algn="l">
              <a:lnSpc>
                <a:spcPct val="50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“How can I submit a change to </a:t>
            </a:r>
            <a:endParaRPr>
              <a:solidFill>
                <a:schemeClr val="dk1"/>
              </a:solidFill>
              <a:latin typeface="Calibri"/>
              <a:ea typeface="Calibri"/>
              <a:cs typeface="Calibri"/>
              <a:sym typeface="Calibri"/>
            </a:endParaRPr>
          </a:p>
          <a:p>
            <a:pPr indent="0" lvl="0" marL="0" rtl="0" algn="l">
              <a:lnSpc>
                <a:spcPct val="225937"/>
              </a:lnSpc>
              <a:spcBef>
                <a:spcPts val="0"/>
              </a:spcBef>
              <a:spcAft>
                <a:spcPts val="0"/>
              </a:spcAft>
              <a:buNone/>
            </a:pPr>
            <a:r>
              <a:rPr lang="en-US" sz="1600">
                <a:solidFill>
                  <a:schemeClr val="dk1"/>
                </a:solidFill>
                <a:latin typeface="Calibri"/>
                <a:ea typeface="Calibri"/>
                <a:cs typeface="Calibri"/>
                <a:sym typeface="Calibri"/>
              </a:rPr>
              <a:t>someone else’s code?”</a:t>
            </a:r>
            <a:endParaRPr>
              <a:solidFill>
                <a:schemeClr val="dk1"/>
              </a:solidFill>
              <a:latin typeface="Calibri"/>
              <a:ea typeface="Calibri"/>
              <a:cs typeface="Calibri"/>
              <a:sym typeface="Calibri"/>
            </a:endParaRPr>
          </a:p>
          <a:p>
            <a:pPr indent="0" lvl="0" marL="0" rtl="0" algn="l">
              <a:lnSpc>
                <a:spcPct val="225500"/>
              </a:lnSpc>
              <a:spcBef>
                <a:spcPts val="0"/>
              </a:spcBef>
              <a:spcAft>
                <a:spcPts val="0"/>
              </a:spcAft>
              <a:buClr>
                <a:schemeClr val="dk1"/>
              </a:buClr>
              <a:buFont typeface="Arial"/>
              <a:buNone/>
            </a:pPr>
            <a:r>
              <a:t/>
            </a:r>
            <a:endParaRPr sz="1600">
              <a:solidFill>
                <a:schemeClr val="dk1"/>
              </a:solidFill>
              <a:latin typeface="Calibri"/>
              <a:ea typeface="Calibri"/>
              <a:cs typeface="Calibri"/>
              <a:sym typeface="Calibri"/>
            </a:endParaRPr>
          </a:p>
          <a:p>
            <a:pPr indent="0" lvl="0" marL="0" marR="0" rtl="0" algn="l">
              <a:lnSpc>
                <a:spcPct val="225500"/>
              </a:lnSpc>
              <a:spcBef>
                <a:spcPts val="0"/>
              </a:spcBef>
              <a:spcAft>
                <a:spcPts val="0"/>
              </a:spcAft>
              <a:buNone/>
            </a:pPr>
            <a:r>
              <a:t/>
            </a:r>
            <a:endParaRPr sz="1600">
              <a:latin typeface="Calibri"/>
              <a:ea typeface="Calibri"/>
              <a:cs typeface="Calibri"/>
              <a:sym typeface="Calibri"/>
            </a:endParaRPr>
          </a:p>
        </p:txBody>
      </p:sp>
      <p:sp>
        <p:nvSpPr>
          <p:cNvPr id="167" name="Google Shape;167;p31"/>
          <p:cNvSpPr txBox="1"/>
          <p:nvPr/>
        </p:nvSpPr>
        <p:spPr>
          <a:xfrm>
            <a:off x="5114925" y="3842976"/>
            <a:ext cx="2892900" cy="215400"/>
          </a:xfrm>
          <a:prstGeom prst="rect">
            <a:avLst/>
          </a:prstGeom>
          <a:noFill/>
          <a:ln>
            <a:noFill/>
          </a:ln>
        </p:spPr>
        <p:txBody>
          <a:bodyPr anchorCtr="0" anchor="t" bIns="0" lIns="0" spcFirstLastPara="1" rIns="0" wrap="square" tIns="0">
            <a:spAutoFit/>
          </a:bodyPr>
          <a:lstStyle/>
          <a:p>
            <a:pPr indent="0" lvl="0" marL="0" marR="0" rtl="0" algn="l">
              <a:lnSpc>
                <a:spcPct val="225937"/>
              </a:lnSpc>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nvSpPr>
        <p:spPr>
          <a:xfrm>
            <a:off x="436425" y="474149"/>
            <a:ext cx="7605300" cy="26769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Font typeface="Arial"/>
              <a:buNone/>
            </a:pPr>
            <a:r>
              <a:rPr b="1" lang="en-US" sz="2200">
                <a:solidFill>
                  <a:schemeClr val="dk1"/>
                </a:solidFill>
                <a:latin typeface="Calibri"/>
                <a:ea typeface="Calibri"/>
                <a:cs typeface="Calibri"/>
                <a:sym typeface="Calibri"/>
              </a:rPr>
              <a:t>Git != GitHub</a:t>
            </a:r>
            <a:endParaRPr sz="1600">
              <a:solidFill>
                <a:schemeClr val="dk1"/>
              </a:solidFill>
              <a:latin typeface="Calibri"/>
              <a:ea typeface="Calibri"/>
              <a:cs typeface="Calibri"/>
              <a:sym typeface="Calibri"/>
            </a:endParaRPr>
          </a:p>
          <a:p>
            <a:pPr indent="0" lvl="0" marL="0" marR="0" rtl="0" algn="l">
              <a:lnSpc>
                <a:spcPct val="138000"/>
              </a:lnSpc>
              <a:spcBef>
                <a:spcPts val="0"/>
              </a:spcBef>
              <a:spcAft>
                <a:spcPts val="0"/>
              </a:spcAft>
              <a:buNone/>
            </a:pPr>
            <a:r>
              <a:t/>
            </a:r>
            <a:endParaRPr sz="1800">
              <a:latin typeface="Calibri"/>
              <a:ea typeface="Calibri"/>
              <a:cs typeface="Calibri"/>
              <a:sym typeface="Calibri"/>
            </a:endParaRPr>
          </a:p>
          <a:p>
            <a:pPr indent="0" lvl="0" marL="0" marR="0" rtl="0" algn="l">
              <a:lnSpc>
                <a:spcPct val="138000"/>
              </a:lnSpc>
              <a:spcBef>
                <a:spcPts val="0"/>
              </a:spcBef>
              <a:spcAft>
                <a:spcPts val="0"/>
              </a:spcAft>
              <a:buNone/>
            </a:pPr>
            <a:r>
              <a:rPr i="0" lang="en-US" sz="1800" u="none" cap="none" strike="noStrike">
                <a:solidFill>
                  <a:srgbClr val="000000"/>
                </a:solidFill>
                <a:latin typeface="Calibri"/>
                <a:ea typeface="Calibri"/>
                <a:cs typeface="Calibri"/>
                <a:sym typeface="Calibri"/>
              </a:rPr>
              <a:t>Git: version control system tool to manage source code history. GitHub: hosting service for Git repositories.</a:t>
            </a:r>
            <a:endParaRPr i="0" sz="1800" u="none" cap="none" strike="noStrike">
              <a:solidFill>
                <a:srgbClr val="000000"/>
              </a:solidFill>
              <a:latin typeface="Calibri"/>
              <a:ea typeface="Calibri"/>
              <a:cs typeface="Calibri"/>
              <a:sym typeface="Calibri"/>
            </a:endParaRPr>
          </a:p>
          <a:p>
            <a:pPr indent="0" lvl="0" marL="0" marR="0" rtl="0" algn="l">
              <a:lnSpc>
                <a:spcPct val="138000"/>
              </a:lnSpc>
              <a:spcBef>
                <a:spcPts val="0"/>
              </a:spcBef>
              <a:spcAft>
                <a:spcPts val="0"/>
              </a:spcAft>
              <a:buNone/>
            </a:pPr>
            <a:r>
              <a:t/>
            </a:r>
            <a:endParaRPr sz="1800">
              <a:latin typeface="Calibri"/>
              <a:ea typeface="Calibri"/>
              <a:cs typeface="Calibri"/>
              <a:sym typeface="Calibri"/>
            </a:endParaRPr>
          </a:p>
          <a:p>
            <a:pPr indent="0" lvl="0" marL="0" rtl="0" algn="l">
              <a:lnSpc>
                <a:spcPct val="250000"/>
              </a:lnSpc>
              <a:spcBef>
                <a:spcPts val="0"/>
              </a:spcBef>
              <a:spcAft>
                <a:spcPts val="0"/>
              </a:spcAft>
              <a:buNone/>
            </a:pPr>
            <a:r>
              <a:rPr lang="en-US" sz="1250">
                <a:solidFill>
                  <a:schemeClr val="dk1"/>
                </a:solidFill>
                <a:latin typeface="Courier New"/>
                <a:ea typeface="Courier New"/>
                <a:cs typeface="Courier New"/>
                <a:sym typeface="Courier New"/>
              </a:rPr>
              <a:t>&gt;&gt; </a:t>
            </a:r>
            <a:r>
              <a:rPr lang="en-US" sz="1250">
                <a:solidFill>
                  <a:schemeClr val="dk1"/>
                </a:solidFill>
                <a:latin typeface="Courier New"/>
                <a:ea typeface="Courier New"/>
                <a:cs typeface="Courier New"/>
                <a:sym typeface="Courier New"/>
              </a:rPr>
              <a:t>git conﬁg --global user.name </a:t>
            </a:r>
            <a:r>
              <a:rPr lang="en-US" sz="1250">
                <a:solidFill>
                  <a:srgbClr val="4070A0"/>
                </a:solidFill>
                <a:latin typeface="Courier New"/>
                <a:ea typeface="Courier New"/>
                <a:cs typeface="Courier New"/>
                <a:sym typeface="Courier New"/>
              </a:rPr>
              <a:t>"YOUR NAME HERE"</a:t>
            </a:r>
            <a:endParaRPr sz="1250">
              <a:solidFill>
                <a:srgbClr val="4070A0"/>
              </a:solidFill>
              <a:latin typeface="Courier New"/>
              <a:ea typeface="Courier New"/>
              <a:cs typeface="Courier New"/>
              <a:sym typeface="Courier New"/>
            </a:endParaRPr>
          </a:p>
          <a:p>
            <a:pPr indent="0" lvl="0" marL="0" rtl="0" algn="l">
              <a:lnSpc>
                <a:spcPct val="250000"/>
              </a:lnSpc>
              <a:spcBef>
                <a:spcPts val="0"/>
              </a:spcBef>
              <a:spcAft>
                <a:spcPts val="0"/>
              </a:spcAft>
              <a:buNone/>
            </a:pPr>
            <a:r>
              <a:rPr lang="en-US" sz="1250">
                <a:solidFill>
                  <a:schemeClr val="dk1"/>
                </a:solidFill>
                <a:latin typeface="Courier New"/>
                <a:ea typeface="Courier New"/>
                <a:cs typeface="Courier New"/>
                <a:sym typeface="Courier New"/>
              </a:rPr>
              <a:t>&gt;&gt; git conﬁg --global user.email </a:t>
            </a:r>
            <a:r>
              <a:rPr lang="en-US" sz="1250">
                <a:solidFill>
                  <a:srgbClr val="4070A0"/>
                </a:solidFill>
                <a:latin typeface="Courier New"/>
                <a:ea typeface="Courier New"/>
                <a:cs typeface="Courier New"/>
                <a:sym typeface="Courier New"/>
              </a:rPr>
              <a:t>"yourname@example.com"</a:t>
            </a:r>
            <a:endParaRPr sz="1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nvSpPr>
        <p:spPr>
          <a:xfrm>
            <a:off x="551575" y="436775"/>
            <a:ext cx="5670600" cy="4125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000000"/>
                </a:solidFill>
                <a:latin typeface="Space Mono"/>
                <a:ea typeface="Space Mono"/>
                <a:cs typeface="Space Mono"/>
                <a:sym typeface="Space Mono"/>
              </a:rPr>
              <a:t>Git != GitHub</a:t>
            </a:r>
            <a:endParaRPr/>
          </a:p>
          <a:p>
            <a:pPr indent="0" lvl="0" marL="0" marR="0" rtl="0" algn="l">
              <a:lnSpc>
                <a:spcPct val="140000"/>
              </a:lnSpc>
              <a:spcBef>
                <a:spcPts val="0"/>
              </a:spcBef>
              <a:spcAft>
                <a:spcPts val="0"/>
              </a:spcAft>
              <a:buNone/>
            </a:pPr>
            <a:r>
              <a:rPr b="0" i="0" lang="en-US" sz="1600" u="none" cap="none" strike="noStrike">
                <a:solidFill>
                  <a:srgbClr val="000000"/>
                </a:solidFill>
                <a:latin typeface="IBM Plex Sans"/>
                <a:ea typeface="IBM Plex Sans"/>
                <a:cs typeface="IBM Plex Sans"/>
                <a:sym typeface="IBM Plex Sans"/>
              </a:rPr>
              <a:t>Git: version control system tool to manage source code history.</a:t>
            </a:r>
            <a:endParaRPr b="0" i="0" sz="1600" u="none" cap="none" strike="noStrike">
              <a:solidFill>
                <a:srgbClr val="000000"/>
              </a:solidFill>
              <a:latin typeface="IBM Plex Sans"/>
              <a:ea typeface="IBM Plex Sans"/>
              <a:cs typeface="IBM Plex Sans"/>
              <a:sym typeface="IBM Plex Sans"/>
            </a:endParaRPr>
          </a:p>
          <a:p>
            <a:pPr indent="0" lvl="0" marL="0" marR="0" rtl="0" algn="l">
              <a:lnSpc>
                <a:spcPct val="140000"/>
              </a:lnSpc>
              <a:spcBef>
                <a:spcPts val="0"/>
              </a:spcBef>
              <a:spcAft>
                <a:spcPts val="0"/>
              </a:spcAft>
              <a:buNone/>
            </a:pPr>
            <a:r>
              <a:t/>
            </a:r>
            <a:endParaRPr sz="1600">
              <a:latin typeface="IBM Plex Sans"/>
              <a:ea typeface="IBM Plex Sans"/>
              <a:cs typeface="IBM Plex Sans"/>
              <a:sym typeface="IBM Plex Sans"/>
            </a:endParaRPr>
          </a:p>
          <a:p>
            <a:pPr indent="0" lvl="0" marL="0" marR="0" rtl="0" algn="l">
              <a:lnSpc>
                <a:spcPct val="140000"/>
              </a:lnSpc>
              <a:spcBef>
                <a:spcPts val="0"/>
              </a:spcBef>
              <a:spcAft>
                <a:spcPts val="0"/>
              </a:spcAft>
              <a:buNone/>
            </a:pPr>
            <a:r>
              <a:rPr lang="en-US" sz="1600">
                <a:latin typeface="IBM Plex Sans"/>
                <a:ea typeface="IBM Plex Sans"/>
                <a:cs typeface="IBM Plex Sans"/>
                <a:sym typeface="IBM Plex Sans"/>
              </a:rPr>
              <a:t>try these commands:</a:t>
            </a:r>
            <a:endParaRPr sz="1600">
              <a:latin typeface="IBM Plex Sans"/>
              <a:ea typeface="IBM Plex Sans"/>
              <a:cs typeface="IBM Plex Sans"/>
              <a:sym typeface="IBM Plex Sans"/>
            </a:endParaRPr>
          </a:p>
          <a:p>
            <a:pPr indent="0" lvl="0" marL="0" marR="0" rtl="0" algn="l">
              <a:lnSpc>
                <a:spcPct val="140000"/>
              </a:lnSpc>
              <a:spcBef>
                <a:spcPts val="0"/>
              </a:spcBef>
              <a:spcAft>
                <a:spcPts val="0"/>
              </a:spcAft>
              <a:buNone/>
            </a:pPr>
            <a:r>
              <a:t/>
            </a:r>
            <a:endParaRPr sz="1600">
              <a:latin typeface="IBM Plex Sans"/>
              <a:ea typeface="IBM Plex Sans"/>
              <a:cs typeface="IBM Plex Sans"/>
              <a:sym typeface="IBM Plex Sans"/>
            </a:endParaRPr>
          </a:p>
          <a:p>
            <a:pPr indent="0" lvl="0" marL="0" marR="0" rtl="0" algn="l">
              <a:lnSpc>
                <a:spcPct val="140000"/>
              </a:lnSpc>
              <a:spcBef>
                <a:spcPts val="0"/>
              </a:spcBef>
              <a:spcAft>
                <a:spcPts val="0"/>
              </a:spcAft>
              <a:buNone/>
            </a:pPr>
            <a:r>
              <a:rPr lang="en-US" sz="1600">
                <a:latin typeface="Courier New"/>
                <a:ea typeface="Courier New"/>
                <a:cs typeface="Courier New"/>
                <a:sym typeface="Courier New"/>
              </a:rPr>
              <a:t>&gt;&gt; ls</a:t>
            </a:r>
            <a:endParaRPr sz="1600">
              <a:latin typeface="Courier New"/>
              <a:ea typeface="Courier New"/>
              <a:cs typeface="Courier New"/>
              <a:sym typeface="Courier New"/>
            </a:endParaRPr>
          </a:p>
          <a:p>
            <a:pPr indent="0" lvl="0" marL="0" marR="0" rtl="0" algn="l">
              <a:lnSpc>
                <a:spcPct val="140000"/>
              </a:lnSpc>
              <a:spcBef>
                <a:spcPts val="0"/>
              </a:spcBef>
              <a:spcAft>
                <a:spcPts val="0"/>
              </a:spcAft>
              <a:buNone/>
            </a:pPr>
            <a:r>
              <a:rPr lang="en-US" sz="1600">
                <a:latin typeface="Courier New"/>
                <a:ea typeface="Courier New"/>
                <a:cs typeface="Courier New"/>
                <a:sym typeface="Courier New"/>
              </a:rPr>
              <a:t>&gt;&gt; tree</a:t>
            </a:r>
            <a:endParaRPr sz="1600">
              <a:latin typeface="Courier New"/>
              <a:ea typeface="Courier New"/>
              <a:cs typeface="Courier New"/>
              <a:sym typeface="Courier New"/>
            </a:endParaRPr>
          </a:p>
          <a:p>
            <a:pPr indent="0" lvl="0" marL="0" marR="0" rtl="0" algn="l">
              <a:lnSpc>
                <a:spcPct val="140000"/>
              </a:lnSpc>
              <a:spcBef>
                <a:spcPts val="0"/>
              </a:spcBef>
              <a:spcAft>
                <a:spcPts val="0"/>
              </a:spcAft>
              <a:buNone/>
            </a:pPr>
            <a:r>
              <a:t/>
            </a:r>
            <a:endParaRPr sz="1600">
              <a:latin typeface="Courier New"/>
              <a:ea typeface="Courier New"/>
              <a:cs typeface="Courier New"/>
              <a:sym typeface="Courier New"/>
            </a:endParaRPr>
          </a:p>
          <a:p>
            <a:pPr indent="0" lvl="0" marL="0" marR="0" rtl="0" algn="l">
              <a:lnSpc>
                <a:spcPct val="140000"/>
              </a:lnSpc>
              <a:spcBef>
                <a:spcPts val="0"/>
              </a:spcBef>
              <a:spcAft>
                <a:spcPts val="0"/>
              </a:spcAft>
              <a:buNone/>
            </a:pPr>
            <a:r>
              <a:rPr lang="en-US" sz="1600">
                <a:latin typeface="Courier New"/>
                <a:ea typeface="Courier New"/>
                <a:cs typeface="Courier New"/>
                <a:sym typeface="Courier New"/>
              </a:rPr>
              <a:t>&gt;&gt; git status</a:t>
            </a:r>
            <a:endParaRPr sz="1600">
              <a:latin typeface="Courier New"/>
              <a:ea typeface="Courier New"/>
              <a:cs typeface="Courier New"/>
              <a:sym typeface="Courier New"/>
            </a:endParaRPr>
          </a:p>
          <a:p>
            <a:pPr indent="0" lvl="0" marL="0" marR="0" rtl="0" algn="l">
              <a:lnSpc>
                <a:spcPct val="140000"/>
              </a:lnSpc>
              <a:spcBef>
                <a:spcPts val="0"/>
              </a:spcBef>
              <a:spcAft>
                <a:spcPts val="0"/>
              </a:spcAft>
              <a:buNone/>
            </a:pPr>
            <a:r>
              <a:rPr lang="en-US" sz="1600">
                <a:latin typeface="Courier New"/>
                <a:ea typeface="Courier New"/>
                <a:cs typeface="Courier New"/>
                <a:sym typeface="Courier New"/>
              </a:rPr>
              <a:t>&gt;&gt; git branch</a:t>
            </a:r>
            <a:endParaRPr sz="1600">
              <a:latin typeface="Courier New"/>
              <a:ea typeface="Courier New"/>
              <a:cs typeface="Courier New"/>
              <a:sym typeface="Courier New"/>
            </a:endParaRPr>
          </a:p>
          <a:p>
            <a:pPr indent="0" lvl="0" marL="0" marR="0" rtl="0" algn="l">
              <a:lnSpc>
                <a:spcPct val="140000"/>
              </a:lnSpc>
              <a:spcBef>
                <a:spcPts val="0"/>
              </a:spcBef>
              <a:spcAft>
                <a:spcPts val="0"/>
              </a:spcAft>
              <a:buNone/>
            </a:pPr>
            <a:r>
              <a:rPr lang="en-US" sz="1600">
                <a:latin typeface="Courier New"/>
                <a:ea typeface="Courier New"/>
                <a:cs typeface="Courier New"/>
                <a:sym typeface="Courier New"/>
              </a:rPr>
              <a:t>&gt;&gt; git log</a:t>
            </a:r>
            <a:endParaRPr sz="16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nvSpPr>
        <p:spPr>
          <a:xfrm>
            <a:off x="947776" y="436807"/>
            <a:ext cx="41226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183" name="Google Shape;183;p34"/>
          <p:cNvSpPr txBox="1"/>
          <p:nvPr/>
        </p:nvSpPr>
        <p:spPr>
          <a:xfrm>
            <a:off x="1011279" y="3536023"/>
            <a:ext cx="6909900" cy="215400"/>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None/>
            </a:pPr>
            <a:r>
              <a:t/>
            </a:r>
            <a:endParaRPr/>
          </a:p>
        </p:txBody>
      </p:sp>
      <p:sp>
        <p:nvSpPr>
          <p:cNvPr id="184" name="Google Shape;184;p34"/>
          <p:cNvSpPr txBox="1"/>
          <p:nvPr/>
        </p:nvSpPr>
        <p:spPr>
          <a:xfrm>
            <a:off x="777775" y="198100"/>
            <a:ext cx="7095300" cy="38154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b="1" lang="en-US" sz="2000">
                <a:solidFill>
                  <a:schemeClr val="dk1"/>
                </a:solidFill>
                <a:latin typeface="Space Mono"/>
                <a:ea typeface="Space Mono"/>
                <a:cs typeface="Space Mono"/>
                <a:sym typeface="Space Mono"/>
              </a:rPr>
              <a:t>Telling Git about the File</a:t>
            </a:r>
            <a:endParaRPr>
              <a:solidFill>
                <a:schemeClr val="dk1"/>
              </a:solidFill>
            </a:endParaRPr>
          </a:p>
          <a:p>
            <a:pPr indent="0" lvl="0" marL="0" rtl="0" algn="l">
              <a:lnSpc>
                <a:spcPct val="138000"/>
              </a:lnSpc>
              <a:spcBef>
                <a:spcPts val="0"/>
              </a:spcBef>
              <a:spcAft>
                <a:spcPts val="0"/>
              </a:spcAft>
              <a:buNone/>
            </a:pPr>
            <a:r>
              <a:t/>
            </a:r>
            <a:endParaRPr sz="1600">
              <a:solidFill>
                <a:schemeClr val="dk1"/>
              </a:solidFill>
              <a:latin typeface="IBM Plex Sans"/>
              <a:ea typeface="IBM Plex Sans"/>
              <a:cs typeface="IBM Plex Sans"/>
              <a:sym typeface="IBM Plex Sans"/>
            </a:endParaRPr>
          </a:p>
          <a:p>
            <a:pPr indent="0" lvl="0" marL="0" rtl="0" algn="l">
              <a:lnSpc>
                <a:spcPct val="138000"/>
              </a:lnSpc>
              <a:spcBef>
                <a:spcPts val="0"/>
              </a:spcBef>
              <a:spcAft>
                <a:spcPts val="0"/>
              </a:spcAft>
              <a:buClr>
                <a:schemeClr val="dk1"/>
              </a:buClr>
              <a:buFont typeface="Arial"/>
              <a:buNone/>
            </a:pPr>
            <a:r>
              <a:rPr lang="en-US" sz="1600">
                <a:solidFill>
                  <a:schemeClr val="dk1"/>
                </a:solidFill>
                <a:latin typeface="IBM Plex Sans"/>
                <a:ea typeface="IBM Plex Sans"/>
                <a:cs typeface="IBM Plex Sans"/>
                <a:sym typeface="IBM Plex Sans"/>
              </a:rPr>
              <a:t>So, let’s tell Git that test.md is a ﬁle which is important, and we would like to keep track of its history:</a:t>
            </a:r>
            <a:endParaRPr sz="1600">
              <a:solidFill>
                <a:schemeClr val="dk1"/>
              </a:solidFill>
              <a:latin typeface="IBM Plex Sans"/>
              <a:ea typeface="IBM Plex Sans"/>
              <a:cs typeface="IBM Plex Sans"/>
              <a:sym typeface="IBM Plex Sans"/>
            </a:endParaRPr>
          </a:p>
          <a:p>
            <a:pPr indent="0" lvl="0" marL="0" rtl="0" algn="l">
              <a:lnSpc>
                <a:spcPct val="138000"/>
              </a:lnSpc>
              <a:spcBef>
                <a:spcPts val="0"/>
              </a:spcBef>
              <a:spcAft>
                <a:spcPts val="0"/>
              </a:spcAft>
              <a:buClr>
                <a:schemeClr val="dk1"/>
              </a:buClr>
              <a:buFont typeface="Arial"/>
              <a:buNone/>
            </a:pPr>
            <a:r>
              <a:t/>
            </a:r>
            <a:endParaRPr sz="1600">
              <a:solidFill>
                <a:schemeClr val="dk1"/>
              </a:solidFill>
              <a:latin typeface="IBM Plex Sans"/>
              <a:ea typeface="IBM Plex Sans"/>
              <a:cs typeface="IBM Plex Sans"/>
              <a:sym typeface="IBM Plex Sans"/>
            </a:endParaRPr>
          </a:p>
          <a:p>
            <a:pPr indent="0" lvl="0" marL="0" rtl="0" algn="l">
              <a:lnSpc>
                <a:spcPct val="250000"/>
              </a:lnSpc>
              <a:spcBef>
                <a:spcPts val="0"/>
              </a:spcBef>
              <a:spcAft>
                <a:spcPts val="0"/>
              </a:spcAft>
              <a:buClr>
                <a:schemeClr val="dk1"/>
              </a:buClr>
              <a:buFont typeface="Arial"/>
              <a:buNone/>
            </a:pPr>
            <a:r>
              <a:rPr lang="en-US" sz="1250">
                <a:solidFill>
                  <a:schemeClr val="dk1"/>
                </a:solidFill>
                <a:latin typeface="Open Sans"/>
                <a:ea typeface="Open Sans"/>
                <a:cs typeface="Open Sans"/>
                <a:sym typeface="Open Sans"/>
              </a:rPr>
              <a:t>&gt;&gt; git add test.md</a:t>
            </a:r>
            <a:endParaRPr sz="1250">
              <a:solidFill>
                <a:schemeClr val="dk1"/>
              </a:solidFill>
              <a:latin typeface="Open Sans"/>
              <a:ea typeface="Open Sans"/>
              <a:cs typeface="Open Sans"/>
              <a:sym typeface="Open Sans"/>
            </a:endParaRPr>
          </a:p>
          <a:p>
            <a:pPr indent="0" lvl="0" marL="0" rtl="0" algn="l">
              <a:lnSpc>
                <a:spcPct val="138000"/>
              </a:lnSpc>
              <a:spcBef>
                <a:spcPts val="0"/>
              </a:spcBef>
              <a:spcAft>
                <a:spcPts val="0"/>
              </a:spcAft>
              <a:buNone/>
            </a:pPr>
            <a:r>
              <a:rPr lang="en-US" sz="1600">
                <a:solidFill>
                  <a:schemeClr val="dk1"/>
                </a:solidFill>
                <a:latin typeface="IBM Plex Sans"/>
                <a:ea typeface="IBM Plex Sans"/>
                <a:cs typeface="IBM Plex Sans"/>
                <a:sym typeface="IBM Plex Sans"/>
              </a:rPr>
              <a:t>Don’t forget: Any ﬁles in repositories which you want to “track” need to be added with git add after you create them.</a:t>
            </a:r>
            <a:endParaRPr sz="3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p:cNvSpPr txBox="1"/>
          <p:nvPr/>
        </p:nvSpPr>
        <p:spPr>
          <a:xfrm>
            <a:off x="947776" y="2609526"/>
            <a:ext cx="3446400" cy="215400"/>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None/>
            </a:pPr>
            <a:r>
              <a:t/>
            </a:r>
            <a:endParaRPr/>
          </a:p>
        </p:txBody>
      </p:sp>
      <p:sp>
        <p:nvSpPr>
          <p:cNvPr id="190" name="Google Shape;190;p35"/>
          <p:cNvSpPr txBox="1"/>
          <p:nvPr/>
        </p:nvSpPr>
        <p:spPr>
          <a:xfrm>
            <a:off x="1975026" y="550857"/>
            <a:ext cx="7089600" cy="215400"/>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None/>
            </a:pPr>
            <a:r>
              <a:t/>
            </a:r>
            <a:endParaRPr/>
          </a:p>
        </p:txBody>
      </p:sp>
      <p:sp>
        <p:nvSpPr>
          <p:cNvPr id="191" name="Google Shape;191;p35"/>
          <p:cNvSpPr txBox="1"/>
          <p:nvPr/>
        </p:nvSpPr>
        <p:spPr>
          <a:xfrm>
            <a:off x="947776" y="4162768"/>
            <a:ext cx="48687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192" name="Google Shape;192;p35"/>
          <p:cNvSpPr txBox="1"/>
          <p:nvPr/>
        </p:nvSpPr>
        <p:spPr>
          <a:xfrm>
            <a:off x="1049379" y="1897028"/>
            <a:ext cx="2414700" cy="215400"/>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None/>
            </a:pPr>
            <a:r>
              <a:t/>
            </a:r>
            <a:endParaRPr/>
          </a:p>
        </p:txBody>
      </p:sp>
      <p:sp>
        <p:nvSpPr>
          <p:cNvPr id="193" name="Google Shape;193;p35"/>
          <p:cNvSpPr txBox="1"/>
          <p:nvPr/>
        </p:nvSpPr>
        <p:spPr>
          <a:xfrm>
            <a:off x="880475" y="777750"/>
            <a:ext cx="6567000" cy="38595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Clr>
                <a:schemeClr val="dk1"/>
              </a:buClr>
              <a:buFont typeface="Arial"/>
              <a:buNone/>
            </a:pPr>
            <a:r>
              <a:rPr b="1" lang="en-US" sz="2000">
                <a:solidFill>
                  <a:schemeClr val="dk1"/>
                </a:solidFill>
                <a:latin typeface="Space Mono"/>
                <a:ea typeface="Space Mono"/>
                <a:cs typeface="Space Mono"/>
                <a:sym typeface="Space Mono"/>
              </a:rPr>
              <a:t>Our ﬁrst commit</a:t>
            </a:r>
            <a:endParaRPr>
              <a:solidFill>
                <a:schemeClr val="dk1"/>
              </a:solidFill>
            </a:endParaRPr>
          </a:p>
          <a:p>
            <a:pPr indent="0" lvl="0" marL="0" rtl="0" algn="l">
              <a:lnSpc>
                <a:spcPct val="138000"/>
              </a:lnSpc>
              <a:spcBef>
                <a:spcPts val="0"/>
              </a:spcBef>
              <a:spcAft>
                <a:spcPts val="0"/>
              </a:spcAft>
              <a:buClr>
                <a:schemeClr val="dk1"/>
              </a:buClr>
              <a:buFont typeface="Arial"/>
              <a:buNone/>
            </a:pPr>
            <a:r>
              <a:rPr lang="en-US" sz="1600">
                <a:solidFill>
                  <a:schemeClr val="dk1"/>
                </a:solidFill>
                <a:latin typeface="IBM Plex Sans"/>
                <a:ea typeface="IBM Plex Sans"/>
                <a:cs typeface="IBM Plex Sans"/>
                <a:sym typeface="IBM Plex Sans"/>
              </a:rPr>
              <a:t>Now, we need to tell Git to record the ﬁrst version of this ﬁle in the history of changes:</a:t>
            </a:r>
            <a:endParaRPr sz="1600">
              <a:solidFill>
                <a:schemeClr val="dk1"/>
              </a:solidFill>
              <a:latin typeface="IBM Plex Sans"/>
              <a:ea typeface="IBM Plex Sans"/>
              <a:cs typeface="IBM Plex Sans"/>
              <a:sym typeface="IBM Plex Sans"/>
            </a:endParaRPr>
          </a:p>
          <a:p>
            <a:pPr indent="0" lvl="0" marL="0" rtl="0" algn="l">
              <a:lnSpc>
                <a:spcPct val="138000"/>
              </a:lnSpc>
              <a:spcBef>
                <a:spcPts val="0"/>
              </a:spcBef>
              <a:spcAft>
                <a:spcPts val="0"/>
              </a:spcAft>
              <a:buClr>
                <a:schemeClr val="dk1"/>
              </a:buClr>
              <a:buFont typeface="Arial"/>
              <a:buNone/>
            </a:pPr>
            <a:r>
              <a:t/>
            </a:r>
            <a:endParaRPr sz="1600">
              <a:solidFill>
                <a:schemeClr val="dk1"/>
              </a:solidFill>
              <a:latin typeface="IBM Plex Sans"/>
              <a:ea typeface="IBM Plex Sans"/>
              <a:cs typeface="IBM Plex Sans"/>
              <a:sym typeface="IBM Plex Sans"/>
            </a:endParaRPr>
          </a:p>
          <a:p>
            <a:pPr indent="0" lvl="0" marL="0" rtl="0" algn="l">
              <a:lnSpc>
                <a:spcPct val="250000"/>
              </a:lnSpc>
              <a:spcBef>
                <a:spcPts val="0"/>
              </a:spcBef>
              <a:spcAft>
                <a:spcPts val="0"/>
              </a:spcAft>
              <a:buClr>
                <a:schemeClr val="dk1"/>
              </a:buClr>
              <a:buFont typeface="Arial"/>
              <a:buNone/>
            </a:pPr>
            <a:r>
              <a:rPr lang="en-US" sz="1100">
                <a:solidFill>
                  <a:schemeClr val="dk1"/>
                </a:solidFill>
                <a:latin typeface="Courier New"/>
                <a:ea typeface="Courier New"/>
                <a:cs typeface="Courier New"/>
                <a:sym typeface="Courier New"/>
              </a:rPr>
              <a:t>&gt;&gt; git commit -m "First commit of the class"</a:t>
            </a:r>
            <a:endParaRPr sz="1100">
              <a:solidFill>
                <a:schemeClr val="dk1"/>
              </a:solidFill>
              <a:latin typeface="Courier New"/>
              <a:ea typeface="Courier New"/>
              <a:cs typeface="Courier New"/>
              <a:sym typeface="Courier New"/>
            </a:endParaRPr>
          </a:p>
          <a:p>
            <a:pPr indent="0" lvl="0" marL="0" rtl="0" algn="l">
              <a:lnSpc>
                <a:spcPct val="140000"/>
              </a:lnSpc>
              <a:spcBef>
                <a:spcPts val="0"/>
              </a:spcBef>
              <a:spcAft>
                <a:spcPts val="0"/>
              </a:spcAft>
              <a:buClr>
                <a:schemeClr val="dk1"/>
              </a:buClr>
              <a:buFont typeface="Arial"/>
              <a:buNone/>
            </a:pPr>
            <a:r>
              <a:rPr lang="en-US" sz="1100">
                <a:solidFill>
                  <a:schemeClr val="dk1"/>
                </a:solidFill>
                <a:latin typeface="Courier New"/>
                <a:ea typeface="Courier New"/>
                <a:cs typeface="Courier New"/>
                <a:sym typeface="Courier New"/>
              </a:rPr>
              <a:t>&gt;&gt; git log</a:t>
            </a:r>
            <a:endParaRPr sz="1100">
              <a:solidFill>
                <a:schemeClr val="dk1"/>
              </a:solidFill>
              <a:latin typeface="Courier New"/>
              <a:ea typeface="Courier New"/>
              <a:cs typeface="Courier New"/>
              <a:sym typeface="Courier New"/>
            </a:endParaRPr>
          </a:p>
          <a:p>
            <a:pPr indent="0" lvl="0" marL="0" rtl="0" algn="l">
              <a:lnSpc>
                <a:spcPct val="250000"/>
              </a:lnSpc>
              <a:spcBef>
                <a:spcPts val="0"/>
              </a:spcBef>
              <a:spcAft>
                <a:spcPts val="0"/>
              </a:spcAft>
              <a:buClr>
                <a:schemeClr val="dk1"/>
              </a:buClr>
              <a:buFont typeface="Arial"/>
              <a:buNone/>
            </a:pPr>
            <a:r>
              <a:t/>
            </a:r>
            <a:endParaRPr sz="1050">
              <a:solidFill>
                <a:srgbClr val="333333"/>
              </a:solidFill>
              <a:latin typeface="Open Sans"/>
              <a:ea typeface="Open Sans"/>
              <a:cs typeface="Open Sans"/>
              <a:sym typeface="Open Sans"/>
            </a:endParaRPr>
          </a:p>
          <a:p>
            <a:pPr indent="0" lvl="0" marL="0" rtl="0" algn="l">
              <a:lnSpc>
                <a:spcPct val="140000"/>
              </a:lnSpc>
              <a:spcBef>
                <a:spcPts val="0"/>
              </a:spcBef>
              <a:spcAft>
                <a:spcPts val="0"/>
              </a:spcAft>
              <a:buClr>
                <a:schemeClr val="dk1"/>
              </a:buClr>
              <a:buFont typeface="Arial"/>
              <a:buNone/>
            </a:pPr>
            <a:r>
              <a:rPr lang="en-US" sz="1600">
                <a:solidFill>
                  <a:schemeClr val="dk1"/>
                </a:solidFill>
                <a:latin typeface="IBM Plex Sans"/>
                <a:ea typeface="IBM Plex Sans"/>
                <a:cs typeface="IBM Plex Sans"/>
                <a:sym typeface="IBM Plex Sans"/>
              </a:rPr>
              <a:t>Git now has one change in its history:</a:t>
            </a:r>
            <a:endParaRPr>
              <a:solidFill>
                <a:schemeClr val="dk1"/>
              </a:solidFill>
            </a:endParaRPr>
          </a:p>
          <a:p>
            <a:pPr indent="0" lvl="0" marL="0" rtl="0" algn="l">
              <a:lnSpc>
                <a:spcPct val="140000"/>
              </a:lnSpc>
              <a:spcBef>
                <a:spcPts val="0"/>
              </a:spcBef>
              <a:spcAft>
                <a:spcPts val="0"/>
              </a:spcAft>
              <a:buClr>
                <a:schemeClr val="dk1"/>
              </a:buClr>
              <a:buFont typeface="Arial"/>
              <a:buNone/>
            </a:pPr>
            <a:r>
              <a:rPr lang="en-US" sz="1600">
                <a:solidFill>
                  <a:schemeClr val="dk1"/>
                </a:solidFill>
                <a:latin typeface="IBM Plex Sans"/>
                <a:ea typeface="IBM Plex Sans"/>
                <a:cs typeface="IBM Plex Sans"/>
                <a:sym typeface="IBM Plex Sans"/>
              </a:rPr>
              <a:t>You can see the commit message, author, and date…</a:t>
            </a:r>
            <a:endParaRPr>
              <a:solidFill>
                <a:schemeClr val="dk1"/>
              </a:solidFill>
            </a:endParaRPr>
          </a:p>
          <a:p>
            <a:pPr indent="0" lvl="0" marL="0" rtl="0" algn="l">
              <a:lnSpc>
                <a:spcPct val="250000"/>
              </a:lnSpc>
              <a:spcBef>
                <a:spcPts val="0"/>
              </a:spcBef>
              <a:spcAft>
                <a:spcPts val="0"/>
              </a:spcAft>
              <a:buClr>
                <a:schemeClr val="dk1"/>
              </a:buClr>
              <a:buFont typeface="Arial"/>
              <a:buNone/>
            </a:pPr>
            <a:r>
              <a:t/>
            </a:r>
            <a:endParaRPr sz="1050">
              <a:solidFill>
                <a:srgbClr val="333333"/>
              </a:solidFill>
              <a:latin typeface="Open Sans"/>
              <a:ea typeface="Open Sans"/>
              <a:cs typeface="Open Sans"/>
              <a:sym typeface="Open Sans"/>
            </a:endParaRPr>
          </a:p>
          <a:p>
            <a:pPr indent="0" lvl="0" marL="0" rtl="0" algn="l">
              <a:lnSpc>
                <a:spcPct val="250000"/>
              </a:lnSpc>
              <a:spcBef>
                <a:spcPts val="0"/>
              </a:spcBef>
              <a:spcAft>
                <a:spcPts val="0"/>
              </a:spcAft>
              <a:buClr>
                <a:schemeClr val="dk1"/>
              </a:buClr>
              <a:buFont typeface="Arial"/>
              <a:buNone/>
            </a:pPr>
            <a:r>
              <a:t/>
            </a:r>
            <a:endParaRPr sz="1050">
              <a:solidFill>
                <a:schemeClr val="dk1"/>
              </a:solidFill>
              <a:latin typeface="IBM Plex Sans Condensed"/>
              <a:ea typeface="IBM Plex Sans Condensed"/>
              <a:cs typeface="IBM Plex Sans Condensed"/>
              <a:sym typeface="IBM Plex Sans Condensed"/>
            </a:endParaRPr>
          </a:p>
          <a:p>
            <a:pPr indent="0" lvl="0" marL="0" rtl="0" algn="l">
              <a:lnSpc>
                <a:spcPct val="138000"/>
              </a:lnSpc>
              <a:spcBef>
                <a:spcPts val="0"/>
              </a:spcBef>
              <a:spcAft>
                <a:spcPts val="0"/>
              </a:spcAft>
              <a:buClr>
                <a:schemeClr val="dk1"/>
              </a:buClr>
              <a:buFont typeface="Arial"/>
              <a:buNone/>
            </a:pPr>
            <a:r>
              <a:t/>
            </a:r>
            <a:endParaRPr sz="1600">
              <a:solidFill>
                <a:schemeClr val="dk1"/>
              </a:solidFill>
              <a:latin typeface="IBM Plex Sans"/>
              <a:ea typeface="IBM Plex Sans"/>
              <a:cs typeface="IBM Plex Sans"/>
              <a:sym typeface="IBM Plex Sans"/>
            </a:endParaRPr>
          </a:p>
          <a:p>
            <a:pPr indent="0" lvl="0" marL="0" rtl="0" algn="l">
              <a:lnSpc>
                <a:spcPct val="250000"/>
              </a:lnSpc>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6"/>
          <p:cNvSpPr txBox="1"/>
          <p:nvPr/>
        </p:nvSpPr>
        <p:spPr>
          <a:xfrm>
            <a:off x="947776" y="436807"/>
            <a:ext cx="26955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199" name="Google Shape;199;p36"/>
          <p:cNvSpPr txBox="1"/>
          <p:nvPr/>
        </p:nvSpPr>
        <p:spPr>
          <a:xfrm>
            <a:off x="947776" y="1364704"/>
            <a:ext cx="7367700" cy="215400"/>
          </a:xfrm>
          <a:prstGeom prst="rect">
            <a:avLst/>
          </a:prstGeom>
          <a:noFill/>
          <a:ln>
            <a:noFill/>
          </a:ln>
        </p:spPr>
        <p:txBody>
          <a:bodyPr anchorCtr="0" anchor="t" bIns="0" lIns="0" spcFirstLastPara="1" rIns="0" wrap="square" tIns="0">
            <a:spAutoFit/>
          </a:bodyPr>
          <a:lstStyle/>
          <a:p>
            <a:pPr indent="0" lvl="0" marL="0" marR="0" rtl="0" algn="l">
              <a:lnSpc>
                <a:spcPct val="225937"/>
              </a:lnSpc>
              <a:spcBef>
                <a:spcPts val="0"/>
              </a:spcBef>
              <a:spcAft>
                <a:spcPts val="0"/>
              </a:spcAft>
              <a:buNone/>
            </a:pPr>
            <a:r>
              <a:t/>
            </a:r>
            <a:endParaRPr/>
          </a:p>
        </p:txBody>
      </p:sp>
      <p:sp>
        <p:nvSpPr>
          <p:cNvPr id="200" name="Google Shape;200;p36"/>
          <p:cNvSpPr txBox="1"/>
          <p:nvPr/>
        </p:nvSpPr>
        <p:spPr>
          <a:xfrm>
            <a:off x="440250" y="315500"/>
            <a:ext cx="8342700" cy="41898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Clr>
                <a:schemeClr val="dk1"/>
              </a:buClr>
              <a:buFont typeface="Arial"/>
              <a:buNone/>
            </a:pPr>
            <a:r>
              <a:rPr b="1" lang="en-US" sz="2000">
                <a:solidFill>
                  <a:schemeClr val="dk1"/>
                </a:solidFill>
                <a:latin typeface="Calibri"/>
                <a:ea typeface="Calibri"/>
                <a:cs typeface="Calibri"/>
                <a:sym typeface="Calibri"/>
              </a:rPr>
              <a:t>Sharing your work</a:t>
            </a:r>
            <a:endParaRPr>
              <a:solidFill>
                <a:schemeClr val="dk1"/>
              </a:solidFill>
              <a:latin typeface="Calibri"/>
              <a:ea typeface="Calibri"/>
              <a:cs typeface="Calibri"/>
              <a:sym typeface="Calibri"/>
            </a:endParaRPr>
          </a:p>
          <a:p>
            <a:pPr indent="0" lvl="0" marL="0" rtl="0" algn="l">
              <a:lnSpc>
                <a:spcPct val="138000"/>
              </a:lnSpc>
              <a:spcBef>
                <a:spcPts val="0"/>
              </a:spcBef>
              <a:spcAft>
                <a:spcPts val="0"/>
              </a:spcAft>
              <a:buClr>
                <a:schemeClr val="dk1"/>
              </a:buClr>
              <a:buFont typeface="Arial"/>
              <a:buNone/>
            </a:pPr>
            <a:r>
              <a:t/>
            </a:r>
            <a:endParaRPr sz="1600">
              <a:solidFill>
                <a:schemeClr val="dk1"/>
              </a:solidFill>
              <a:latin typeface="Calibri"/>
              <a:ea typeface="Calibri"/>
              <a:cs typeface="Calibri"/>
              <a:sym typeface="Calibri"/>
            </a:endParaRPr>
          </a:p>
          <a:p>
            <a:pPr indent="0" lvl="0" marL="0" rtl="0" algn="l">
              <a:lnSpc>
                <a:spcPct val="138000"/>
              </a:lnSpc>
              <a:spcBef>
                <a:spcPts val="0"/>
              </a:spcBef>
              <a:spcAft>
                <a:spcPts val="0"/>
              </a:spcAft>
              <a:buClr>
                <a:schemeClr val="dk1"/>
              </a:buClr>
              <a:buFont typeface="Arial"/>
              <a:buNone/>
            </a:pPr>
            <a:r>
              <a:rPr lang="en-US" sz="1600">
                <a:solidFill>
                  <a:schemeClr val="dk1"/>
                </a:solidFill>
                <a:latin typeface="Calibri"/>
                <a:ea typeface="Calibri"/>
                <a:cs typeface="Calibri"/>
                <a:sym typeface="Calibri"/>
              </a:rPr>
              <a:t>So far, all our work has been on our own computer. But a big part of the point of version control is keeping your work safe, on remote servers. Another part is making it easy to share your work with the world. </a:t>
            </a:r>
            <a:endParaRPr>
              <a:solidFill>
                <a:schemeClr val="dk1"/>
              </a:solidFill>
              <a:latin typeface="Calibri"/>
              <a:ea typeface="Calibri"/>
              <a:cs typeface="Calibri"/>
              <a:sym typeface="Calibri"/>
            </a:endParaRPr>
          </a:p>
          <a:p>
            <a:pPr indent="0" lvl="0" marL="0" rtl="0" algn="l">
              <a:lnSpc>
                <a:spcPct val="250000"/>
              </a:lnSpc>
              <a:spcBef>
                <a:spcPts val="0"/>
              </a:spcBef>
              <a:spcAft>
                <a:spcPts val="0"/>
              </a:spcAft>
              <a:buClr>
                <a:schemeClr val="dk1"/>
              </a:buClr>
              <a:buFont typeface="Arial"/>
              <a:buNone/>
            </a:pPr>
            <a:r>
              <a:rPr lang="en-US" sz="1600">
                <a:solidFill>
                  <a:schemeClr val="dk1"/>
                </a:solidFill>
                <a:latin typeface="Calibri"/>
                <a:ea typeface="Calibri"/>
                <a:cs typeface="Calibri"/>
                <a:sym typeface="Calibri"/>
              </a:rPr>
              <a:t>In this example, we’ll be using the GitHub cloud repository to store and publish </a:t>
            </a:r>
            <a:endParaRPr>
              <a:solidFill>
                <a:schemeClr val="dk1"/>
              </a:solidFill>
              <a:latin typeface="Calibri"/>
              <a:ea typeface="Calibri"/>
              <a:cs typeface="Calibri"/>
              <a:sym typeface="Calibri"/>
            </a:endParaRPr>
          </a:p>
          <a:p>
            <a:pPr indent="0" lvl="0" marL="0" rtl="0" algn="l">
              <a:lnSpc>
                <a:spcPct val="50000"/>
              </a:lnSpc>
              <a:spcBef>
                <a:spcPts val="0"/>
              </a:spcBef>
              <a:spcAft>
                <a:spcPts val="0"/>
              </a:spcAft>
              <a:buClr>
                <a:schemeClr val="dk1"/>
              </a:buClr>
              <a:buFont typeface="Arial"/>
              <a:buNone/>
            </a:pPr>
            <a:r>
              <a:rPr lang="en-US" sz="1600">
                <a:solidFill>
                  <a:schemeClr val="dk1"/>
                </a:solidFill>
                <a:latin typeface="Calibri"/>
                <a:ea typeface="Calibri"/>
                <a:cs typeface="Calibri"/>
                <a:sym typeface="Calibri"/>
              </a:rPr>
              <a:t>our work.</a:t>
            </a:r>
            <a:endParaRPr>
              <a:solidFill>
                <a:schemeClr val="dk1"/>
              </a:solidFill>
              <a:latin typeface="Calibri"/>
              <a:ea typeface="Calibri"/>
              <a:cs typeface="Calibri"/>
              <a:sym typeface="Calibri"/>
            </a:endParaRPr>
          </a:p>
          <a:p>
            <a:pPr indent="0" lvl="0" marL="0" rtl="0" algn="l">
              <a:lnSpc>
                <a:spcPct val="250000"/>
              </a:lnSpc>
              <a:spcBef>
                <a:spcPts val="0"/>
              </a:spcBef>
              <a:spcAft>
                <a:spcPts val="0"/>
              </a:spcAft>
              <a:buClr>
                <a:schemeClr val="dk1"/>
              </a:buClr>
              <a:buFont typeface="Arial"/>
              <a:buNone/>
            </a:pPr>
            <a:r>
              <a:rPr lang="en-US" sz="1600">
                <a:solidFill>
                  <a:schemeClr val="dk1"/>
                </a:solidFill>
                <a:latin typeface="Calibri"/>
                <a:ea typeface="Calibri"/>
                <a:cs typeface="Calibri"/>
                <a:sym typeface="Calibri"/>
              </a:rPr>
              <a:t>If you have not done so already, you should create an account on GitHub: go to </a:t>
            </a:r>
            <a:endParaRPr>
              <a:solidFill>
                <a:schemeClr val="dk1"/>
              </a:solidFill>
              <a:latin typeface="Calibri"/>
              <a:ea typeface="Calibri"/>
              <a:cs typeface="Calibri"/>
              <a:sym typeface="Calibri"/>
            </a:endParaRPr>
          </a:p>
          <a:p>
            <a:pPr indent="0" lvl="0" marL="0" rtl="0" algn="l">
              <a:lnSpc>
                <a:spcPct val="50000"/>
              </a:lnSpc>
              <a:spcBef>
                <a:spcPts val="0"/>
              </a:spcBef>
              <a:spcAft>
                <a:spcPts val="0"/>
              </a:spcAft>
              <a:buClr>
                <a:schemeClr val="dk1"/>
              </a:buClr>
              <a:buFont typeface="Arial"/>
              <a:buNone/>
            </a:pPr>
            <a:r>
              <a:rPr lang="en-US" sz="1600" u="sng">
                <a:solidFill>
                  <a:schemeClr val="dk1"/>
                </a:solidFill>
                <a:latin typeface="Calibri"/>
                <a:ea typeface="Calibri"/>
                <a:cs typeface="Calibri"/>
                <a:sym typeface="Calibri"/>
                <a:hlinkClick r:id="rId3">
                  <a:extLst>
                    <a:ext uri="{A12FA001-AC4F-418D-AE19-62706E023703}">
                      <ahyp:hlinkClr val="tx"/>
                    </a:ext>
                  </a:extLst>
                </a:hlinkClick>
              </a:rPr>
              <a:t>https://github.com/</a:t>
            </a:r>
            <a:r>
              <a:rPr lang="en-US" sz="1600">
                <a:solidFill>
                  <a:schemeClr val="dk1"/>
                </a:solidFill>
                <a:latin typeface="Calibri"/>
                <a:ea typeface="Calibri"/>
                <a:cs typeface="Calibri"/>
                <a:sym typeface="Calibri"/>
              </a:rPr>
              <a:t>, ﬁll in a username and password, and click on “sign up for </a:t>
            </a:r>
            <a:endParaRPr>
              <a:solidFill>
                <a:schemeClr val="dk1"/>
              </a:solidFill>
              <a:latin typeface="Calibri"/>
              <a:ea typeface="Calibri"/>
              <a:cs typeface="Calibri"/>
              <a:sym typeface="Calibri"/>
            </a:endParaRPr>
          </a:p>
          <a:p>
            <a:pPr indent="0" lvl="0" marL="0" rtl="0" algn="l">
              <a:lnSpc>
                <a:spcPct val="225937"/>
              </a:lnSpc>
              <a:spcBef>
                <a:spcPts val="0"/>
              </a:spcBef>
              <a:spcAft>
                <a:spcPts val="0"/>
              </a:spcAft>
              <a:buClr>
                <a:schemeClr val="dk1"/>
              </a:buClr>
              <a:buFont typeface="Arial"/>
              <a:buNone/>
            </a:pPr>
            <a:r>
              <a:rPr lang="en-US" sz="1600">
                <a:solidFill>
                  <a:schemeClr val="dk1"/>
                </a:solidFill>
                <a:latin typeface="Calibri"/>
                <a:ea typeface="Calibri"/>
                <a:cs typeface="Calibri"/>
                <a:sym typeface="Calibri"/>
              </a:rPr>
              <a:t>free”.</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nvSpPr>
        <p:spPr>
          <a:xfrm>
            <a:off x="947776" y="436807"/>
            <a:ext cx="42810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206" name="Google Shape;206;p37"/>
          <p:cNvSpPr txBox="1"/>
          <p:nvPr/>
        </p:nvSpPr>
        <p:spPr>
          <a:xfrm>
            <a:off x="454925" y="484275"/>
            <a:ext cx="7616100" cy="38301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Clr>
                <a:schemeClr val="dk1"/>
              </a:buClr>
              <a:buFont typeface="Arial"/>
              <a:buNone/>
            </a:pPr>
            <a:r>
              <a:rPr b="1" lang="en-US" sz="2000">
                <a:solidFill>
                  <a:schemeClr val="dk1"/>
                </a:solidFill>
                <a:latin typeface="Calibri"/>
                <a:ea typeface="Calibri"/>
                <a:cs typeface="Calibri"/>
                <a:sym typeface="Calibri"/>
              </a:rPr>
              <a:t>GitHub private repositories</a:t>
            </a:r>
            <a:endParaRPr>
              <a:solidFill>
                <a:schemeClr val="dk1"/>
              </a:solidFill>
              <a:latin typeface="Calibri"/>
              <a:ea typeface="Calibri"/>
              <a:cs typeface="Calibri"/>
              <a:sym typeface="Calibri"/>
            </a:endParaRPr>
          </a:p>
          <a:p>
            <a:pPr indent="0" lvl="0" marL="0" rtl="0" algn="l">
              <a:lnSpc>
                <a:spcPct val="138000"/>
              </a:lnSpc>
              <a:spcBef>
                <a:spcPts val="0"/>
              </a:spcBef>
              <a:spcAft>
                <a:spcPts val="0"/>
              </a:spcAft>
              <a:buClr>
                <a:schemeClr val="dk1"/>
              </a:buClr>
              <a:buFont typeface="Arial"/>
              <a:buNone/>
            </a:pPr>
            <a:r>
              <a:t/>
            </a:r>
            <a:endParaRPr sz="1600">
              <a:solidFill>
                <a:schemeClr val="dk1"/>
              </a:solidFill>
              <a:latin typeface="Calibri"/>
              <a:ea typeface="Calibri"/>
              <a:cs typeface="Calibri"/>
              <a:sym typeface="Calibri"/>
            </a:endParaRPr>
          </a:p>
          <a:p>
            <a:pPr indent="0" lvl="0" marL="0" rtl="0" algn="l">
              <a:lnSpc>
                <a:spcPct val="138000"/>
              </a:lnSpc>
              <a:spcBef>
                <a:spcPts val="0"/>
              </a:spcBef>
              <a:spcAft>
                <a:spcPts val="0"/>
              </a:spcAft>
              <a:buClr>
                <a:schemeClr val="dk1"/>
              </a:buClr>
              <a:buFont typeface="Arial"/>
              <a:buNone/>
            </a:pPr>
            <a:r>
              <a:rPr lang="en-US" sz="1600">
                <a:solidFill>
                  <a:schemeClr val="dk1"/>
                </a:solidFill>
                <a:latin typeface="Calibri"/>
                <a:ea typeface="Calibri"/>
                <a:cs typeface="Calibri"/>
                <a:sym typeface="Calibri"/>
              </a:rPr>
              <a:t>For this course, you should use public repositories in your personal account for your example work: it’s good to share! GitHub is free for open source, but in general, charges a fee if you want to keep your work private.</a:t>
            </a:r>
            <a:endParaRPr>
              <a:solidFill>
                <a:schemeClr val="dk1"/>
              </a:solidFill>
              <a:latin typeface="Calibri"/>
              <a:ea typeface="Calibri"/>
              <a:cs typeface="Calibri"/>
              <a:sym typeface="Calibri"/>
            </a:endParaRPr>
          </a:p>
          <a:p>
            <a:pPr indent="0" lvl="0" marL="0" rtl="0" algn="l">
              <a:lnSpc>
                <a:spcPct val="250000"/>
              </a:lnSpc>
              <a:spcBef>
                <a:spcPts val="0"/>
              </a:spcBef>
              <a:spcAft>
                <a:spcPts val="0"/>
              </a:spcAft>
              <a:buClr>
                <a:schemeClr val="dk1"/>
              </a:buClr>
              <a:buFont typeface="Arial"/>
              <a:buNone/>
            </a:pPr>
            <a:r>
              <a:rPr lang="en-US" sz="1600">
                <a:solidFill>
                  <a:schemeClr val="dk1"/>
                </a:solidFill>
                <a:latin typeface="Calibri"/>
                <a:ea typeface="Calibri"/>
                <a:cs typeface="Calibri"/>
                <a:sym typeface="Calibri"/>
              </a:rPr>
              <a:t>In the future, you might want to keep your work on GitHub private.</a:t>
            </a:r>
            <a:endParaRPr>
              <a:solidFill>
                <a:schemeClr val="dk1"/>
              </a:solidFill>
              <a:latin typeface="Calibri"/>
              <a:ea typeface="Calibri"/>
              <a:cs typeface="Calibri"/>
              <a:sym typeface="Calibri"/>
            </a:endParaRPr>
          </a:p>
          <a:p>
            <a:pPr indent="0" lvl="0" marL="0" rtl="0" algn="l">
              <a:lnSpc>
                <a:spcPct val="200937"/>
              </a:lnSpc>
              <a:spcBef>
                <a:spcPts val="0"/>
              </a:spcBef>
              <a:spcAft>
                <a:spcPts val="0"/>
              </a:spcAft>
              <a:buClr>
                <a:schemeClr val="dk1"/>
              </a:buClr>
              <a:buFont typeface="Arial"/>
              <a:buNone/>
            </a:pPr>
            <a:r>
              <a:rPr lang="en-US" sz="1600">
                <a:solidFill>
                  <a:schemeClr val="dk1"/>
                </a:solidFill>
                <a:latin typeface="Calibri"/>
                <a:ea typeface="Calibri"/>
                <a:cs typeface="Calibri"/>
                <a:sym typeface="Calibri"/>
              </a:rPr>
              <a:t>Students can get free private repositories on GitHub, by going to</a:t>
            </a:r>
            <a:r>
              <a:rPr lang="en-US" sz="1600" u="sng">
                <a:solidFill>
                  <a:schemeClr val="dk1"/>
                </a:solidFill>
                <a:latin typeface="Calibri"/>
                <a:ea typeface="Calibri"/>
                <a:cs typeface="Calibri"/>
                <a:sym typeface="Calibri"/>
                <a:hlinkClick r:id="rId3">
                  <a:extLst>
                    <a:ext uri="{A12FA001-AC4F-418D-AE19-62706E023703}">
                      <ahyp:hlinkClr val="tx"/>
                    </a:ext>
                  </a:extLst>
                </a:hlinkClick>
              </a:rPr>
              <a:t> GitHub </a:t>
            </a:r>
            <a:endParaRPr>
              <a:solidFill>
                <a:schemeClr val="dk1"/>
              </a:solidFill>
              <a:latin typeface="Calibri"/>
              <a:ea typeface="Calibri"/>
              <a:cs typeface="Calibri"/>
              <a:sym typeface="Calibri"/>
            </a:endParaRPr>
          </a:p>
          <a:p>
            <a:pPr indent="0" lvl="0" marL="0" rtl="0" algn="l">
              <a:lnSpc>
                <a:spcPct val="75000"/>
              </a:lnSpc>
              <a:spcBef>
                <a:spcPts val="0"/>
              </a:spcBef>
              <a:spcAft>
                <a:spcPts val="0"/>
              </a:spcAft>
              <a:buClr>
                <a:schemeClr val="dk1"/>
              </a:buClr>
              <a:buFont typeface="Arial"/>
              <a:buNone/>
            </a:pPr>
            <a:r>
              <a:rPr lang="en-US" sz="1600" u="sng">
                <a:solidFill>
                  <a:schemeClr val="dk1"/>
                </a:solidFill>
                <a:latin typeface="Calibri"/>
                <a:ea typeface="Calibri"/>
                <a:cs typeface="Calibri"/>
                <a:sym typeface="Calibri"/>
                <a:hlinkClick r:id="rId4">
                  <a:extLst>
                    <a:ext uri="{A12FA001-AC4F-418D-AE19-62706E023703}">
                      <ahyp:hlinkClr val="tx"/>
                    </a:ext>
                  </a:extLst>
                </a:hlinkClick>
              </a:rPr>
              <a:t>Education</a:t>
            </a:r>
            <a:r>
              <a:rPr lang="en-US" sz="1600">
                <a:solidFill>
                  <a:schemeClr val="dk1"/>
                </a:solidFill>
                <a:latin typeface="Calibri"/>
                <a:ea typeface="Calibri"/>
                <a:cs typeface="Calibri"/>
                <a:sym typeface="Calibri"/>
              </a:rPr>
              <a:t> and ﬁlling in a form (look for the Student Developer Pack).</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 </a:t>
            </a:r>
            <a:endParaRPr sz="3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8"/>
          <p:cNvSpPr txBox="1"/>
          <p:nvPr/>
        </p:nvSpPr>
        <p:spPr>
          <a:xfrm>
            <a:off x="609000" y="653025"/>
            <a:ext cx="8203200" cy="41604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b="1" lang="en-US" sz="2000">
                <a:solidFill>
                  <a:schemeClr val="dk1"/>
                </a:solidFill>
                <a:latin typeface="Calibri"/>
                <a:ea typeface="Calibri"/>
                <a:cs typeface="Calibri"/>
                <a:sym typeface="Calibri"/>
              </a:rPr>
              <a:t>How it will work</a:t>
            </a:r>
            <a:endParaRPr>
              <a:solidFill>
                <a:schemeClr val="dk1"/>
              </a:solidFill>
              <a:latin typeface="Calibri"/>
              <a:ea typeface="Calibri"/>
              <a:cs typeface="Calibri"/>
              <a:sym typeface="Calibri"/>
            </a:endParaRPr>
          </a:p>
          <a:p>
            <a:pPr indent="0" lvl="0" marL="0" rtl="0" algn="l">
              <a:lnSpc>
                <a:spcPct val="138027"/>
              </a:lnSpc>
              <a:spcBef>
                <a:spcPts val="0"/>
              </a:spcBef>
              <a:spcAft>
                <a:spcPts val="0"/>
              </a:spcAft>
              <a:buNone/>
            </a:pPr>
            <a:r>
              <a:t/>
            </a:r>
            <a:endParaRPr b="1" sz="1399">
              <a:solidFill>
                <a:schemeClr val="dk1"/>
              </a:solidFill>
              <a:latin typeface="Calibri"/>
              <a:ea typeface="Calibri"/>
              <a:cs typeface="Calibri"/>
              <a:sym typeface="Calibri"/>
            </a:endParaRPr>
          </a:p>
          <a:p>
            <a:pPr indent="0" lvl="0" marL="0" rtl="0" algn="l">
              <a:lnSpc>
                <a:spcPct val="138027"/>
              </a:lnSpc>
              <a:spcBef>
                <a:spcPts val="0"/>
              </a:spcBef>
              <a:spcAft>
                <a:spcPts val="0"/>
              </a:spcAft>
              <a:buNone/>
            </a:pPr>
            <a:r>
              <a:rPr b="1" lang="en-US" sz="1399">
                <a:solidFill>
                  <a:schemeClr val="dk1"/>
                </a:solidFill>
                <a:latin typeface="Calibri"/>
                <a:ea typeface="Calibri"/>
                <a:cs typeface="Calibri"/>
                <a:sym typeface="Calibri"/>
              </a:rPr>
              <a:t>Clone the repository</a:t>
            </a:r>
            <a:r>
              <a:rPr lang="en-US" sz="1399">
                <a:solidFill>
                  <a:schemeClr val="dk1"/>
                </a:solidFill>
                <a:latin typeface="Calibri"/>
                <a:ea typeface="Calibri"/>
                <a:cs typeface="Calibri"/>
                <a:sym typeface="Calibri"/>
              </a:rPr>
              <a:t>. You, the collaborator need to go to the URL of the repository and </a:t>
            </a:r>
            <a:r>
              <a:rPr b="1" lang="en-US" sz="1399">
                <a:solidFill>
                  <a:schemeClr val="dk1"/>
                </a:solidFill>
                <a:latin typeface="Calibri"/>
                <a:ea typeface="Calibri"/>
                <a:cs typeface="Calibri"/>
                <a:sym typeface="Calibri"/>
              </a:rPr>
              <a:t>note the URL on the top of the screen</a:t>
            </a:r>
            <a:r>
              <a:rPr lang="en-US" sz="1399">
                <a:solidFill>
                  <a:schemeClr val="dk1"/>
                </a:solidFill>
                <a:latin typeface="Calibri"/>
                <a:ea typeface="Calibri"/>
                <a:cs typeface="Calibri"/>
                <a:sym typeface="Calibri"/>
              </a:rPr>
              <a:t>.</a:t>
            </a:r>
            <a:endParaRPr b="1" sz="1399">
              <a:solidFill>
                <a:schemeClr val="dk1"/>
              </a:solidFill>
              <a:latin typeface="Calibri"/>
              <a:ea typeface="Calibri"/>
              <a:cs typeface="Calibri"/>
              <a:sym typeface="Calibri"/>
            </a:endParaRPr>
          </a:p>
          <a:p>
            <a:pPr indent="0" lvl="0" marL="0" rtl="0" algn="l">
              <a:lnSpc>
                <a:spcPct val="138027"/>
              </a:lnSpc>
              <a:spcBef>
                <a:spcPts val="0"/>
              </a:spcBef>
              <a:spcAft>
                <a:spcPts val="0"/>
              </a:spcAft>
              <a:buNone/>
            </a:pPr>
            <a:r>
              <a:t/>
            </a:r>
            <a:endParaRPr b="1" sz="1399">
              <a:solidFill>
                <a:schemeClr val="dk1"/>
              </a:solidFill>
              <a:latin typeface="Calibri"/>
              <a:ea typeface="Calibri"/>
              <a:cs typeface="Calibri"/>
              <a:sym typeface="Calibri"/>
            </a:endParaRPr>
          </a:p>
          <a:p>
            <a:pPr indent="0" lvl="0" marL="0" rtl="0" algn="l">
              <a:lnSpc>
                <a:spcPct val="138027"/>
              </a:lnSpc>
              <a:spcBef>
                <a:spcPts val="0"/>
              </a:spcBef>
              <a:spcAft>
                <a:spcPts val="0"/>
              </a:spcAft>
              <a:buClr>
                <a:schemeClr val="dk1"/>
              </a:buClr>
              <a:buFont typeface="Arial"/>
              <a:buNone/>
            </a:pPr>
            <a:r>
              <a:rPr b="1" lang="en-US" sz="1399">
                <a:solidFill>
                  <a:schemeClr val="dk1"/>
                </a:solidFill>
                <a:latin typeface="Calibri"/>
                <a:ea typeface="Calibri"/>
                <a:cs typeface="Calibri"/>
                <a:sym typeface="Calibri"/>
              </a:rPr>
              <a:t>Create a feature branch</a:t>
            </a:r>
            <a:r>
              <a:rPr lang="en-US" sz="1399">
                <a:solidFill>
                  <a:schemeClr val="dk1"/>
                </a:solidFill>
                <a:latin typeface="Calibri"/>
                <a:ea typeface="Calibri"/>
                <a:cs typeface="Calibri"/>
                <a:sym typeface="Calibri"/>
              </a:rPr>
              <a:t>: It’s a good practice to create a new branch that’ll contain the changes we want. Just think of this as a separate area where our changes will be kept not to interfere with other people’s work.</a:t>
            </a:r>
            <a:endParaRPr>
              <a:solidFill>
                <a:schemeClr val="dk1"/>
              </a:solidFill>
              <a:latin typeface="Calibri"/>
              <a:ea typeface="Calibri"/>
              <a:cs typeface="Calibri"/>
              <a:sym typeface="Calibri"/>
            </a:endParaRPr>
          </a:p>
          <a:p>
            <a:pPr indent="0" lvl="0" marL="0" rtl="0" algn="l">
              <a:lnSpc>
                <a:spcPct val="250000"/>
              </a:lnSpc>
              <a:spcBef>
                <a:spcPts val="0"/>
              </a:spcBef>
              <a:spcAft>
                <a:spcPts val="0"/>
              </a:spcAft>
              <a:buNone/>
            </a:pPr>
            <a:r>
              <a:rPr lang="en-US" sz="1200">
                <a:solidFill>
                  <a:srgbClr val="333333"/>
                </a:solidFill>
                <a:latin typeface="Calibri"/>
                <a:ea typeface="Calibri"/>
                <a:cs typeface="Calibri"/>
                <a:sym typeface="Calibri"/>
              </a:rPr>
              <a:t>!Be sure to ﬁrst navigate to the cloned directory, or git commands will not use this repository </a:t>
            </a:r>
            <a:endParaRPr sz="1200">
              <a:solidFill>
                <a:srgbClr val="333333"/>
              </a:solidFill>
              <a:latin typeface="Calibri"/>
              <a:ea typeface="Calibri"/>
              <a:cs typeface="Calibri"/>
              <a:sym typeface="Calibri"/>
            </a:endParaRPr>
          </a:p>
          <a:p>
            <a:pPr indent="0" lvl="0" marL="0" rtl="0" algn="l">
              <a:lnSpc>
                <a:spcPct val="100000"/>
              </a:lnSpc>
              <a:spcBef>
                <a:spcPts val="0"/>
              </a:spcBef>
              <a:spcAft>
                <a:spcPts val="0"/>
              </a:spcAft>
              <a:buNone/>
            </a:pPr>
            <a:r>
              <a:rPr lang="en-US" sz="1200">
                <a:solidFill>
                  <a:schemeClr val="dk1"/>
                </a:solidFill>
                <a:latin typeface="Courier New"/>
                <a:ea typeface="Courier New"/>
                <a:cs typeface="Courier New"/>
                <a:sym typeface="Courier New"/>
              </a:rPr>
              <a:t>&gt;&gt; </a:t>
            </a:r>
            <a:r>
              <a:rPr lang="en-US" sz="1200">
                <a:solidFill>
                  <a:srgbClr val="333333"/>
                </a:solidFill>
                <a:latin typeface="Courier New"/>
                <a:ea typeface="Courier New"/>
                <a:cs typeface="Courier New"/>
                <a:sym typeface="Courier New"/>
              </a:rPr>
              <a:t>git clone </a:t>
            </a:r>
            <a:r>
              <a:rPr lang="en-US" sz="1200" u="sng">
                <a:solidFill>
                  <a:schemeClr val="hlink"/>
                </a:solidFill>
                <a:latin typeface="Courier New"/>
                <a:ea typeface="Courier New"/>
                <a:cs typeface="Courier New"/>
                <a:sym typeface="Courier New"/>
                <a:hlinkClick r:id="rId3"/>
              </a:rPr>
              <a:t>https://github.com/zahariesergiu/ubb-sociology-ml</a:t>
            </a:r>
            <a:endParaRPr sz="1200">
              <a:solidFill>
                <a:srgbClr val="333333"/>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US" sz="1200">
                <a:solidFill>
                  <a:srgbClr val="333333"/>
                </a:solidFill>
                <a:latin typeface="Courier New"/>
                <a:ea typeface="Courier New"/>
                <a:cs typeface="Courier New"/>
                <a:sym typeface="Courier New"/>
              </a:rPr>
              <a:t>&gt;&gt; cd </a:t>
            </a:r>
            <a:r>
              <a:rPr lang="en-US" sz="1200" u="sng">
                <a:solidFill>
                  <a:schemeClr val="hlink"/>
                </a:solidFill>
                <a:latin typeface="Courier New"/>
                <a:ea typeface="Courier New"/>
                <a:cs typeface="Courier New"/>
                <a:sym typeface="Courier New"/>
                <a:hlinkClick r:id="rId4"/>
              </a:rPr>
              <a:t>ubb-sociology-ml</a:t>
            </a:r>
            <a:endParaRPr sz="1200">
              <a:solidFill>
                <a:srgbClr val="333333"/>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US" sz="1200">
                <a:solidFill>
                  <a:srgbClr val="333333"/>
                </a:solidFill>
                <a:latin typeface="Courier New"/>
                <a:ea typeface="Courier New"/>
                <a:cs typeface="Courier New"/>
                <a:sym typeface="Courier New"/>
              </a:rPr>
              <a:t>&gt;&gt; git checkout -b my-feature-branch-name</a:t>
            </a:r>
            <a:endParaRPr sz="3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9"/>
          <p:cNvSpPr txBox="1"/>
          <p:nvPr/>
        </p:nvSpPr>
        <p:spPr>
          <a:xfrm>
            <a:off x="403550" y="330175"/>
            <a:ext cx="8262000" cy="44832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Clr>
                <a:schemeClr val="dk1"/>
              </a:buClr>
              <a:buFont typeface="Arial"/>
              <a:buNone/>
            </a:pPr>
            <a:r>
              <a:rPr b="1" lang="en-US" sz="2000">
                <a:solidFill>
                  <a:schemeClr val="dk1"/>
                </a:solidFill>
                <a:latin typeface="Calibri"/>
                <a:ea typeface="Calibri"/>
                <a:cs typeface="Calibri"/>
                <a:sym typeface="Calibri"/>
              </a:rPr>
              <a:t>How it will work</a:t>
            </a:r>
            <a:endParaRPr>
              <a:solidFill>
                <a:schemeClr val="dk1"/>
              </a:solidFill>
              <a:latin typeface="Calibri"/>
              <a:ea typeface="Calibri"/>
              <a:cs typeface="Calibri"/>
              <a:sym typeface="Calibri"/>
            </a:endParaRPr>
          </a:p>
          <a:p>
            <a:pPr indent="0" lvl="0" marL="0" rtl="0" algn="l">
              <a:lnSpc>
                <a:spcPct val="166690"/>
              </a:lnSpc>
              <a:spcBef>
                <a:spcPts val="0"/>
              </a:spcBef>
              <a:spcAft>
                <a:spcPts val="0"/>
              </a:spcAft>
              <a:buNone/>
            </a:pPr>
            <a:r>
              <a:rPr b="1" lang="en-US" sz="1399">
                <a:solidFill>
                  <a:schemeClr val="dk1"/>
                </a:solidFill>
                <a:latin typeface="Calibri"/>
                <a:ea typeface="Calibri"/>
                <a:cs typeface="Calibri"/>
                <a:sym typeface="Calibri"/>
              </a:rPr>
              <a:t>Make, commit and push changes to new branch </a:t>
            </a:r>
            <a:endParaRPr b="1" sz="1399">
              <a:solidFill>
                <a:schemeClr val="dk1"/>
              </a:solidFill>
              <a:latin typeface="Calibri"/>
              <a:ea typeface="Calibri"/>
              <a:cs typeface="Calibri"/>
              <a:sym typeface="Calibri"/>
            </a:endParaRPr>
          </a:p>
          <a:p>
            <a:pPr indent="0" lvl="0" marL="0" rtl="0" algn="l">
              <a:lnSpc>
                <a:spcPct val="166690"/>
              </a:lnSpc>
              <a:spcBef>
                <a:spcPts val="0"/>
              </a:spcBef>
              <a:spcAft>
                <a:spcPts val="0"/>
              </a:spcAft>
              <a:buNone/>
            </a:pPr>
            <a:r>
              <a:rPr lang="en-US" sz="1399">
                <a:solidFill>
                  <a:schemeClr val="dk1"/>
                </a:solidFill>
                <a:latin typeface="Calibri"/>
                <a:ea typeface="Calibri"/>
                <a:cs typeface="Calibri"/>
                <a:sym typeface="Calibri"/>
              </a:rPr>
              <a:t>For example, let’s create a new ﬁle in Google Colab called:    </a:t>
            </a:r>
            <a:r>
              <a:rPr lang="en-US" sz="1399">
                <a:solidFill>
                  <a:schemeClr val="dk1"/>
                </a:solidFill>
                <a:latin typeface="Courier New"/>
                <a:ea typeface="Courier New"/>
                <a:cs typeface="Courier New"/>
                <a:sym typeface="Courier New"/>
              </a:rPr>
              <a:t>python_exercise.ipynb </a:t>
            </a:r>
            <a:endParaRPr sz="1399">
              <a:solidFill>
                <a:schemeClr val="dk1"/>
              </a:solidFill>
              <a:latin typeface="IBM Plex Sans"/>
              <a:ea typeface="IBM Plex Sans"/>
              <a:cs typeface="IBM Plex Sans"/>
              <a:sym typeface="IBM Plex Sans"/>
            </a:endParaRPr>
          </a:p>
          <a:p>
            <a:pPr indent="0" lvl="0" marL="0" rtl="0" algn="l">
              <a:lnSpc>
                <a:spcPct val="166690"/>
              </a:lnSpc>
              <a:spcBef>
                <a:spcPts val="0"/>
              </a:spcBef>
              <a:spcAft>
                <a:spcPts val="0"/>
              </a:spcAft>
              <a:buNone/>
            </a:pPr>
            <a:r>
              <a:rPr lang="en-US" sz="1399">
                <a:solidFill>
                  <a:schemeClr val="dk1"/>
                </a:solidFill>
                <a:latin typeface="IBM Plex Sans"/>
                <a:ea typeface="IBM Plex Sans"/>
                <a:cs typeface="IBM Plex Sans"/>
                <a:sym typeface="IBM Plex Sans"/>
              </a:rPr>
              <a:t>and edit it to add this:</a:t>
            </a:r>
            <a:endParaRPr sz="1399">
              <a:solidFill>
                <a:schemeClr val="dk1"/>
              </a:solidFill>
              <a:latin typeface="IBM Plex Sans"/>
              <a:ea typeface="IBM Plex Sans"/>
              <a:cs typeface="IBM Plex Sans"/>
              <a:sym typeface="IBM Plex Sans"/>
            </a:endParaRPr>
          </a:p>
          <a:p>
            <a:pPr indent="0" lvl="0" marL="0" rtl="0" algn="l">
              <a:lnSpc>
                <a:spcPct val="100000"/>
              </a:lnSpc>
              <a:spcBef>
                <a:spcPts val="0"/>
              </a:spcBef>
              <a:spcAft>
                <a:spcPts val="0"/>
              </a:spcAft>
              <a:buNone/>
            </a:pPr>
            <a:r>
              <a:rPr lang="en-US" sz="1399">
                <a:solidFill>
                  <a:schemeClr val="dk1"/>
                </a:solidFill>
                <a:latin typeface="Courier New"/>
                <a:ea typeface="Courier New"/>
                <a:cs typeface="Courier New"/>
                <a:sym typeface="Courier New"/>
              </a:rPr>
              <a:t>&gt;&gt; print(‘Hello, Sociology + ML is fun !’)</a:t>
            </a:r>
            <a:endParaRPr sz="1399">
              <a:solidFill>
                <a:schemeClr val="dk1"/>
              </a:solidFill>
              <a:latin typeface="Courier New"/>
              <a:ea typeface="Courier New"/>
              <a:cs typeface="Courier New"/>
              <a:sym typeface="Courier New"/>
            </a:endParaRPr>
          </a:p>
          <a:p>
            <a:pPr indent="0" lvl="0" marL="0" rtl="0" algn="l">
              <a:lnSpc>
                <a:spcPct val="166690"/>
              </a:lnSpc>
              <a:spcBef>
                <a:spcPts val="0"/>
              </a:spcBef>
              <a:spcAft>
                <a:spcPts val="0"/>
              </a:spcAft>
              <a:buNone/>
            </a:pPr>
            <a:r>
              <a:t/>
            </a:r>
            <a:endParaRPr sz="1399">
              <a:solidFill>
                <a:schemeClr val="dk1"/>
              </a:solidFill>
              <a:latin typeface="Courier New"/>
              <a:ea typeface="Courier New"/>
              <a:cs typeface="Courier New"/>
              <a:sym typeface="Courier New"/>
            </a:endParaRPr>
          </a:p>
          <a:p>
            <a:pPr indent="0" lvl="0" marL="0" rtl="0" algn="just">
              <a:lnSpc>
                <a:spcPct val="140028"/>
              </a:lnSpc>
              <a:spcBef>
                <a:spcPts val="0"/>
              </a:spcBef>
              <a:spcAft>
                <a:spcPts val="0"/>
              </a:spcAft>
              <a:buNone/>
            </a:pPr>
            <a:r>
              <a:rPr lang="en-US" sz="1399">
                <a:solidFill>
                  <a:schemeClr val="dk1"/>
                </a:solidFill>
                <a:latin typeface="IBM Plex Sans"/>
                <a:ea typeface="IBM Plex Sans"/>
                <a:cs typeface="IBM Plex Sans"/>
                <a:sym typeface="IBM Plex Sans"/>
              </a:rPr>
              <a:t>Save it, and push this changes to your clone new branch:</a:t>
            </a:r>
            <a:endParaRPr>
              <a:solidFill>
                <a:schemeClr val="dk1"/>
              </a:solidFill>
            </a:endParaRPr>
          </a:p>
          <a:p>
            <a:pPr indent="0" lvl="0" marL="0" rtl="0" algn="just">
              <a:lnSpc>
                <a:spcPct val="100000"/>
              </a:lnSpc>
              <a:spcBef>
                <a:spcPts val="0"/>
              </a:spcBef>
              <a:spcAft>
                <a:spcPts val="0"/>
              </a:spcAft>
              <a:buNone/>
            </a:pPr>
            <a:r>
              <a:rPr lang="en-US" sz="1200">
                <a:solidFill>
                  <a:srgbClr val="333333"/>
                </a:solidFill>
                <a:latin typeface="Courier New"/>
                <a:ea typeface="Courier New"/>
                <a:cs typeface="Courier New"/>
                <a:sym typeface="Courier New"/>
              </a:rPr>
              <a:t>&gt;&gt; git add </a:t>
            </a:r>
            <a:r>
              <a:rPr lang="en-US" sz="1200">
                <a:solidFill>
                  <a:schemeClr val="dk1"/>
                </a:solidFill>
                <a:latin typeface="Courier New"/>
                <a:ea typeface="Courier New"/>
                <a:cs typeface="Courier New"/>
                <a:sym typeface="Courier New"/>
              </a:rPr>
              <a:t>python_exercise</a:t>
            </a:r>
            <a:r>
              <a:rPr lang="en-US" sz="1200">
                <a:solidFill>
                  <a:srgbClr val="333333"/>
                </a:solidFill>
                <a:latin typeface="Courier New"/>
                <a:ea typeface="Courier New"/>
                <a:cs typeface="Courier New"/>
                <a:sym typeface="Courier New"/>
              </a:rPr>
              <a:t>.ipynb </a:t>
            </a:r>
            <a:endParaRPr sz="1200">
              <a:solidFill>
                <a:srgbClr val="333333"/>
              </a:solidFill>
              <a:latin typeface="Courier New"/>
              <a:ea typeface="Courier New"/>
              <a:cs typeface="Courier New"/>
              <a:sym typeface="Courier New"/>
            </a:endParaRPr>
          </a:p>
          <a:p>
            <a:pPr indent="0" lvl="0" marL="0" rtl="0" algn="just">
              <a:lnSpc>
                <a:spcPct val="100000"/>
              </a:lnSpc>
              <a:spcBef>
                <a:spcPts val="0"/>
              </a:spcBef>
              <a:spcAft>
                <a:spcPts val="0"/>
              </a:spcAft>
              <a:buNone/>
            </a:pPr>
            <a:r>
              <a:rPr lang="en-US" sz="1200">
                <a:solidFill>
                  <a:srgbClr val="333333"/>
                </a:solidFill>
                <a:latin typeface="Courier New"/>
                <a:ea typeface="Courier New"/>
                <a:cs typeface="Courier New"/>
                <a:sym typeface="Courier New"/>
              </a:rPr>
              <a:t>&gt;&gt; git commit -m "Implementing python exercises"</a:t>
            </a:r>
            <a:endParaRPr sz="1200">
              <a:solidFill>
                <a:schemeClr val="dk1"/>
              </a:solidFill>
              <a:latin typeface="Courier New"/>
              <a:ea typeface="Courier New"/>
              <a:cs typeface="Courier New"/>
              <a:sym typeface="Courier New"/>
            </a:endParaRPr>
          </a:p>
          <a:p>
            <a:pPr indent="0" lvl="0" marL="0" rtl="0" algn="just">
              <a:lnSpc>
                <a:spcPct val="100000"/>
              </a:lnSpc>
              <a:spcBef>
                <a:spcPts val="0"/>
              </a:spcBef>
              <a:spcAft>
                <a:spcPts val="0"/>
              </a:spcAft>
              <a:buNone/>
            </a:pPr>
            <a:r>
              <a:rPr lang="en-US" sz="1200">
                <a:solidFill>
                  <a:srgbClr val="333333"/>
                </a:solidFill>
                <a:latin typeface="Courier New"/>
                <a:ea typeface="Courier New"/>
                <a:cs typeface="Courier New"/>
                <a:sym typeface="Courier New"/>
              </a:rPr>
              <a:t>&gt;&gt; git push origin my-feature-branch-name</a:t>
            </a:r>
            <a:endParaRPr sz="1200">
              <a:solidFill>
                <a:schemeClr val="dk1"/>
              </a:solidFill>
              <a:latin typeface="Courier New"/>
              <a:ea typeface="Courier New"/>
              <a:cs typeface="Courier New"/>
              <a:sym typeface="Courier New"/>
            </a:endParaRPr>
          </a:p>
          <a:p>
            <a:pPr indent="0" lvl="0" marL="0" rtl="0" algn="l">
              <a:lnSpc>
                <a:spcPct val="166690"/>
              </a:lnSpc>
              <a:spcBef>
                <a:spcPts val="0"/>
              </a:spcBef>
              <a:spcAft>
                <a:spcPts val="0"/>
              </a:spcAft>
              <a:buNone/>
            </a:pPr>
            <a:r>
              <a:t/>
            </a:r>
            <a:endParaRPr sz="1399">
              <a:solidFill>
                <a:schemeClr val="dk1"/>
              </a:solidFill>
              <a:latin typeface="IBM Plex Sans"/>
              <a:ea typeface="IBM Plex Sans"/>
              <a:cs typeface="IBM Plex Sans"/>
              <a:sym typeface="IBM Plex Sans"/>
            </a:endParaRPr>
          </a:p>
          <a:p>
            <a:pPr indent="0" lvl="0" marL="0" rtl="0" algn="l">
              <a:lnSpc>
                <a:spcPct val="100000"/>
              </a:lnSpc>
              <a:spcBef>
                <a:spcPts val="0"/>
              </a:spcBef>
              <a:spcAft>
                <a:spcPts val="0"/>
              </a:spcAft>
              <a:buNone/>
            </a:pPr>
            <a:r>
              <a:rPr lang="en-US" sz="1399">
                <a:solidFill>
                  <a:schemeClr val="dk1"/>
                </a:solidFill>
                <a:latin typeface="IBM Plex Sans"/>
                <a:ea typeface="IBM Plex Sans"/>
                <a:cs typeface="IBM Plex Sans"/>
                <a:sym typeface="IBM Plex Sans"/>
              </a:rPr>
              <a:t>Push code during the work and when ﬁnished. </a:t>
            </a:r>
            <a:endParaRPr sz="1399">
              <a:solidFill>
                <a:schemeClr val="dk1"/>
              </a:solidFill>
              <a:latin typeface="IBM Plex Sans"/>
              <a:ea typeface="IBM Plex Sans"/>
              <a:cs typeface="IBM Plex Sans"/>
              <a:sym typeface="IBM Plex Sans"/>
            </a:endParaRPr>
          </a:p>
          <a:p>
            <a:pPr indent="0" lvl="0" marL="0" rtl="0" algn="l">
              <a:lnSpc>
                <a:spcPct val="100000"/>
              </a:lnSpc>
              <a:spcBef>
                <a:spcPts val="0"/>
              </a:spcBef>
              <a:spcAft>
                <a:spcPts val="0"/>
              </a:spcAft>
              <a:buNone/>
            </a:pPr>
            <a:r>
              <a:rPr lang="en-US" sz="1399">
                <a:solidFill>
                  <a:srgbClr val="A38CD4"/>
                </a:solidFill>
                <a:latin typeface="IBM Plex Sans"/>
                <a:ea typeface="IBM Plex Sans"/>
                <a:cs typeface="IBM Plex Sans"/>
                <a:sym typeface="IBM Plex Sans"/>
              </a:rPr>
              <a:t>git push</a:t>
            </a:r>
            <a:r>
              <a:rPr lang="en-US" sz="1399">
                <a:solidFill>
                  <a:schemeClr val="dk1"/>
                </a:solidFill>
                <a:latin typeface="IBM Plex Sans"/>
                <a:ea typeface="IBM Plex Sans"/>
                <a:cs typeface="IBM Plex Sans"/>
                <a:sym typeface="IBM Plex Sans"/>
              </a:rPr>
              <a:t> will push your whole history onto the server, and now you’ll be able to see it on the  internet! </a:t>
            </a:r>
            <a:endParaRPr sz="1399">
              <a:solidFill>
                <a:schemeClr val="dk1"/>
              </a:solidFill>
              <a:latin typeface="IBM Plex Sans"/>
              <a:ea typeface="IBM Plex Sans"/>
              <a:cs typeface="IBM Plex Sans"/>
              <a:sym typeface="IBM Plex Sans"/>
            </a:endParaRPr>
          </a:p>
          <a:p>
            <a:pPr indent="0" lvl="0" marL="0" rtl="0" algn="l">
              <a:lnSpc>
                <a:spcPct val="100000"/>
              </a:lnSpc>
              <a:spcBef>
                <a:spcPts val="0"/>
              </a:spcBef>
              <a:spcAft>
                <a:spcPts val="0"/>
              </a:spcAft>
              <a:buNone/>
            </a:pPr>
            <a:r>
              <a:rPr lang="en-US" sz="1399">
                <a:solidFill>
                  <a:schemeClr val="dk1"/>
                </a:solidFill>
                <a:latin typeface="IBM Plex Sans"/>
                <a:ea typeface="IBM Plex Sans"/>
                <a:cs typeface="IBM Plex Sans"/>
                <a:sym typeface="IBM Plex Sans"/>
              </a:rPr>
              <a:t>Refresh your web browser, and you’ll see your branch in the repository!</a:t>
            </a:r>
            <a:endParaRPr sz="1399">
              <a:solidFill>
                <a:schemeClr val="dk1"/>
              </a:solidFill>
              <a:latin typeface="IBM Plex Sans"/>
              <a:ea typeface="IBM Plex Sans"/>
              <a:cs typeface="IBM Plex Sans"/>
              <a:sym typeface="IBM Plex Sans"/>
            </a:endParaRPr>
          </a:p>
          <a:p>
            <a:pPr indent="0" lvl="0" marL="0" rtl="0" algn="l">
              <a:lnSpc>
                <a:spcPct val="250107"/>
              </a:lnSpc>
              <a:spcBef>
                <a:spcPts val="0"/>
              </a:spcBef>
              <a:spcAft>
                <a:spcPts val="0"/>
              </a:spcAft>
              <a:buNone/>
            </a:pPr>
            <a:r>
              <a:t/>
            </a:r>
            <a:endParaRPr sz="1399">
              <a:solidFill>
                <a:schemeClr val="dk1"/>
              </a:solidFill>
              <a:latin typeface="IBM Plex Sans"/>
              <a:ea typeface="IBM Plex Sans"/>
              <a:cs typeface="IBM Plex Sans"/>
              <a:sym typeface="IBM Plex Sans"/>
            </a:endParaRPr>
          </a:p>
          <a:p>
            <a:pPr indent="0" lvl="0" marL="0" rtl="0" algn="l">
              <a:lnSpc>
                <a:spcPct val="166690"/>
              </a:lnSpc>
              <a:spcBef>
                <a:spcPts val="0"/>
              </a:spcBef>
              <a:spcAft>
                <a:spcPts val="0"/>
              </a:spcAft>
              <a:buNone/>
            </a:pPr>
            <a:r>
              <a:t/>
            </a:r>
            <a:endParaRPr sz="1399">
              <a:solidFill>
                <a:schemeClr val="dk1"/>
              </a:solidFill>
              <a:latin typeface="IBM Plex Sans"/>
              <a:ea typeface="IBM Plex Sans"/>
              <a:cs typeface="IBM Plex Sans"/>
              <a:sym typeface="IBM Plex Sans"/>
            </a:endParaRPr>
          </a:p>
          <a:p>
            <a:pPr indent="0" lvl="0" marL="0" rtl="0" algn="l">
              <a:lnSpc>
                <a:spcPct val="166690"/>
              </a:lnSpc>
              <a:spcBef>
                <a:spcPts val="0"/>
              </a:spcBef>
              <a:spcAft>
                <a:spcPts val="0"/>
              </a:spcAft>
              <a:buClr>
                <a:schemeClr val="dk1"/>
              </a:buClr>
              <a:buFont typeface="Arial"/>
              <a:buNone/>
            </a:pPr>
            <a:r>
              <a:t/>
            </a:r>
            <a:endParaRPr sz="1399">
              <a:solidFill>
                <a:schemeClr val="dk1"/>
              </a:solidFill>
              <a:latin typeface="IBM Plex Sans"/>
              <a:ea typeface="IBM Plex Sans"/>
              <a:cs typeface="IBM Plex Sans"/>
              <a:sym typeface="IBM Plex Sans"/>
            </a:endParaRPr>
          </a:p>
        </p:txBody>
      </p:sp>
      <p:sp>
        <p:nvSpPr>
          <p:cNvPr id="217" name="Google Shape;217;p39"/>
          <p:cNvSpPr txBox="1"/>
          <p:nvPr/>
        </p:nvSpPr>
        <p:spPr>
          <a:xfrm>
            <a:off x="6104675" y="1724275"/>
            <a:ext cx="2847000" cy="18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Calibri"/>
                <a:ea typeface="Calibri"/>
                <a:cs typeface="Calibri"/>
                <a:sym typeface="Calibri"/>
              </a:rPr>
              <a:t>Note: </a:t>
            </a:r>
            <a:endParaRPr sz="2200">
              <a:solidFill>
                <a:schemeClr val="dk1"/>
              </a:solidFill>
              <a:latin typeface="Calibri"/>
              <a:ea typeface="Calibri"/>
              <a:cs typeface="Calibri"/>
              <a:sym typeface="Calibri"/>
            </a:endParaRPr>
          </a:p>
          <a:p>
            <a:pPr indent="0" lvl="0" marL="0" rtl="0" algn="l">
              <a:spcBef>
                <a:spcPts val="0"/>
              </a:spcBef>
              <a:spcAft>
                <a:spcPts val="0"/>
              </a:spcAft>
              <a:buNone/>
            </a:pPr>
            <a:r>
              <a:rPr lang="en-US" sz="2200">
                <a:solidFill>
                  <a:schemeClr val="dk1"/>
                </a:solidFill>
                <a:latin typeface="Calibri"/>
                <a:ea typeface="Calibri"/>
                <a:cs typeface="Calibri"/>
                <a:sym typeface="Calibri"/>
              </a:rPr>
              <a:t>There is also github desktop. </a:t>
            </a:r>
            <a:endParaRPr sz="2200">
              <a:solidFill>
                <a:schemeClr val="dk1"/>
              </a:solidFill>
              <a:latin typeface="Calibri"/>
              <a:ea typeface="Calibri"/>
              <a:cs typeface="Calibri"/>
              <a:sym typeface="Calibri"/>
            </a:endParaRPr>
          </a:p>
          <a:p>
            <a:pPr indent="0" lvl="0" marL="0" rtl="0" algn="l">
              <a:spcBef>
                <a:spcPts val="0"/>
              </a:spcBef>
              <a:spcAft>
                <a:spcPts val="0"/>
              </a:spcAft>
              <a:buNone/>
            </a:pPr>
            <a:r>
              <a:rPr lang="en-US" sz="2200">
                <a:solidFill>
                  <a:schemeClr val="dk1"/>
                </a:solidFill>
                <a:latin typeface="Calibri"/>
                <a:ea typeface="Calibri"/>
                <a:cs typeface="Calibri"/>
                <a:sym typeface="Calibri"/>
              </a:rPr>
              <a:t>Check it!</a:t>
            </a:r>
            <a:endParaRPr sz="2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p:nvPr/>
        </p:nvSpPr>
        <p:spPr>
          <a:xfrm>
            <a:off x="300276" y="3752850"/>
            <a:ext cx="8485803" cy="1160097"/>
          </a:xfrm>
          <a:custGeom>
            <a:rect b="b" l="l" r="r" t="t"/>
            <a:pathLst>
              <a:path extrusionOk="0" h="1160097" w="8485803">
                <a:moveTo>
                  <a:pt x="0" y="0"/>
                </a:moveTo>
                <a:lnTo>
                  <a:pt x="8485803" y="0"/>
                </a:lnTo>
                <a:lnTo>
                  <a:pt x="8485803" y="1160097"/>
                </a:lnTo>
                <a:lnTo>
                  <a:pt x="0" y="1160097"/>
                </a:lnTo>
                <a:lnTo>
                  <a:pt x="0" y="0"/>
                </a:lnTo>
                <a:close/>
              </a:path>
            </a:pathLst>
          </a:custGeom>
          <a:blipFill rotWithShape="1">
            <a:blip r:embed="rId3">
              <a:alphaModFix/>
            </a:blip>
            <a:stretch>
              <a:fillRect b="0" l="0" r="0" t="0"/>
            </a:stretch>
          </a:blipFill>
          <a:ln>
            <a:noFill/>
          </a:ln>
        </p:spPr>
      </p:sp>
      <p:sp>
        <p:nvSpPr>
          <p:cNvPr id="223" name="Google Shape;223;p40"/>
          <p:cNvSpPr/>
          <p:nvPr/>
        </p:nvSpPr>
        <p:spPr>
          <a:xfrm>
            <a:off x="2252148" y="1041883"/>
            <a:ext cx="4639704" cy="2508323"/>
          </a:xfrm>
          <a:custGeom>
            <a:rect b="b" l="l" r="r" t="t"/>
            <a:pathLst>
              <a:path extrusionOk="0" h="2508323" w="4639704">
                <a:moveTo>
                  <a:pt x="0" y="0"/>
                </a:moveTo>
                <a:lnTo>
                  <a:pt x="4639704" y="0"/>
                </a:lnTo>
                <a:lnTo>
                  <a:pt x="4639704" y="2508323"/>
                </a:lnTo>
                <a:lnTo>
                  <a:pt x="0" y="2508323"/>
                </a:lnTo>
                <a:lnTo>
                  <a:pt x="0" y="0"/>
                </a:lnTo>
                <a:close/>
              </a:path>
            </a:pathLst>
          </a:custGeom>
          <a:blipFill rotWithShape="1">
            <a:blip r:embed="rId4">
              <a:alphaModFix/>
            </a:blip>
            <a:stretch>
              <a:fillRect b="0" l="0" r="0" t="0"/>
            </a:stretch>
          </a:blipFill>
          <a:ln>
            <a:noFill/>
          </a:ln>
        </p:spPr>
      </p:sp>
      <p:sp>
        <p:nvSpPr>
          <p:cNvPr id="224" name="Google Shape;224;p40"/>
          <p:cNvSpPr/>
          <p:nvPr/>
        </p:nvSpPr>
        <p:spPr>
          <a:xfrm>
            <a:off x="2252148" y="1041883"/>
            <a:ext cx="4639704" cy="2508323"/>
          </a:xfrm>
          <a:custGeom>
            <a:rect b="b" l="l" r="r" t="t"/>
            <a:pathLst>
              <a:path extrusionOk="0" h="2508323" w="4639704">
                <a:moveTo>
                  <a:pt x="0" y="0"/>
                </a:moveTo>
                <a:lnTo>
                  <a:pt x="4639704" y="0"/>
                </a:lnTo>
                <a:lnTo>
                  <a:pt x="4639704" y="2508323"/>
                </a:lnTo>
                <a:lnTo>
                  <a:pt x="0" y="2508323"/>
                </a:lnTo>
                <a:lnTo>
                  <a:pt x="0" y="0"/>
                </a:lnTo>
                <a:close/>
              </a:path>
            </a:pathLst>
          </a:custGeom>
          <a:blipFill rotWithShape="1">
            <a:blip r:embed="rId5">
              <a:alphaModFix/>
            </a:blip>
            <a:stretch>
              <a:fillRect b="0" l="0" r="0" t="0"/>
            </a:stretch>
          </a:blipFill>
          <a:ln>
            <a:noFill/>
          </a:ln>
        </p:spPr>
      </p:sp>
      <p:sp>
        <p:nvSpPr>
          <p:cNvPr id="225" name="Google Shape;225;p40"/>
          <p:cNvSpPr txBox="1"/>
          <p:nvPr/>
        </p:nvSpPr>
        <p:spPr>
          <a:xfrm>
            <a:off x="660864" y="3819496"/>
            <a:ext cx="8133969" cy="43556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1" lang="en-US" sz="2700" u="none" cap="none" strike="noStrike">
                <a:solidFill>
                  <a:srgbClr val="000000"/>
                </a:solidFill>
                <a:latin typeface="Space Mono"/>
                <a:ea typeface="Space Mono"/>
                <a:cs typeface="Space Mono"/>
                <a:sym typeface="Space Mono"/>
              </a:rPr>
              <a:t>How much of python do we need to know </a:t>
            </a:r>
            <a:endParaRPr/>
          </a:p>
        </p:txBody>
      </p:sp>
      <p:sp>
        <p:nvSpPr>
          <p:cNvPr id="226" name="Google Shape;226;p40"/>
          <p:cNvSpPr txBox="1"/>
          <p:nvPr/>
        </p:nvSpPr>
        <p:spPr>
          <a:xfrm>
            <a:off x="1395355" y="4230976"/>
            <a:ext cx="6421555" cy="43556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1" lang="en-US" sz="2700" u="none" cap="none" strike="noStrike">
                <a:solidFill>
                  <a:srgbClr val="000000"/>
                </a:solidFill>
                <a:latin typeface="Space Mono"/>
                <a:ea typeface="Space Mono"/>
                <a:cs typeface="Space Mono"/>
                <a:sym typeface="Space Mono"/>
              </a:rPr>
              <a:t>before we get started with ML?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1"/>
          <p:cNvSpPr txBox="1"/>
          <p:nvPr/>
        </p:nvSpPr>
        <p:spPr>
          <a:xfrm>
            <a:off x="579947" y="1492283"/>
            <a:ext cx="3225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232" name="Google Shape;232;p41"/>
          <p:cNvSpPr txBox="1"/>
          <p:nvPr/>
        </p:nvSpPr>
        <p:spPr>
          <a:xfrm>
            <a:off x="923997" y="2011758"/>
            <a:ext cx="44766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233" name="Google Shape;233;p41"/>
          <p:cNvSpPr txBox="1"/>
          <p:nvPr/>
        </p:nvSpPr>
        <p:spPr>
          <a:xfrm>
            <a:off x="695400" y="1173975"/>
            <a:ext cx="7691100" cy="36597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en-US" sz="1600">
                <a:solidFill>
                  <a:schemeClr val="dk1"/>
                </a:solidFill>
                <a:latin typeface="IBM Plex Sans"/>
                <a:ea typeface="IBM Plex Sans"/>
                <a:cs typeface="IBM Plex Sans"/>
                <a:sym typeface="IBM Plex Sans"/>
              </a:rPr>
              <a:t>Let’s Go on Colab for a python recap!</a:t>
            </a:r>
            <a:endParaRPr sz="1600">
              <a:solidFill>
                <a:schemeClr val="dk1"/>
              </a:solidFill>
              <a:latin typeface="IBM Plex Sans"/>
              <a:ea typeface="IBM Plex Sans"/>
              <a:cs typeface="IBM Plex Sans"/>
              <a:sym typeface="IBM Plex Sans"/>
            </a:endParaRPr>
          </a:p>
          <a:p>
            <a:pPr indent="0" lvl="0" marL="0" rtl="0" algn="l">
              <a:lnSpc>
                <a:spcPct val="140000"/>
              </a:lnSpc>
              <a:spcBef>
                <a:spcPts val="0"/>
              </a:spcBef>
              <a:spcAft>
                <a:spcPts val="0"/>
              </a:spcAft>
              <a:buNone/>
            </a:pPr>
            <a:r>
              <a:t/>
            </a:r>
            <a:endParaRPr sz="1600">
              <a:solidFill>
                <a:schemeClr val="dk1"/>
              </a:solidFill>
              <a:latin typeface="IBM Plex Sans"/>
              <a:ea typeface="IBM Plex Sans"/>
              <a:cs typeface="IBM Plex Sans"/>
              <a:sym typeface="IBM Plex Sans"/>
            </a:endParaRPr>
          </a:p>
          <a:p>
            <a:pPr indent="0" lvl="0" marL="0" rtl="0" algn="l">
              <a:lnSpc>
                <a:spcPct val="140000"/>
              </a:lnSpc>
              <a:spcBef>
                <a:spcPts val="0"/>
              </a:spcBef>
              <a:spcAft>
                <a:spcPts val="0"/>
              </a:spcAft>
              <a:buClr>
                <a:schemeClr val="dk1"/>
              </a:buClr>
              <a:buFont typeface="Arial"/>
              <a:buNone/>
            </a:pPr>
            <a:r>
              <a:rPr lang="en-US" sz="1600">
                <a:solidFill>
                  <a:schemeClr val="dk1"/>
                </a:solidFill>
                <a:latin typeface="IBM Plex Sans"/>
                <a:ea typeface="IBM Plex Sans"/>
                <a:cs typeface="IBM Plex Sans"/>
                <a:sym typeface="IBM Plex Sans"/>
              </a:rPr>
              <a:t>Pull the code and run it:</a:t>
            </a:r>
            <a:endParaRPr>
              <a:solidFill>
                <a:schemeClr val="dk1"/>
              </a:solidFill>
            </a:endParaRPr>
          </a:p>
          <a:p>
            <a:pPr indent="0" lvl="0" marL="0" marR="0" rtl="0" algn="l">
              <a:lnSpc>
                <a:spcPct val="138000"/>
              </a:lnSpc>
              <a:spcBef>
                <a:spcPts val="0"/>
              </a:spcBef>
              <a:spcAft>
                <a:spcPts val="0"/>
              </a:spcAft>
              <a:buNone/>
            </a:pPr>
            <a:r>
              <a:t/>
            </a:r>
            <a:endParaRPr b="1" sz="1600">
              <a:latin typeface="Space Mono"/>
              <a:ea typeface="Space Mono"/>
              <a:cs typeface="Space Mono"/>
              <a:sym typeface="Space Mono"/>
            </a:endParaRPr>
          </a:p>
          <a:p>
            <a:pPr indent="0" lvl="0" marL="0" rtl="0" algn="l">
              <a:lnSpc>
                <a:spcPct val="138000"/>
              </a:lnSpc>
              <a:spcBef>
                <a:spcPts val="0"/>
              </a:spcBef>
              <a:spcAft>
                <a:spcPts val="0"/>
              </a:spcAft>
              <a:buClr>
                <a:schemeClr val="dk1"/>
              </a:buClr>
              <a:buFont typeface="Arial"/>
              <a:buNone/>
            </a:pPr>
            <a:r>
              <a:rPr lang="en-US" sz="1600">
                <a:solidFill>
                  <a:schemeClr val="dk1"/>
                </a:solidFill>
                <a:latin typeface="Courier New"/>
                <a:ea typeface="Courier New"/>
                <a:cs typeface="Courier New"/>
                <a:sym typeface="Courier New"/>
              </a:rPr>
              <a:t>&gt;&gt;git pull origin python-recap</a:t>
            </a:r>
            <a:endParaRPr sz="1600">
              <a:solidFill>
                <a:schemeClr val="dk1"/>
              </a:solidFill>
              <a:latin typeface="Courier New"/>
              <a:ea typeface="Courier New"/>
              <a:cs typeface="Courier New"/>
              <a:sym typeface="Courier New"/>
            </a:endParaRPr>
          </a:p>
          <a:p>
            <a:pPr indent="0" lvl="0" marL="0" marR="0" rtl="0" algn="l">
              <a:lnSpc>
                <a:spcPct val="138000"/>
              </a:lnSpc>
              <a:spcBef>
                <a:spcPts val="0"/>
              </a:spcBef>
              <a:spcAft>
                <a:spcPts val="0"/>
              </a:spcAft>
              <a:buNone/>
            </a:pPr>
            <a:r>
              <a:t/>
            </a:r>
            <a:endParaRPr b="1" sz="1600">
              <a:latin typeface="Space Mono"/>
              <a:ea typeface="Space Mono"/>
              <a:cs typeface="Space Mono"/>
              <a:sym typeface="Space Mono"/>
            </a:endParaRPr>
          </a:p>
          <a:p>
            <a:pPr indent="0" lvl="0" marL="0" marR="0" rtl="0" algn="l">
              <a:lnSpc>
                <a:spcPct val="138000"/>
              </a:lnSpc>
              <a:spcBef>
                <a:spcPts val="0"/>
              </a:spcBef>
              <a:spcAft>
                <a:spcPts val="0"/>
              </a:spcAft>
              <a:buNone/>
            </a:pPr>
            <a:r>
              <a:rPr b="1" i="0" lang="en-US" sz="1600" u="none" cap="none" strike="noStrike">
                <a:solidFill>
                  <a:srgbClr val="000000"/>
                </a:solidFill>
                <a:latin typeface="Space Mono"/>
                <a:ea typeface="Space Mono"/>
                <a:cs typeface="Space Mono"/>
                <a:sym typeface="Space Mono"/>
              </a:rPr>
              <a:t>1.01: Containers </a:t>
            </a:r>
            <a:endParaRPr b="1" i="0" sz="1600" u="none" cap="none" strike="noStrike">
              <a:solidFill>
                <a:srgbClr val="000000"/>
              </a:solidFill>
              <a:latin typeface="Space Mono"/>
              <a:ea typeface="Space Mono"/>
              <a:cs typeface="Space Mono"/>
              <a:sym typeface="Space Mono"/>
            </a:endParaRPr>
          </a:p>
          <a:p>
            <a:pPr indent="0" lvl="0" marL="0" marR="0" rtl="0" algn="l">
              <a:lnSpc>
                <a:spcPct val="138000"/>
              </a:lnSpc>
              <a:spcBef>
                <a:spcPts val="0"/>
              </a:spcBef>
              <a:spcAft>
                <a:spcPts val="0"/>
              </a:spcAft>
              <a:buNone/>
            </a:pPr>
            <a:r>
              <a:rPr b="1" i="0" lang="en-US" sz="1600" u="none" cap="none" strike="noStrike">
                <a:solidFill>
                  <a:srgbClr val="000000"/>
                </a:solidFill>
                <a:latin typeface="Space Mono"/>
                <a:ea typeface="Space Mono"/>
                <a:cs typeface="Space Mono"/>
                <a:sym typeface="Space Mono"/>
              </a:rPr>
              <a:t>1.02: Dictionaries </a:t>
            </a:r>
            <a:endParaRPr b="1" i="0" sz="1600" u="none" cap="none" strike="noStrike">
              <a:solidFill>
                <a:srgbClr val="000000"/>
              </a:solidFill>
              <a:latin typeface="Space Mono"/>
              <a:ea typeface="Space Mono"/>
              <a:cs typeface="Space Mono"/>
              <a:sym typeface="Space Mono"/>
            </a:endParaRPr>
          </a:p>
          <a:p>
            <a:pPr indent="0" lvl="0" marL="0" marR="0" rtl="0" algn="l">
              <a:lnSpc>
                <a:spcPct val="138000"/>
              </a:lnSpc>
              <a:spcBef>
                <a:spcPts val="0"/>
              </a:spcBef>
              <a:spcAft>
                <a:spcPts val="0"/>
              </a:spcAft>
              <a:buNone/>
            </a:pPr>
            <a:r>
              <a:rPr b="1" i="0" lang="en-US" sz="1600" u="none" cap="none" strike="noStrike">
                <a:solidFill>
                  <a:srgbClr val="000000"/>
                </a:solidFill>
                <a:latin typeface="Space Mono"/>
                <a:ea typeface="Space Mono"/>
                <a:cs typeface="Space Mono"/>
                <a:sym typeface="Space Mono"/>
              </a:rPr>
              <a:t>1.03: Data structures </a:t>
            </a:r>
            <a:endParaRPr b="1" i="0" sz="1600" u="none" cap="none" strike="noStrike">
              <a:solidFill>
                <a:srgbClr val="000000"/>
              </a:solidFill>
              <a:latin typeface="Space Mono"/>
              <a:ea typeface="Space Mono"/>
              <a:cs typeface="Space Mono"/>
              <a:sym typeface="Space Mono"/>
            </a:endParaRPr>
          </a:p>
          <a:p>
            <a:pPr indent="0" lvl="0" marL="0" marR="0" rtl="0" algn="l">
              <a:lnSpc>
                <a:spcPct val="138000"/>
              </a:lnSpc>
              <a:spcBef>
                <a:spcPts val="0"/>
              </a:spcBef>
              <a:spcAft>
                <a:spcPts val="0"/>
              </a:spcAft>
              <a:buNone/>
            </a:pPr>
            <a:r>
              <a:rPr b="1" i="0" lang="en-US" sz="1600" u="none" cap="none" strike="noStrike">
                <a:solidFill>
                  <a:srgbClr val="000000"/>
                </a:solidFill>
                <a:latin typeface="Space Mono"/>
                <a:ea typeface="Space Mono"/>
                <a:cs typeface="Space Mono"/>
                <a:sym typeface="Space Mono"/>
              </a:rPr>
              <a:t>1.04: Fields and records </a:t>
            </a:r>
            <a:endParaRPr b="1" i="0" sz="1600" u="none" cap="none" strike="noStrike">
              <a:solidFill>
                <a:srgbClr val="000000"/>
              </a:solidFill>
              <a:latin typeface="Space Mono"/>
              <a:ea typeface="Space Mono"/>
              <a:cs typeface="Space Mono"/>
              <a:sym typeface="Space Mono"/>
            </a:endParaRPr>
          </a:p>
          <a:p>
            <a:pPr indent="0" lvl="0" marL="0" marR="0" rtl="0" algn="l">
              <a:lnSpc>
                <a:spcPct val="138000"/>
              </a:lnSpc>
              <a:spcBef>
                <a:spcPts val="0"/>
              </a:spcBef>
              <a:spcAft>
                <a:spcPts val="0"/>
              </a:spcAft>
              <a:buNone/>
            </a:pPr>
            <a:r>
              <a:rPr b="1" i="0" lang="en-US" sz="1600" u="none" cap="none" strike="noStrike">
                <a:solidFill>
                  <a:srgbClr val="000000"/>
                </a:solidFill>
                <a:latin typeface="Space Mono"/>
                <a:ea typeface="Space Mono"/>
                <a:cs typeface="Space Mono"/>
                <a:sym typeface="Space Mono"/>
              </a:rPr>
              <a:t>1.05: Numpy </a:t>
            </a:r>
            <a:endParaRPr/>
          </a:p>
        </p:txBody>
      </p:sp>
      <p:sp>
        <p:nvSpPr>
          <p:cNvPr id="234" name="Google Shape;234;p41"/>
          <p:cNvSpPr/>
          <p:nvPr/>
        </p:nvSpPr>
        <p:spPr>
          <a:xfrm>
            <a:off x="0" y="3300"/>
            <a:ext cx="9144000" cy="9144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0" lIns="0" spcFirstLastPara="1" rIns="0" wrap="square" tIns="0">
            <a:noAutofit/>
          </a:bodyPr>
          <a:lstStyle/>
          <a:p>
            <a:pPr indent="457200" lvl="0" marL="0" marR="0" rtl="0" algn="l">
              <a:lnSpc>
                <a:spcPct val="100000"/>
              </a:lnSpc>
              <a:spcBef>
                <a:spcPts val="0"/>
              </a:spcBef>
              <a:spcAft>
                <a:spcPts val="0"/>
              </a:spcAft>
              <a:buClr>
                <a:srgbClr val="000000"/>
              </a:buClr>
              <a:buSzPts val="1100"/>
              <a:buFont typeface="Arial"/>
              <a:buNone/>
            </a:pPr>
            <a:r>
              <a:rPr lang="en-US" sz="2800"/>
              <a:t>2</a:t>
            </a:r>
            <a:r>
              <a:rPr b="0" i="0" lang="en-US" sz="2800" u="none" cap="none" strike="noStrike">
                <a:solidFill>
                  <a:srgbClr val="000000"/>
                </a:solidFill>
                <a:latin typeface="Arial"/>
                <a:ea typeface="Arial"/>
                <a:cs typeface="Arial"/>
                <a:sym typeface="Arial"/>
              </a:rPr>
              <a:t>.</a:t>
            </a:r>
            <a:r>
              <a:rPr lang="en-US" sz="2800"/>
              <a:t>3</a:t>
            </a:r>
            <a:r>
              <a:rPr b="0" i="0" lang="en-US" sz="2800" u="none" cap="none" strike="noStrike">
                <a:solidFill>
                  <a:srgbClr val="000000"/>
                </a:solidFill>
                <a:latin typeface="Arial"/>
                <a:ea typeface="Arial"/>
                <a:cs typeface="Arial"/>
                <a:sym typeface="Arial"/>
              </a:rPr>
              <a:t> </a:t>
            </a:r>
            <a:r>
              <a:rPr lang="en-US" sz="2800"/>
              <a:t>Python Recap</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2"/>
          <p:cNvSpPr txBox="1"/>
          <p:nvPr/>
        </p:nvSpPr>
        <p:spPr>
          <a:xfrm>
            <a:off x="579947" y="1492283"/>
            <a:ext cx="3225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240" name="Google Shape;240;p42"/>
          <p:cNvSpPr txBox="1"/>
          <p:nvPr/>
        </p:nvSpPr>
        <p:spPr>
          <a:xfrm>
            <a:off x="466807" y="1215721"/>
            <a:ext cx="31710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latin typeface="Calibri"/>
              <a:ea typeface="Calibri"/>
              <a:cs typeface="Calibri"/>
              <a:sym typeface="Calibri"/>
            </a:endParaRPr>
          </a:p>
        </p:txBody>
      </p:sp>
      <p:sp>
        <p:nvSpPr>
          <p:cNvPr id="241" name="Google Shape;241;p42"/>
          <p:cNvSpPr txBox="1"/>
          <p:nvPr/>
        </p:nvSpPr>
        <p:spPr>
          <a:xfrm>
            <a:off x="1452300" y="1652176"/>
            <a:ext cx="4476600" cy="9360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en-US" sz="1600">
                <a:solidFill>
                  <a:schemeClr val="dk1"/>
                </a:solidFill>
                <a:latin typeface="Calibri"/>
                <a:ea typeface="Calibri"/>
                <a:cs typeface="Calibri"/>
                <a:sym typeface="Calibri"/>
              </a:rPr>
              <a:t>Exercises for today, t</a:t>
            </a:r>
            <a:r>
              <a:rPr lang="en-US" sz="1600">
                <a:latin typeface="Calibri"/>
                <a:ea typeface="Calibri"/>
                <a:cs typeface="Calibri"/>
                <a:sym typeface="Calibri"/>
              </a:rPr>
              <a:t>ry to solve on your own:</a:t>
            </a:r>
            <a:endParaRPr sz="1600">
              <a:latin typeface="Calibri"/>
              <a:ea typeface="Calibri"/>
              <a:cs typeface="Calibri"/>
              <a:sym typeface="Calibri"/>
            </a:endParaRPr>
          </a:p>
          <a:p>
            <a:pPr indent="0" lvl="0" marL="0" marR="0" rtl="0" algn="l">
              <a:lnSpc>
                <a:spcPct val="140000"/>
              </a:lnSpc>
              <a:spcBef>
                <a:spcPts val="0"/>
              </a:spcBef>
              <a:spcAft>
                <a:spcPts val="0"/>
              </a:spcAft>
              <a:buNone/>
            </a:pPr>
            <a:r>
              <a:t/>
            </a:r>
            <a:endParaRPr sz="1600">
              <a:latin typeface="Calibri"/>
              <a:ea typeface="Calibri"/>
              <a:cs typeface="Calibri"/>
              <a:sym typeface="Calibri"/>
            </a:endParaRPr>
          </a:p>
          <a:p>
            <a:pPr indent="0" lvl="0" marL="0" rtl="0" algn="l">
              <a:lnSpc>
                <a:spcPct val="138000"/>
              </a:lnSpc>
              <a:spcBef>
                <a:spcPts val="0"/>
              </a:spcBef>
              <a:spcAft>
                <a:spcPts val="0"/>
              </a:spcAft>
              <a:buNone/>
            </a:pPr>
            <a:r>
              <a:rPr b="1" lang="en-US" sz="1600">
                <a:solidFill>
                  <a:schemeClr val="dk1"/>
                </a:solidFill>
                <a:latin typeface="Space Mono"/>
                <a:ea typeface="Space Mono"/>
                <a:cs typeface="Space Mono"/>
                <a:sym typeface="Space Mono"/>
              </a:rPr>
              <a:t>1.06: Exercises</a:t>
            </a:r>
            <a:endParaRPr sz="1600">
              <a:latin typeface="Calibri"/>
              <a:ea typeface="Calibri"/>
              <a:cs typeface="Calibri"/>
              <a:sym typeface="Calibri"/>
            </a:endParaRPr>
          </a:p>
        </p:txBody>
      </p:sp>
      <p:sp>
        <p:nvSpPr>
          <p:cNvPr id="242" name="Google Shape;242;p42"/>
          <p:cNvSpPr/>
          <p:nvPr/>
        </p:nvSpPr>
        <p:spPr>
          <a:xfrm>
            <a:off x="0" y="3300"/>
            <a:ext cx="9144000" cy="9144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0" lIns="0" spcFirstLastPara="1" rIns="0" wrap="square" tIns="0">
            <a:noAutofit/>
          </a:bodyPr>
          <a:lstStyle/>
          <a:p>
            <a:pPr indent="457200" lvl="0" marL="0" marR="0" rtl="0" algn="l">
              <a:lnSpc>
                <a:spcPct val="100000"/>
              </a:lnSpc>
              <a:spcBef>
                <a:spcPts val="0"/>
              </a:spcBef>
              <a:spcAft>
                <a:spcPts val="0"/>
              </a:spcAft>
              <a:buClr>
                <a:srgbClr val="000000"/>
              </a:buClr>
              <a:buSzPts val="1100"/>
              <a:buFont typeface="Arial"/>
              <a:buNone/>
            </a:pPr>
            <a:r>
              <a:rPr lang="en-US" sz="2800"/>
              <a:t>2</a:t>
            </a:r>
            <a:r>
              <a:rPr b="0" i="0" lang="en-US" sz="2800" u="none" cap="none" strike="noStrike">
                <a:solidFill>
                  <a:srgbClr val="000000"/>
                </a:solidFill>
                <a:latin typeface="Arial"/>
                <a:ea typeface="Arial"/>
                <a:cs typeface="Arial"/>
                <a:sym typeface="Arial"/>
              </a:rPr>
              <a:t>.</a:t>
            </a:r>
            <a:r>
              <a:rPr lang="en-US" sz="2800"/>
              <a:t>4</a:t>
            </a:r>
            <a:r>
              <a:rPr b="0" i="0" lang="en-US" sz="2800" u="none" cap="none" strike="noStrike">
                <a:solidFill>
                  <a:srgbClr val="000000"/>
                </a:solidFill>
                <a:latin typeface="Arial"/>
                <a:ea typeface="Arial"/>
                <a:cs typeface="Arial"/>
                <a:sym typeface="Arial"/>
              </a:rPr>
              <a:t> </a:t>
            </a:r>
            <a:r>
              <a:rPr lang="en-US" sz="2800"/>
              <a:t>Python Exercises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3"/>
          <p:cNvSpPr/>
          <p:nvPr/>
        </p:nvSpPr>
        <p:spPr>
          <a:xfrm>
            <a:off x="461077" y="0"/>
            <a:ext cx="3238900" cy="2568969"/>
          </a:xfrm>
          <a:custGeom>
            <a:rect b="b" l="l" r="r" t="t"/>
            <a:pathLst>
              <a:path extrusionOk="0" h="2568969" w="3238900">
                <a:moveTo>
                  <a:pt x="0" y="0"/>
                </a:moveTo>
                <a:lnTo>
                  <a:pt x="3238900" y="0"/>
                </a:lnTo>
                <a:lnTo>
                  <a:pt x="3238900" y="2568969"/>
                </a:lnTo>
                <a:lnTo>
                  <a:pt x="0" y="2568969"/>
                </a:lnTo>
                <a:lnTo>
                  <a:pt x="0" y="0"/>
                </a:lnTo>
                <a:close/>
              </a:path>
            </a:pathLst>
          </a:custGeom>
          <a:blipFill rotWithShape="1">
            <a:blip r:embed="rId3">
              <a:alphaModFix/>
            </a:blip>
            <a:stretch>
              <a:fillRect b="0" l="0" r="0" t="0"/>
            </a:stretch>
          </a:blipFill>
          <a:ln>
            <a:noFill/>
          </a:ln>
        </p:spPr>
      </p:sp>
      <p:sp>
        <p:nvSpPr>
          <p:cNvPr id="248" name="Google Shape;248;p43"/>
          <p:cNvSpPr txBox="1"/>
          <p:nvPr/>
        </p:nvSpPr>
        <p:spPr>
          <a:xfrm>
            <a:off x="432401" y="1888000"/>
            <a:ext cx="6538200" cy="2630400"/>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None/>
            </a:pPr>
            <a:r>
              <a:t/>
            </a:r>
            <a:endParaRPr b="1" sz="1600">
              <a:latin typeface="Space Mono"/>
              <a:ea typeface="Space Mono"/>
              <a:cs typeface="Space Mono"/>
              <a:sym typeface="Space Mono"/>
            </a:endParaRPr>
          </a:p>
          <a:p>
            <a:pPr indent="0" lvl="0" marL="0" rtl="0" algn="l">
              <a:lnSpc>
                <a:spcPct val="140000"/>
              </a:lnSpc>
              <a:spcBef>
                <a:spcPts val="0"/>
              </a:spcBef>
              <a:spcAft>
                <a:spcPts val="0"/>
              </a:spcAft>
              <a:buClr>
                <a:schemeClr val="dk1"/>
              </a:buClr>
              <a:buFont typeface="Arial"/>
              <a:buNone/>
            </a:pPr>
            <a:r>
              <a:rPr lang="en-US" sz="1600">
                <a:solidFill>
                  <a:schemeClr val="dk1"/>
                </a:solidFill>
                <a:latin typeface="IBM Plex Sans"/>
                <a:ea typeface="IBM Plex Sans"/>
                <a:cs typeface="IBM Plex Sans"/>
                <a:sym typeface="IBM Plex Sans"/>
              </a:rPr>
              <a:t>Let’s go on Colab again.</a:t>
            </a:r>
            <a:endParaRPr sz="1600">
              <a:solidFill>
                <a:schemeClr val="dk1"/>
              </a:solidFill>
              <a:latin typeface="IBM Plex Sans"/>
              <a:ea typeface="IBM Plex Sans"/>
              <a:cs typeface="IBM Plex Sans"/>
              <a:sym typeface="IBM Plex Sans"/>
            </a:endParaRPr>
          </a:p>
          <a:p>
            <a:pPr indent="0" lvl="0" marL="0" marR="0" rtl="0" algn="l">
              <a:lnSpc>
                <a:spcPct val="138000"/>
              </a:lnSpc>
              <a:spcBef>
                <a:spcPts val="0"/>
              </a:spcBef>
              <a:spcAft>
                <a:spcPts val="0"/>
              </a:spcAft>
              <a:buNone/>
            </a:pPr>
            <a:r>
              <a:rPr lang="en-US" sz="1600">
                <a:solidFill>
                  <a:schemeClr val="dk1"/>
                </a:solidFill>
                <a:latin typeface="IBM Plex Sans"/>
                <a:ea typeface="IBM Plex Sans"/>
                <a:cs typeface="IBM Plex Sans"/>
                <a:sym typeface="IBM Plex Sans"/>
              </a:rPr>
              <a:t>Duplicate the notebook and run it in your laptop.</a:t>
            </a:r>
            <a:endParaRPr sz="1600">
              <a:solidFill>
                <a:schemeClr val="dk1"/>
              </a:solidFill>
              <a:latin typeface="IBM Plex Sans"/>
              <a:ea typeface="IBM Plex Sans"/>
              <a:cs typeface="IBM Plex Sans"/>
              <a:sym typeface="IBM Plex Sans"/>
            </a:endParaRPr>
          </a:p>
          <a:p>
            <a:pPr indent="0" lvl="0" marL="0" marR="0" rtl="0" algn="l">
              <a:lnSpc>
                <a:spcPct val="138000"/>
              </a:lnSpc>
              <a:spcBef>
                <a:spcPts val="0"/>
              </a:spcBef>
              <a:spcAft>
                <a:spcPts val="0"/>
              </a:spcAft>
              <a:buNone/>
            </a:pPr>
            <a:r>
              <a:t/>
            </a:r>
            <a:endParaRPr b="1" sz="1600">
              <a:latin typeface="Space Mono"/>
              <a:ea typeface="Space Mono"/>
              <a:cs typeface="Space Mono"/>
              <a:sym typeface="Space Mono"/>
            </a:endParaRPr>
          </a:p>
          <a:p>
            <a:pPr indent="0" lvl="0" marL="0" marR="0" rtl="0" algn="l">
              <a:lnSpc>
                <a:spcPct val="138000"/>
              </a:lnSpc>
              <a:spcBef>
                <a:spcPts val="0"/>
              </a:spcBef>
              <a:spcAft>
                <a:spcPts val="0"/>
              </a:spcAft>
              <a:buNone/>
            </a:pPr>
            <a:r>
              <a:rPr b="1" i="0" lang="en-US" sz="1600" u="none" cap="none" strike="noStrike">
                <a:solidFill>
                  <a:srgbClr val="000000"/>
                </a:solidFill>
                <a:latin typeface="Space Mono"/>
                <a:ea typeface="Space Mono"/>
                <a:cs typeface="Space Mono"/>
                <a:sym typeface="Space Mono"/>
              </a:rPr>
              <a:t>2.</a:t>
            </a:r>
            <a:r>
              <a:rPr b="1" lang="en-US" sz="1600">
                <a:latin typeface="Space Mono"/>
                <a:ea typeface="Space Mono"/>
                <a:cs typeface="Space Mono"/>
                <a:sym typeface="Space Mono"/>
              </a:rPr>
              <a:t>2</a:t>
            </a:r>
            <a:r>
              <a:rPr b="1" i="0" lang="en-US" sz="1600" u="none" cap="none" strike="noStrike">
                <a:solidFill>
                  <a:srgbClr val="000000"/>
                </a:solidFill>
                <a:latin typeface="Space Mono"/>
                <a:ea typeface="Space Mono"/>
                <a:cs typeface="Space Mono"/>
                <a:sym typeface="Space Mono"/>
              </a:rPr>
              <a:t>.1: Pandas intro </a:t>
            </a:r>
            <a:endParaRPr b="1" i="0" sz="1600" u="none" cap="none" strike="noStrike">
              <a:solidFill>
                <a:srgbClr val="000000"/>
              </a:solidFill>
              <a:latin typeface="Space Mono"/>
              <a:ea typeface="Space Mono"/>
              <a:cs typeface="Space Mono"/>
              <a:sym typeface="Space Mono"/>
            </a:endParaRPr>
          </a:p>
          <a:p>
            <a:pPr indent="0" lvl="0" marL="0" marR="0" rtl="0" algn="l">
              <a:lnSpc>
                <a:spcPct val="138000"/>
              </a:lnSpc>
              <a:spcBef>
                <a:spcPts val="0"/>
              </a:spcBef>
              <a:spcAft>
                <a:spcPts val="0"/>
              </a:spcAft>
              <a:buNone/>
            </a:pPr>
            <a:r>
              <a:rPr b="1" i="0" lang="en-US" sz="1600" u="none" cap="none" strike="noStrike">
                <a:solidFill>
                  <a:srgbClr val="000000"/>
                </a:solidFill>
                <a:latin typeface="Space Mono"/>
                <a:ea typeface="Space Mono"/>
                <a:cs typeface="Space Mono"/>
                <a:sym typeface="Space Mono"/>
              </a:rPr>
              <a:t>2.</a:t>
            </a:r>
            <a:r>
              <a:rPr b="1" lang="en-US" sz="1600">
                <a:latin typeface="Space Mono"/>
                <a:ea typeface="Space Mono"/>
                <a:cs typeface="Space Mono"/>
                <a:sym typeface="Space Mono"/>
              </a:rPr>
              <a:t>2.</a:t>
            </a:r>
            <a:r>
              <a:rPr b="1" i="0" lang="en-US" sz="1600" u="none" cap="none" strike="noStrike">
                <a:solidFill>
                  <a:srgbClr val="000000"/>
                </a:solidFill>
                <a:latin typeface="Space Mono"/>
                <a:ea typeface="Space Mono"/>
                <a:cs typeface="Space Mono"/>
                <a:sym typeface="Space Mono"/>
              </a:rPr>
              <a:t>2: Data wrangling: Penguins dataset </a:t>
            </a:r>
            <a:endParaRPr b="1" i="0" sz="1600" u="none" cap="none" strike="noStrike">
              <a:solidFill>
                <a:srgbClr val="000000"/>
              </a:solidFill>
              <a:latin typeface="Space Mono"/>
              <a:ea typeface="Space Mono"/>
              <a:cs typeface="Space Mono"/>
              <a:sym typeface="Space Mono"/>
            </a:endParaRPr>
          </a:p>
          <a:p>
            <a:pPr indent="0" lvl="0" marL="0" marR="0" rtl="0" algn="l">
              <a:lnSpc>
                <a:spcPct val="138000"/>
              </a:lnSpc>
              <a:spcBef>
                <a:spcPts val="0"/>
              </a:spcBef>
              <a:spcAft>
                <a:spcPts val="0"/>
              </a:spcAft>
              <a:buNone/>
            </a:pPr>
            <a:r>
              <a:rPr b="1" i="0" lang="en-US" sz="1600" u="none" cap="none" strike="noStrike">
                <a:solidFill>
                  <a:srgbClr val="000000"/>
                </a:solidFill>
                <a:latin typeface="Space Mono"/>
                <a:ea typeface="Space Mono"/>
                <a:cs typeface="Space Mono"/>
                <a:sym typeface="Space Mono"/>
              </a:rPr>
              <a:t>2.</a:t>
            </a:r>
            <a:r>
              <a:rPr b="1" lang="en-US" sz="1600">
                <a:latin typeface="Space Mono"/>
                <a:ea typeface="Space Mono"/>
                <a:cs typeface="Space Mono"/>
                <a:sym typeface="Space Mono"/>
              </a:rPr>
              <a:t>2.</a:t>
            </a:r>
            <a:r>
              <a:rPr b="1" i="0" lang="en-US" sz="1600" u="none" cap="none" strike="noStrike">
                <a:solidFill>
                  <a:srgbClr val="000000"/>
                </a:solidFill>
                <a:latin typeface="Space Mono"/>
                <a:ea typeface="Space Mono"/>
                <a:cs typeface="Space Mono"/>
                <a:sym typeface="Space Mono"/>
              </a:rPr>
              <a:t>3: Consistency: modifying columns </a:t>
            </a:r>
            <a:endParaRPr b="1" i="0" sz="1600" u="none" cap="none" strike="noStrike">
              <a:solidFill>
                <a:srgbClr val="000000"/>
              </a:solidFill>
              <a:latin typeface="Space Mono"/>
              <a:ea typeface="Space Mono"/>
              <a:cs typeface="Space Mono"/>
              <a:sym typeface="Space Mono"/>
            </a:endParaRPr>
          </a:p>
          <a:p>
            <a:pPr indent="0" lvl="0" marL="0" marR="0" rtl="0" algn="l">
              <a:lnSpc>
                <a:spcPct val="138000"/>
              </a:lnSpc>
              <a:spcBef>
                <a:spcPts val="0"/>
              </a:spcBef>
              <a:spcAft>
                <a:spcPts val="0"/>
              </a:spcAft>
              <a:buNone/>
            </a:pPr>
            <a:r>
              <a:rPr b="1" i="0" lang="en-US" sz="1600" u="none" cap="none" strike="noStrike">
                <a:solidFill>
                  <a:srgbClr val="000000"/>
                </a:solidFill>
                <a:latin typeface="Space Mono"/>
                <a:ea typeface="Space Mono"/>
                <a:cs typeface="Space Mono"/>
                <a:sym typeface="Space Mono"/>
              </a:rPr>
              <a:t>2.</a:t>
            </a:r>
            <a:r>
              <a:rPr b="1" lang="en-US" sz="1600">
                <a:latin typeface="Space Mono"/>
                <a:ea typeface="Space Mono"/>
                <a:cs typeface="Space Mono"/>
                <a:sym typeface="Space Mono"/>
              </a:rPr>
              <a:t>2.</a:t>
            </a:r>
            <a:r>
              <a:rPr b="1" i="0" lang="en-US" sz="1600" u="none" cap="none" strike="noStrike">
                <a:solidFill>
                  <a:srgbClr val="000000"/>
                </a:solidFill>
                <a:latin typeface="Space Mono"/>
                <a:ea typeface="Space Mono"/>
                <a:cs typeface="Space Mono"/>
                <a:sym typeface="Space Mono"/>
              </a:rPr>
              <a:t>4: Feature engineering</a:t>
            </a:r>
            <a:endParaRPr/>
          </a:p>
        </p:txBody>
      </p:sp>
      <p:sp>
        <p:nvSpPr>
          <p:cNvPr id="249" name="Google Shape;249;p43"/>
          <p:cNvSpPr/>
          <p:nvPr/>
        </p:nvSpPr>
        <p:spPr>
          <a:xfrm>
            <a:off x="0" y="3300"/>
            <a:ext cx="9144000" cy="9144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0" lIns="0" spcFirstLastPara="1" rIns="0" wrap="square" tIns="0">
            <a:noAutofit/>
          </a:bodyPr>
          <a:lstStyle/>
          <a:p>
            <a:pPr indent="457200" lvl="0" marL="0" rtl="0" algn="l">
              <a:spcBef>
                <a:spcPts val="0"/>
              </a:spcBef>
              <a:spcAft>
                <a:spcPts val="0"/>
              </a:spcAft>
              <a:buClr>
                <a:schemeClr val="dk1"/>
              </a:buClr>
              <a:buSzPts val="1100"/>
              <a:buFont typeface="Arial"/>
              <a:buNone/>
            </a:pPr>
            <a:r>
              <a:rPr lang="en-US" sz="2800">
                <a:solidFill>
                  <a:schemeClr val="dk1"/>
                </a:solidFill>
              </a:rPr>
              <a:t>2.5</a:t>
            </a:r>
            <a:r>
              <a:rPr lang="en-US" sz="2800">
                <a:solidFill>
                  <a:schemeClr val="dk1"/>
                </a:solidFill>
              </a:rPr>
              <a:t> Data Handling with Python: Numpy, Pandas</a:t>
            </a:r>
            <a:endParaRPr sz="2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4"/>
          <p:cNvSpPr/>
          <p:nvPr/>
        </p:nvSpPr>
        <p:spPr>
          <a:xfrm>
            <a:off x="862051" y="408899"/>
            <a:ext cx="7419899" cy="4325703"/>
          </a:xfrm>
          <a:custGeom>
            <a:rect b="b" l="l" r="r" t="t"/>
            <a:pathLst>
              <a:path extrusionOk="0" h="4325703" w="7419899">
                <a:moveTo>
                  <a:pt x="0" y="0"/>
                </a:moveTo>
                <a:lnTo>
                  <a:pt x="7419898" y="0"/>
                </a:lnTo>
                <a:lnTo>
                  <a:pt x="7419898" y="4325702"/>
                </a:lnTo>
                <a:lnTo>
                  <a:pt x="0" y="4325702"/>
                </a:lnTo>
                <a:lnTo>
                  <a:pt x="0" y="0"/>
                </a:lnTo>
                <a:close/>
              </a:path>
            </a:pathLst>
          </a:custGeom>
          <a:blipFill rotWithShape="1">
            <a:blip r:embed="rId3">
              <a:alphaModFix/>
            </a:blip>
            <a:stretch>
              <a:fillRect b="0" l="0" r="0" t="0"/>
            </a:stretch>
          </a:blipFill>
          <a:ln>
            <a:noFill/>
          </a:ln>
        </p:spPr>
      </p:sp>
      <p:sp>
        <p:nvSpPr>
          <p:cNvPr id="255" name="Google Shape;255;p44"/>
          <p:cNvSpPr txBox="1"/>
          <p:nvPr/>
        </p:nvSpPr>
        <p:spPr>
          <a:xfrm>
            <a:off x="947776" y="436807"/>
            <a:ext cx="20613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256" name="Google Shape;256;p44"/>
          <p:cNvSpPr txBox="1"/>
          <p:nvPr/>
        </p:nvSpPr>
        <p:spPr>
          <a:xfrm>
            <a:off x="337525" y="161425"/>
            <a:ext cx="8495100" cy="5113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Font typeface="Arial"/>
              <a:buNone/>
            </a:pPr>
            <a:r>
              <a:rPr b="1" lang="en-US" sz="2000">
                <a:solidFill>
                  <a:schemeClr val="dk1"/>
                </a:solidFill>
                <a:latin typeface="Space Mono"/>
                <a:ea typeface="Space Mono"/>
                <a:cs typeface="Space Mono"/>
                <a:sym typeface="Space Mono"/>
              </a:rPr>
              <a:t>Handling data</a:t>
            </a:r>
            <a:endParaRPr>
              <a:solidFill>
                <a:schemeClr val="dk1"/>
              </a:solidFill>
            </a:endParaRPr>
          </a:p>
          <a:p>
            <a:pPr indent="0" lvl="0" marL="0" marR="0" rtl="0" algn="l">
              <a:lnSpc>
                <a:spcPct val="100000"/>
              </a:lnSpc>
              <a:spcBef>
                <a:spcPts val="0"/>
              </a:spcBef>
              <a:spcAft>
                <a:spcPts val="0"/>
              </a:spcAft>
              <a:buNone/>
            </a:pPr>
            <a:r>
              <a:t/>
            </a:r>
            <a:endParaRPr sz="1600">
              <a:latin typeface="IBM Plex Sans"/>
              <a:ea typeface="IBM Plex Sans"/>
              <a:cs typeface="IBM Plex Sans"/>
              <a:sym typeface="IBM Plex Sans"/>
            </a:endParaRPr>
          </a:p>
          <a:p>
            <a:pPr indent="0" lvl="0" marL="0" marR="0" rtl="0" algn="l">
              <a:lnSpc>
                <a:spcPct val="100000"/>
              </a:lnSpc>
              <a:spcBef>
                <a:spcPts val="0"/>
              </a:spcBef>
              <a:spcAft>
                <a:spcPts val="0"/>
              </a:spcAft>
              <a:buNone/>
            </a:pPr>
            <a:r>
              <a:rPr b="0" i="0" lang="en-US" sz="1600" u="none" cap="none" strike="noStrike">
                <a:solidFill>
                  <a:srgbClr val="000000"/>
                </a:solidFill>
                <a:latin typeface="IBM Plex Sans"/>
                <a:ea typeface="IBM Plex Sans"/>
                <a:cs typeface="IBM Plex Sans"/>
                <a:sym typeface="IBM Plex Sans"/>
              </a:rPr>
              <a:t>Data is critical to data science. Two important considerations to keep in mind when faced with a dataset are </a:t>
            </a:r>
            <a:endParaRPr b="0" i="0" sz="1600" u="none" cap="none" strike="noStrike">
              <a:solidFill>
                <a:srgbClr val="000000"/>
              </a:solidFill>
              <a:latin typeface="IBM Plex Sans"/>
              <a:ea typeface="IBM Plex Sans"/>
              <a:cs typeface="IBM Plex Sans"/>
              <a:sym typeface="IBM Plex Sans"/>
            </a:endParaRPr>
          </a:p>
          <a:p>
            <a:pPr indent="0" lvl="0" marL="0" marR="0" rtl="0" algn="l">
              <a:lnSpc>
                <a:spcPct val="100000"/>
              </a:lnSpc>
              <a:spcBef>
                <a:spcPts val="0"/>
              </a:spcBef>
              <a:spcAft>
                <a:spcPts val="0"/>
              </a:spcAft>
              <a:buNone/>
            </a:pPr>
            <a:r>
              <a:t/>
            </a:r>
            <a:endParaRPr sz="1600">
              <a:latin typeface="IBM Plex Sans"/>
              <a:ea typeface="IBM Plex Sans"/>
              <a:cs typeface="IBM Plex Sans"/>
              <a:sym typeface="IBM Plex Sans"/>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latin typeface="IBM Plex Sans"/>
                <a:ea typeface="IBM Plex Sans"/>
                <a:cs typeface="IBM Plex Sans"/>
                <a:sym typeface="IBM Plex Sans"/>
              </a:rPr>
              <a:t>how</a:t>
            </a:r>
            <a:r>
              <a:rPr lang="en-US" sz="1600">
                <a:solidFill>
                  <a:schemeClr val="dk1"/>
                </a:solidFill>
                <a:latin typeface="IBM Plex Sans"/>
                <a:ea typeface="IBM Plex Sans"/>
                <a:cs typeface="IBM Plex Sans"/>
                <a:sym typeface="IBM Plex Sans"/>
              </a:rPr>
              <a:t> the </a:t>
            </a:r>
            <a:r>
              <a:rPr b="1" lang="en-US" sz="1600">
                <a:solidFill>
                  <a:schemeClr val="dk1"/>
                </a:solidFill>
                <a:latin typeface="IBM Plex Sans"/>
                <a:ea typeface="IBM Plex Sans"/>
                <a:cs typeface="IBM Plex Sans"/>
                <a:sym typeface="IBM Plex Sans"/>
              </a:rPr>
              <a:t>data</a:t>
            </a:r>
            <a:r>
              <a:rPr lang="en-US" sz="1600">
                <a:solidFill>
                  <a:schemeClr val="dk1"/>
                </a:solidFill>
                <a:latin typeface="IBM Plex Sans"/>
                <a:ea typeface="IBM Plex Sans"/>
                <a:cs typeface="IBM Plex Sans"/>
                <a:sym typeface="IBM Plex Sans"/>
              </a:rPr>
              <a:t> </a:t>
            </a:r>
            <a:r>
              <a:rPr b="1" lang="en-US" sz="1600">
                <a:solidFill>
                  <a:schemeClr val="dk1"/>
                </a:solidFill>
                <a:latin typeface="IBM Plex Sans"/>
                <a:ea typeface="IBM Plex Sans"/>
                <a:cs typeface="IBM Plex Sans"/>
                <a:sym typeface="IBM Plex Sans"/>
              </a:rPr>
              <a:t>was</a:t>
            </a:r>
            <a:r>
              <a:rPr lang="en-US" sz="1600">
                <a:solidFill>
                  <a:schemeClr val="dk1"/>
                </a:solidFill>
                <a:latin typeface="IBM Plex Sans"/>
                <a:ea typeface="IBM Plex Sans"/>
                <a:cs typeface="IBM Plex Sans"/>
                <a:sym typeface="IBM Plex Sans"/>
              </a:rPr>
              <a:t> </a:t>
            </a:r>
            <a:r>
              <a:rPr b="1" lang="en-US" sz="1600">
                <a:solidFill>
                  <a:schemeClr val="dk1"/>
                </a:solidFill>
                <a:latin typeface="IBM Plex Sans"/>
                <a:ea typeface="IBM Plex Sans"/>
                <a:cs typeface="IBM Plex Sans"/>
                <a:sym typeface="IBM Plex Sans"/>
              </a:rPr>
              <a:t>created</a:t>
            </a:r>
            <a:endParaRPr b="1" sz="1600">
              <a:solidFill>
                <a:schemeClr val="dk1"/>
              </a:solidFill>
              <a:latin typeface="IBM Plex Sans"/>
              <a:ea typeface="IBM Plex Sans"/>
              <a:cs typeface="IBM Plex Sans"/>
              <a:sym typeface="IBM Plex Sans"/>
            </a:endParaRPr>
          </a:p>
          <a:p>
            <a:pPr indent="-330200" lvl="1" marL="914400" rtl="0" algn="l">
              <a:lnSpc>
                <a:spcPct val="115000"/>
              </a:lnSpc>
              <a:spcBef>
                <a:spcPts val="0"/>
              </a:spcBef>
              <a:spcAft>
                <a:spcPts val="0"/>
              </a:spcAft>
              <a:buClr>
                <a:schemeClr val="dk1"/>
              </a:buClr>
              <a:buSzPts val="1600"/>
              <a:buChar char="-"/>
            </a:pPr>
            <a:r>
              <a:rPr b="1" lang="en-US" sz="1100">
                <a:solidFill>
                  <a:schemeClr val="dk1"/>
                </a:solidFill>
              </a:rPr>
              <a:t>Understanding Data Sources</a:t>
            </a:r>
            <a:r>
              <a:rPr lang="en-US" sz="1100">
                <a:solidFill>
                  <a:schemeClr val="dk1"/>
                </a:solidFill>
              </a:rPr>
              <a:t>: Knowing how the data was generated, collected, or recorded helps you assess its quality</a:t>
            </a:r>
            <a:endParaRPr sz="1100">
              <a:solidFill>
                <a:schemeClr val="dk1"/>
              </a:solidFill>
            </a:endParaRPr>
          </a:p>
          <a:p>
            <a:pPr indent="-330200" lvl="1" marL="914400" rtl="0" algn="l">
              <a:lnSpc>
                <a:spcPct val="115000"/>
              </a:lnSpc>
              <a:spcBef>
                <a:spcPts val="0"/>
              </a:spcBef>
              <a:spcAft>
                <a:spcPts val="0"/>
              </a:spcAft>
              <a:buClr>
                <a:schemeClr val="dk1"/>
              </a:buClr>
              <a:buSzPts val="1600"/>
              <a:buChar char="-"/>
            </a:pPr>
            <a:r>
              <a:rPr b="1" lang="en-US" sz="1100">
                <a:solidFill>
                  <a:schemeClr val="dk1"/>
                </a:solidFill>
              </a:rPr>
              <a:t>Assessing Data Reliability</a:t>
            </a:r>
            <a:r>
              <a:rPr lang="en-US" sz="1100">
                <a:solidFill>
                  <a:schemeClr val="dk1"/>
                </a:solidFill>
              </a:rPr>
              <a:t>: Data collected under poor conditions (e.g., using faulty equipment or through unreliable respondents) might lead to errors or inaccuracies.</a:t>
            </a:r>
            <a:endParaRPr sz="1100">
              <a:solidFill>
                <a:schemeClr val="dk1"/>
              </a:solidFill>
            </a:endParaRPr>
          </a:p>
          <a:p>
            <a:pPr indent="-330200" lvl="1" marL="914400" rtl="0" algn="l">
              <a:lnSpc>
                <a:spcPct val="115000"/>
              </a:lnSpc>
              <a:spcBef>
                <a:spcPts val="0"/>
              </a:spcBef>
              <a:spcAft>
                <a:spcPts val="0"/>
              </a:spcAft>
              <a:buClr>
                <a:schemeClr val="dk1"/>
              </a:buClr>
              <a:buSzPts val="1600"/>
              <a:buChar char="-"/>
            </a:pPr>
            <a:r>
              <a:rPr b="1" lang="en-US" sz="1100">
                <a:solidFill>
                  <a:schemeClr val="dk1"/>
                </a:solidFill>
              </a:rPr>
              <a:t>Ethical Considerations</a:t>
            </a:r>
            <a:r>
              <a:rPr lang="en-US" sz="1100">
                <a:solidFill>
                  <a:schemeClr val="dk1"/>
                </a:solidFill>
              </a:rPr>
              <a:t>: How the data was created might raise ethical concerns (e.g., informed consent for survey participants or data privacy issues), affecting whether the data can or should be used.</a:t>
            </a:r>
            <a:r>
              <a:rPr lang="en-US" sz="1600">
                <a:solidFill>
                  <a:schemeClr val="dk1"/>
                </a:solidFill>
                <a:latin typeface="IBM Plex Sans"/>
                <a:ea typeface="IBM Plex Sans"/>
                <a:cs typeface="IBM Plex Sans"/>
                <a:sym typeface="IBM Plex Sans"/>
              </a:rPr>
              <a:t> </a:t>
            </a:r>
            <a:endParaRPr sz="1600">
              <a:solidFill>
                <a:schemeClr val="dk1"/>
              </a:solidFill>
              <a:latin typeface="IBM Plex Sans"/>
              <a:ea typeface="IBM Plex Sans"/>
              <a:cs typeface="IBM Plex Sans"/>
              <a:sym typeface="IBM Plex Sans"/>
            </a:endParaRPr>
          </a:p>
          <a:p>
            <a:pPr indent="0" lvl="0" marL="914400" rtl="0" algn="l">
              <a:lnSpc>
                <a:spcPct val="100000"/>
              </a:lnSpc>
              <a:spcBef>
                <a:spcPts val="0"/>
              </a:spcBef>
              <a:spcAft>
                <a:spcPts val="0"/>
              </a:spcAft>
              <a:buNone/>
            </a:pPr>
            <a:r>
              <a:t/>
            </a:r>
            <a:endParaRPr sz="1600">
              <a:solidFill>
                <a:schemeClr val="dk1"/>
              </a:solidFill>
              <a:latin typeface="IBM Plex Sans"/>
              <a:ea typeface="IBM Plex Sans"/>
              <a:cs typeface="IBM Plex Sans"/>
              <a:sym typeface="IBM Plex Sans"/>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latin typeface="IBM Plex Sans"/>
                <a:ea typeface="IBM Plex Sans"/>
                <a:cs typeface="IBM Plex Sans"/>
                <a:sym typeface="IBM Plex Sans"/>
              </a:rPr>
              <a:t>how</a:t>
            </a:r>
            <a:r>
              <a:rPr lang="en-US" sz="1600">
                <a:solidFill>
                  <a:schemeClr val="dk1"/>
                </a:solidFill>
                <a:latin typeface="IBM Plex Sans"/>
                <a:ea typeface="IBM Plex Sans"/>
                <a:cs typeface="IBM Plex Sans"/>
                <a:sym typeface="IBM Plex Sans"/>
              </a:rPr>
              <a:t> </a:t>
            </a:r>
            <a:r>
              <a:rPr b="1" lang="en-US" sz="1600">
                <a:solidFill>
                  <a:schemeClr val="dk1"/>
                </a:solidFill>
                <a:latin typeface="IBM Plex Sans"/>
                <a:ea typeface="IBM Plex Sans"/>
                <a:cs typeface="IBM Plex Sans"/>
                <a:sym typeface="IBM Plex Sans"/>
              </a:rPr>
              <a:t>representative</a:t>
            </a:r>
            <a:r>
              <a:rPr lang="en-US" sz="1600">
                <a:solidFill>
                  <a:schemeClr val="dk1"/>
                </a:solidFill>
                <a:latin typeface="IBM Plex Sans"/>
                <a:ea typeface="IBM Plex Sans"/>
                <a:cs typeface="IBM Plex Sans"/>
                <a:sym typeface="IBM Plex Sans"/>
              </a:rPr>
              <a:t> the data </a:t>
            </a:r>
            <a:r>
              <a:rPr b="1" lang="en-US" sz="1600">
                <a:solidFill>
                  <a:schemeClr val="dk1"/>
                </a:solidFill>
                <a:latin typeface="IBM Plex Sans"/>
                <a:ea typeface="IBM Plex Sans"/>
                <a:cs typeface="IBM Plex Sans"/>
                <a:sym typeface="IBM Plex Sans"/>
              </a:rPr>
              <a:t>is</a:t>
            </a:r>
            <a:r>
              <a:rPr lang="en-US" sz="1600">
                <a:solidFill>
                  <a:schemeClr val="dk1"/>
                </a:solidFill>
                <a:latin typeface="IBM Plex Sans"/>
                <a:ea typeface="IBM Plex Sans"/>
                <a:cs typeface="IBM Plex Sans"/>
                <a:sym typeface="IBM Plex Sans"/>
              </a:rPr>
              <a:t>.</a:t>
            </a:r>
            <a:endParaRPr sz="1100">
              <a:solidFill>
                <a:schemeClr val="dk1"/>
              </a:solidFill>
            </a:endParaRPr>
          </a:p>
          <a:p>
            <a:pPr indent="-330200" lvl="1" marL="914400" rtl="0" algn="l">
              <a:lnSpc>
                <a:spcPct val="115000"/>
              </a:lnSpc>
              <a:spcBef>
                <a:spcPts val="0"/>
              </a:spcBef>
              <a:spcAft>
                <a:spcPts val="0"/>
              </a:spcAft>
              <a:buClr>
                <a:schemeClr val="dk1"/>
              </a:buClr>
              <a:buSzPts val="1600"/>
              <a:buChar char="-"/>
            </a:pPr>
            <a:r>
              <a:rPr b="1" lang="en-US" sz="1100">
                <a:solidFill>
                  <a:schemeClr val="dk1"/>
                </a:solidFill>
              </a:rPr>
              <a:t>Generalizability</a:t>
            </a:r>
            <a:r>
              <a:rPr lang="en-US" sz="1100">
                <a:solidFill>
                  <a:schemeClr val="dk1"/>
                </a:solidFill>
              </a:rPr>
              <a:t>: If the dataset isn’t representative of the population or scenario you're analyzing, the conclusions drawn might not be applicable to other groups or contexts.</a:t>
            </a:r>
            <a:endParaRPr sz="1100">
              <a:solidFill>
                <a:schemeClr val="dk1"/>
              </a:solidFill>
            </a:endParaRPr>
          </a:p>
          <a:p>
            <a:pPr indent="-330200" lvl="1" marL="914400" rtl="0" algn="l">
              <a:lnSpc>
                <a:spcPct val="115000"/>
              </a:lnSpc>
              <a:spcBef>
                <a:spcPts val="0"/>
              </a:spcBef>
              <a:spcAft>
                <a:spcPts val="0"/>
              </a:spcAft>
              <a:buClr>
                <a:schemeClr val="dk1"/>
              </a:buClr>
              <a:buSzPts val="1600"/>
              <a:buChar char="-"/>
            </a:pPr>
            <a:r>
              <a:rPr b="1" lang="en-US" sz="1100">
                <a:solidFill>
                  <a:schemeClr val="dk1"/>
                </a:solidFill>
              </a:rPr>
              <a:t>Preventing Overfitting</a:t>
            </a:r>
            <a:r>
              <a:rPr lang="en-US" sz="1100">
                <a:solidFill>
                  <a:schemeClr val="dk1"/>
                </a:solidFill>
              </a:rPr>
              <a:t>: Non-representative data may lead to models that overfit specific patterns in the dataset but fail when applied to new data.</a:t>
            </a:r>
            <a:endParaRPr sz="1100">
              <a:solidFill>
                <a:schemeClr val="dk1"/>
              </a:solidFill>
            </a:endParaRPr>
          </a:p>
          <a:p>
            <a:pPr indent="-330200" lvl="1" marL="914400" rtl="0" algn="l">
              <a:lnSpc>
                <a:spcPct val="115000"/>
              </a:lnSpc>
              <a:spcBef>
                <a:spcPts val="0"/>
              </a:spcBef>
              <a:spcAft>
                <a:spcPts val="0"/>
              </a:spcAft>
              <a:buClr>
                <a:schemeClr val="dk1"/>
              </a:buClr>
              <a:buSzPts val="1600"/>
              <a:buChar char="-"/>
            </a:pPr>
            <a:r>
              <a:rPr b="1" lang="en-US" sz="1100">
                <a:solidFill>
                  <a:schemeClr val="dk1"/>
                </a:solidFill>
              </a:rPr>
              <a:t>Fairness and Equity</a:t>
            </a:r>
            <a:r>
              <a:rPr lang="en-US" sz="1100">
                <a:solidFill>
                  <a:schemeClr val="dk1"/>
                </a:solidFill>
              </a:rPr>
              <a:t>: A lack of representativeness can lead to unfair outcomes, especially in sensitive domains like healthcare, criminal justice, or hiring.</a:t>
            </a:r>
            <a:endParaRPr sz="1100">
              <a:solidFill>
                <a:schemeClr val="dk1"/>
              </a:solidFill>
            </a:endParaRPr>
          </a:p>
          <a:p>
            <a:pPr indent="0" lvl="0" marL="0" marR="0" rtl="0" algn="l">
              <a:lnSpc>
                <a:spcPct val="100000"/>
              </a:lnSpc>
              <a:spcBef>
                <a:spcPts val="0"/>
              </a:spcBef>
              <a:spcAft>
                <a:spcPts val="0"/>
              </a:spcAft>
              <a:buNone/>
            </a:pPr>
            <a:r>
              <a:t/>
            </a:r>
            <a:endParaRPr sz="1600">
              <a:latin typeface="IBM Plex Sans"/>
              <a:ea typeface="IBM Plex Sans"/>
              <a:cs typeface="IBM Plex Sans"/>
              <a:sym typeface="IBM Plex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5"/>
          <p:cNvSpPr/>
          <p:nvPr/>
        </p:nvSpPr>
        <p:spPr>
          <a:xfrm>
            <a:off x="0" y="3300"/>
            <a:ext cx="9144000" cy="9144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0" lIns="0" spcFirstLastPara="1" rIns="0" wrap="square" tIns="0">
            <a:noAutofit/>
          </a:bodyPr>
          <a:lstStyle/>
          <a:p>
            <a:pPr indent="457200" lvl="0" marL="0" marR="0" rtl="0" algn="l">
              <a:lnSpc>
                <a:spcPct val="100000"/>
              </a:lnSpc>
              <a:spcBef>
                <a:spcPts val="0"/>
              </a:spcBef>
              <a:spcAft>
                <a:spcPts val="0"/>
              </a:spcAft>
              <a:buClr>
                <a:srgbClr val="000000"/>
              </a:buClr>
              <a:buSzPts val="1100"/>
              <a:buFont typeface="Arial"/>
              <a:buNone/>
            </a:pPr>
            <a:r>
              <a:rPr lang="en-US" sz="2800"/>
              <a:t>2</a:t>
            </a:r>
            <a:r>
              <a:rPr b="0" i="0" lang="en-US" sz="2800" u="none" cap="none" strike="noStrike">
                <a:solidFill>
                  <a:srgbClr val="000000"/>
                </a:solidFill>
                <a:latin typeface="Arial"/>
                <a:ea typeface="Arial"/>
                <a:cs typeface="Arial"/>
                <a:sym typeface="Arial"/>
              </a:rPr>
              <a:t>.</a:t>
            </a:r>
            <a:r>
              <a:rPr lang="en-US" sz="2800"/>
              <a:t>6</a:t>
            </a:r>
            <a:r>
              <a:rPr b="0" i="0" lang="en-US" sz="2800" u="none" cap="none" strike="noStrike">
                <a:solidFill>
                  <a:srgbClr val="000000"/>
                </a:solidFill>
                <a:latin typeface="Arial"/>
                <a:ea typeface="Arial"/>
                <a:cs typeface="Arial"/>
                <a:sym typeface="Arial"/>
              </a:rPr>
              <a:t> </a:t>
            </a:r>
            <a:r>
              <a:rPr lang="en-US" sz="2800"/>
              <a:t>Final Project Task 1 - Census Data Preprocess</a:t>
            </a:r>
            <a:endParaRPr b="0" i="0" sz="2800" u="none" cap="none" strike="noStrike">
              <a:solidFill>
                <a:srgbClr val="000000"/>
              </a:solidFill>
              <a:latin typeface="Arial"/>
              <a:ea typeface="Arial"/>
              <a:cs typeface="Arial"/>
              <a:sym typeface="Arial"/>
            </a:endParaRPr>
          </a:p>
        </p:txBody>
      </p:sp>
      <p:sp>
        <p:nvSpPr>
          <p:cNvPr id="262" name="Google Shape;262;p45"/>
          <p:cNvSpPr txBox="1"/>
          <p:nvPr/>
        </p:nvSpPr>
        <p:spPr>
          <a:xfrm>
            <a:off x="176100" y="1321500"/>
            <a:ext cx="8173800" cy="26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https://github.com/zahariesergiu/ubb-sociology-ml/blob/main/final_project/Final_Project_Task_1_Census_Data_Preprocess.ipynb</a:t>
            </a:r>
            <a:endParaRPr sz="20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6"/>
          <p:cNvSpPr txBox="1"/>
          <p:nvPr/>
        </p:nvSpPr>
        <p:spPr>
          <a:xfrm>
            <a:off x="73375" y="1005199"/>
            <a:ext cx="8680200" cy="3918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US" sz="1100">
                <a:solidFill>
                  <a:schemeClr val="dk1"/>
                </a:solidFill>
              </a:rPr>
              <a:t>#1 </a:t>
            </a:r>
            <a:r>
              <a:rPr lang="en-US" sz="1100">
                <a:solidFill>
                  <a:srgbClr val="45818E"/>
                </a:solidFill>
                <a:uFill>
                  <a:noFill/>
                </a:uFill>
                <a:hlinkClick r:id="rId3">
                  <a:extLst>
                    <a:ext uri="{A12FA001-AC4F-418D-AE19-62706E023703}">
                      <ahyp:hlinkClr val="tx"/>
                    </a:ext>
                  </a:extLst>
                </a:hlinkClick>
              </a:rPr>
              <a:t>Intro to version control</a:t>
            </a:r>
            <a:r>
              <a:rPr lang="en-US" sz="1100">
                <a:solidFill>
                  <a:srgbClr val="45818E"/>
                </a:solidFill>
              </a:rPr>
              <a:t>: </a:t>
            </a:r>
            <a:r>
              <a:rPr lang="en-US" sz="1100" u="sng">
                <a:solidFill>
                  <a:srgbClr val="45818E"/>
                </a:solidFill>
                <a:hlinkClick r:id="rId4">
                  <a:extLst>
                    <a:ext uri="{A12FA001-AC4F-418D-AE19-62706E023703}">
                      <ahyp:hlinkClr val="tx"/>
                    </a:ext>
                  </a:extLst>
                </a:hlinkClick>
              </a:rPr>
              <a:t>https://alan-turing-institute.github.io/rse-course/html/module04_version_control_with_git/index.html</a:t>
            </a:r>
            <a:endParaRPr sz="1100">
              <a:solidFill>
                <a:srgbClr val="45818E"/>
              </a:solidFill>
            </a:endParaRPr>
          </a:p>
          <a:p>
            <a:pPr indent="0" lvl="0" marL="0" rtl="0" algn="l">
              <a:lnSpc>
                <a:spcPct val="120000"/>
              </a:lnSpc>
              <a:spcBef>
                <a:spcPts val="0"/>
              </a:spcBef>
              <a:spcAft>
                <a:spcPts val="0"/>
              </a:spcAft>
              <a:buNone/>
            </a:pPr>
            <a:r>
              <a:t/>
            </a:r>
            <a:endParaRPr sz="1100">
              <a:solidFill>
                <a:srgbClr val="45818E"/>
              </a:solidFill>
            </a:endParaRPr>
          </a:p>
          <a:p>
            <a:pPr indent="0" lvl="0" marL="0" rtl="0" algn="l">
              <a:lnSpc>
                <a:spcPct val="120000"/>
              </a:lnSpc>
              <a:spcBef>
                <a:spcPts val="0"/>
              </a:spcBef>
              <a:spcAft>
                <a:spcPts val="0"/>
              </a:spcAft>
              <a:buNone/>
            </a:pPr>
            <a:r>
              <a:rPr lang="en-US" sz="1100">
                <a:solidFill>
                  <a:schemeClr val="dk1"/>
                </a:solidFill>
              </a:rPr>
              <a:t>#</a:t>
            </a:r>
            <a:r>
              <a:rPr lang="en-US" sz="1100">
                <a:solidFill>
                  <a:schemeClr val="dk1"/>
                </a:solidFill>
                <a:uFill>
                  <a:noFill/>
                </a:uFill>
                <a:hlinkClick r:id="rId5">
                  <a:extLst>
                    <a:ext uri="{A12FA001-AC4F-418D-AE19-62706E023703}">
                      <ahyp:hlinkClr val="tx"/>
                    </a:ext>
                  </a:extLst>
                </a:hlinkClick>
              </a:rPr>
              <a:t>2</a:t>
            </a:r>
            <a:r>
              <a:rPr lang="en-US" sz="1100">
                <a:solidFill>
                  <a:srgbClr val="45818E"/>
                </a:solidFill>
                <a:uFill>
                  <a:noFill/>
                </a:uFill>
                <a:hlinkClick r:id="rId6">
                  <a:extLst>
                    <a:ext uri="{A12FA001-AC4F-418D-AE19-62706E023703}">
                      <ahyp:hlinkClr val="tx"/>
                    </a:ext>
                  </a:extLst>
                </a:hlinkClick>
              </a:rPr>
              <a:t> Research data in Python:</a:t>
            </a:r>
            <a:r>
              <a:rPr lang="en-US" sz="1100">
                <a:solidFill>
                  <a:srgbClr val="45818E"/>
                </a:solidFill>
              </a:rPr>
              <a:t> </a:t>
            </a:r>
            <a:r>
              <a:rPr lang="en-US" sz="1100" u="sng">
                <a:solidFill>
                  <a:srgbClr val="45818E"/>
                </a:solidFill>
                <a:hlinkClick r:id="rId7">
                  <a:extLst>
                    <a:ext uri="{A12FA001-AC4F-418D-AE19-62706E023703}">
                      <ahyp:hlinkClr val="tx"/>
                    </a:ext>
                  </a:extLst>
                </a:hlinkClick>
              </a:rPr>
              <a:t>https://alan-turing-institute.github.io/rse-course/html/module03_research_data_in_python/index.html</a:t>
            </a:r>
            <a:endParaRPr sz="1100">
              <a:solidFill>
                <a:srgbClr val="45818E"/>
              </a:solidFill>
            </a:endParaRPr>
          </a:p>
          <a:p>
            <a:pPr indent="0" lvl="0" marL="0" rtl="0" algn="l">
              <a:lnSpc>
                <a:spcPct val="120000"/>
              </a:lnSpc>
              <a:spcBef>
                <a:spcPts val="0"/>
              </a:spcBef>
              <a:spcAft>
                <a:spcPts val="0"/>
              </a:spcAft>
              <a:buNone/>
            </a:pPr>
            <a:r>
              <a:t/>
            </a:r>
            <a:endParaRPr sz="1100">
              <a:solidFill>
                <a:srgbClr val="45818E"/>
              </a:solidFill>
            </a:endParaRPr>
          </a:p>
          <a:p>
            <a:pPr indent="0" lvl="0" marL="0" rtl="0" algn="l">
              <a:lnSpc>
                <a:spcPct val="120000"/>
              </a:lnSpc>
              <a:spcBef>
                <a:spcPts val="0"/>
              </a:spcBef>
              <a:spcAft>
                <a:spcPts val="0"/>
              </a:spcAft>
              <a:buNone/>
            </a:pPr>
            <a:r>
              <a:rPr lang="en-US" sz="1100">
                <a:solidFill>
                  <a:schemeClr val="dk1"/>
                </a:solidFill>
              </a:rPr>
              <a:t>#3</a:t>
            </a:r>
            <a:r>
              <a:rPr lang="en-US" sz="1100">
                <a:solidFill>
                  <a:srgbClr val="45818E"/>
                </a:solidFill>
                <a:uFill>
                  <a:noFill/>
                </a:uFill>
                <a:hlinkClick r:id="rId8">
                  <a:extLst>
                    <a:ext uri="{A12FA001-AC4F-418D-AE19-62706E023703}">
                      <ahyp:hlinkClr val="tx"/>
                    </a:ext>
                  </a:extLst>
                </a:hlinkClick>
              </a:rPr>
              <a:t>  Data feminism:</a:t>
            </a:r>
            <a:r>
              <a:rPr lang="en-US" sz="1100">
                <a:solidFill>
                  <a:srgbClr val="45818E"/>
                </a:solidFill>
              </a:rPr>
              <a:t> </a:t>
            </a:r>
            <a:r>
              <a:rPr lang="en-US" sz="1100" u="sng">
                <a:solidFill>
                  <a:srgbClr val="45818E"/>
                </a:solidFill>
                <a:hlinkClick r:id="rId9">
                  <a:extLst>
                    <a:ext uri="{A12FA001-AC4F-418D-AE19-62706E023703}">
                      <ahyp:hlinkClr val="tx"/>
                    </a:ext>
                  </a:extLst>
                </a:hlinkClick>
              </a:rPr>
              <a:t>https://data-feminism.mitpress.mit.edu/</a:t>
            </a:r>
            <a:r>
              <a:rPr lang="en-US" sz="1100">
                <a:solidFill>
                  <a:srgbClr val="45818E"/>
                </a:solidFill>
              </a:rPr>
              <a:t> </a:t>
            </a:r>
            <a:r>
              <a:rPr lang="en-US" sz="1100">
                <a:solidFill>
                  <a:srgbClr val="45818E"/>
                </a:solidFill>
                <a:uFill>
                  <a:noFill/>
                </a:uFill>
                <a:hlinkClick r:id="rId10">
                  <a:extLst>
                    <a:ext uri="{A12FA001-AC4F-418D-AE19-62706E023703}">
                      <ahyp:hlinkClr val="tx"/>
                    </a:ext>
                  </a:extLst>
                </a:hlinkClick>
              </a:rPr>
              <a:t> </a:t>
            </a:r>
            <a:endParaRPr sz="1100">
              <a:solidFill>
                <a:srgbClr val="45818E"/>
              </a:solidFill>
            </a:endParaRPr>
          </a:p>
          <a:p>
            <a:pPr indent="0" lvl="0" marL="0" rtl="0" algn="l">
              <a:lnSpc>
                <a:spcPct val="120000"/>
              </a:lnSpc>
              <a:spcBef>
                <a:spcPts val="0"/>
              </a:spcBef>
              <a:spcAft>
                <a:spcPts val="0"/>
              </a:spcAft>
              <a:buNone/>
            </a:pPr>
            <a:r>
              <a:t/>
            </a:r>
            <a:endParaRPr sz="1100">
              <a:solidFill>
                <a:srgbClr val="45818E"/>
              </a:solidFill>
            </a:endParaRPr>
          </a:p>
          <a:p>
            <a:pPr indent="0" lvl="0" marL="0" rtl="0" algn="l">
              <a:lnSpc>
                <a:spcPct val="120000"/>
              </a:lnSpc>
              <a:spcBef>
                <a:spcPts val="0"/>
              </a:spcBef>
              <a:spcAft>
                <a:spcPts val="0"/>
              </a:spcAft>
              <a:buNone/>
            </a:pPr>
            <a:r>
              <a:rPr lang="en-US" sz="1100">
                <a:solidFill>
                  <a:schemeClr val="dk1"/>
                </a:solidFill>
              </a:rPr>
              <a:t>#4 </a:t>
            </a:r>
            <a:r>
              <a:rPr lang="en-US" sz="1100">
                <a:solidFill>
                  <a:srgbClr val="45818E"/>
                </a:solidFill>
              </a:rPr>
              <a:t> </a:t>
            </a:r>
            <a:r>
              <a:rPr lang="en-US" sz="1100">
                <a:solidFill>
                  <a:srgbClr val="45818E"/>
                </a:solidFill>
                <a:uFill>
                  <a:noFill/>
                </a:uFill>
                <a:hlinkClick r:id="rId11">
                  <a:extLst>
                    <a:ext uri="{A12FA001-AC4F-418D-AE19-62706E023703}">
                      <ahyp:hlinkClr val="tx"/>
                    </a:ext>
                  </a:extLst>
                </a:hlinkClick>
              </a:rPr>
              <a:t>Living with Machines project: </a:t>
            </a:r>
            <a:endParaRPr sz="1300">
              <a:solidFill>
                <a:srgbClr val="45818E"/>
              </a:solidFill>
            </a:endParaRPr>
          </a:p>
          <a:p>
            <a:pPr indent="0" lvl="0" marL="0" rtl="0" algn="l">
              <a:lnSpc>
                <a:spcPct val="120000"/>
              </a:lnSpc>
              <a:spcBef>
                <a:spcPts val="0"/>
              </a:spcBef>
              <a:spcAft>
                <a:spcPts val="0"/>
              </a:spcAft>
              <a:buNone/>
            </a:pPr>
            <a:r>
              <a:rPr lang="en-US" sz="1100" u="sng">
                <a:solidFill>
                  <a:srgbClr val="45818E"/>
                </a:solidFill>
                <a:hlinkClick r:id="rId12">
                  <a:extLst>
                    <a:ext uri="{A12FA001-AC4F-418D-AE19-62706E023703}">
                      <ahyp:hlinkClr val="tx"/>
                    </a:ext>
                  </a:extLst>
                </a:hlinkClick>
              </a:rPr>
              <a:t>https://blogs.bl.uk/thenewsroom/2019/07/moving-from-a-newspaper-collection-to-a-news-collection.html </a:t>
            </a:r>
            <a:endParaRPr sz="1100">
              <a:solidFill>
                <a:srgbClr val="45818E"/>
              </a:solidFill>
            </a:endParaRPr>
          </a:p>
          <a:p>
            <a:pPr indent="0" lvl="0" marL="0" rtl="0" algn="l">
              <a:lnSpc>
                <a:spcPct val="120000"/>
              </a:lnSpc>
              <a:spcBef>
                <a:spcPts val="0"/>
              </a:spcBef>
              <a:spcAft>
                <a:spcPts val="0"/>
              </a:spcAft>
              <a:buNone/>
            </a:pPr>
            <a:r>
              <a:t/>
            </a:r>
            <a:endParaRPr sz="1100">
              <a:solidFill>
                <a:srgbClr val="45818E"/>
              </a:solidFill>
            </a:endParaRPr>
          </a:p>
          <a:p>
            <a:pPr indent="0" lvl="0" marL="0" rtl="0" algn="l">
              <a:lnSpc>
                <a:spcPct val="120000"/>
              </a:lnSpc>
              <a:spcBef>
                <a:spcPts val="0"/>
              </a:spcBef>
              <a:spcAft>
                <a:spcPts val="0"/>
              </a:spcAft>
              <a:buNone/>
            </a:pPr>
            <a:r>
              <a:rPr lang="en-US" sz="1100">
                <a:solidFill>
                  <a:schemeClr val="dk1"/>
                </a:solidFill>
              </a:rPr>
              <a:t>#</a:t>
            </a:r>
            <a:r>
              <a:rPr lang="en-US" sz="1100">
                <a:solidFill>
                  <a:schemeClr val="dk1"/>
                </a:solidFill>
                <a:uFill>
                  <a:noFill/>
                </a:uFill>
                <a:hlinkClick r:id="rId13">
                  <a:extLst>
                    <a:ext uri="{A12FA001-AC4F-418D-AE19-62706E023703}">
                      <ahyp:hlinkClr val="tx"/>
                    </a:ext>
                  </a:extLst>
                </a:hlinkClick>
              </a:rPr>
              <a:t>5</a:t>
            </a:r>
            <a:r>
              <a:rPr lang="en-US" sz="1100">
                <a:solidFill>
                  <a:srgbClr val="45818E"/>
                </a:solidFill>
                <a:uFill>
                  <a:noFill/>
                </a:uFill>
                <a:hlinkClick r:id="rId14">
                  <a:extLst>
                    <a:ext uri="{A12FA001-AC4F-418D-AE19-62706E023703}">
                      <ahyp:hlinkClr val="tx"/>
                    </a:ext>
                  </a:extLst>
                </a:hlinkClick>
              </a:rPr>
              <a:t>  Project Odysseus: </a:t>
            </a:r>
            <a:r>
              <a:rPr lang="en-US" sz="1100" u="sng">
                <a:solidFill>
                  <a:srgbClr val="45818E"/>
                </a:solidFill>
                <a:hlinkClick r:id="rId15">
                  <a:extLst>
                    <a:ext uri="{A12FA001-AC4F-418D-AE19-62706E023703}">
                      <ahyp:hlinkClr val="tx"/>
                    </a:ext>
                  </a:extLst>
                </a:hlinkClick>
              </a:rPr>
              <a:t>https://www.turing.ac.uk/research/research-projects/project-odysseus-understanding-london-busyness-and-exiting-lockdown</a:t>
            </a:r>
            <a:endParaRPr sz="1100">
              <a:solidFill>
                <a:srgbClr val="45818E"/>
              </a:solidFill>
            </a:endParaRPr>
          </a:p>
          <a:p>
            <a:pPr indent="0" lvl="0" marL="0" rtl="0" algn="l">
              <a:lnSpc>
                <a:spcPct val="120000"/>
              </a:lnSpc>
              <a:spcBef>
                <a:spcPts val="0"/>
              </a:spcBef>
              <a:spcAft>
                <a:spcPts val="0"/>
              </a:spcAft>
              <a:buNone/>
            </a:pPr>
            <a:r>
              <a:t/>
            </a:r>
            <a:endParaRPr sz="1000">
              <a:solidFill>
                <a:srgbClr val="45818E"/>
              </a:solidFill>
            </a:endParaRPr>
          </a:p>
          <a:p>
            <a:pPr indent="0" lvl="0" marL="0" rtl="0" algn="l">
              <a:lnSpc>
                <a:spcPct val="120000"/>
              </a:lnSpc>
              <a:spcBef>
                <a:spcPts val="0"/>
              </a:spcBef>
              <a:spcAft>
                <a:spcPts val="0"/>
              </a:spcAft>
              <a:buNone/>
            </a:pPr>
            <a:r>
              <a:rPr lang="en-US" sz="1100">
                <a:solidFill>
                  <a:schemeClr val="dk1"/>
                </a:solidFill>
              </a:rPr>
              <a:t>#</a:t>
            </a:r>
            <a:r>
              <a:rPr lang="en-US" sz="1100">
                <a:solidFill>
                  <a:schemeClr val="dk1"/>
                </a:solidFill>
              </a:rPr>
              <a:t>6</a:t>
            </a:r>
            <a:r>
              <a:rPr lang="en-US" sz="1100">
                <a:solidFill>
                  <a:srgbClr val="45818E"/>
                </a:solidFill>
              </a:rPr>
              <a:t>  </a:t>
            </a:r>
            <a:r>
              <a:rPr lang="en-US" sz="1100">
                <a:solidFill>
                  <a:srgbClr val="45818E"/>
                </a:solidFill>
                <a:uFill>
                  <a:noFill/>
                </a:uFill>
                <a:hlinkClick r:id="rId16">
                  <a:extLst>
                    <a:ext uri="{A12FA001-AC4F-418D-AE19-62706E023703}">
                      <ahyp:hlinkClr val="tx"/>
                    </a:ext>
                  </a:extLst>
                </a:hlinkClick>
              </a:rPr>
              <a:t>Data sources and formats</a:t>
            </a:r>
            <a:r>
              <a:rPr lang="en-US" sz="1100">
                <a:solidFill>
                  <a:srgbClr val="45818E"/>
                </a:solidFill>
                <a:uFill>
                  <a:noFill/>
                </a:uFill>
                <a:hlinkClick r:id="rId17">
                  <a:extLst>
                    <a:ext uri="{A12FA001-AC4F-418D-AE19-62706E023703}">
                      <ahyp:hlinkClr val="tx"/>
                    </a:ext>
                  </a:extLst>
                </a:hlinkClick>
              </a:rPr>
              <a:t>:</a:t>
            </a:r>
            <a:r>
              <a:rPr lang="en-US" sz="1100">
                <a:solidFill>
                  <a:srgbClr val="45818E"/>
                </a:solidFill>
              </a:rPr>
              <a:t> </a:t>
            </a:r>
            <a:r>
              <a:rPr lang="en-US" sz="1100" u="sng">
                <a:solidFill>
                  <a:srgbClr val="45818E"/>
                </a:solidFill>
                <a:hlinkClick r:id="rId18">
                  <a:extLst>
                    <a:ext uri="{A12FA001-AC4F-418D-AE19-62706E023703}">
                      <ahyp:hlinkClr val="tx"/>
                    </a:ext>
                  </a:extLst>
                </a:hlinkClick>
              </a:rPr>
              <a:t>https://alan-turing-institute.github.io/rds-course/modules/m2/2.1.4-DataSourcesAndFormats.html </a:t>
            </a:r>
            <a:endParaRPr sz="1100">
              <a:solidFill>
                <a:srgbClr val="45818E"/>
              </a:solidFill>
            </a:endParaRPr>
          </a:p>
          <a:p>
            <a:pPr indent="0" lvl="0" marL="0" rtl="0" algn="l">
              <a:lnSpc>
                <a:spcPct val="120000"/>
              </a:lnSpc>
              <a:spcBef>
                <a:spcPts val="0"/>
              </a:spcBef>
              <a:spcAft>
                <a:spcPts val="0"/>
              </a:spcAft>
              <a:buNone/>
            </a:pPr>
            <a:r>
              <a:t/>
            </a:r>
            <a:endParaRPr sz="1100">
              <a:solidFill>
                <a:srgbClr val="45818E"/>
              </a:solidFill>
            </a:endParaRPr>
          </a:p>
          <a:p>
            <a:pPr indent="0" lvl="0" marL="0" rtl="0" algn="l">
              <a:lnSpc>
                <a:spcPct val="120000"/>
              </a:lnSpc>
              <a:spcBef>
                <a:spcPts val="0"/>
              </a:spcBef>
              <a:spcAft>
                <a:spcPts val="0"/>
              </a:spcAft>
              <a:buNone/>
            </a:pPr>
            <a:r>
              <a:rPr lang="en-US" sz="1100">
                <a:solidFill>
                  <a:schemeClr val="dk1"/>
                </a:solidFill>
              </a:rPr>
              <a:t>#7 </a:t>
            </a:r>
            <a:r>
              <a:rPr lang="en-US" sz="1100">
                <a:solidFill>
                  <a:srgbClr val="45818E"/>
                </a:solidFill>
              </a:rPr>
              <a:t> </a:t>
            </a:r>
            <a:r>
              <a:rPr lang="en-US" sz="1100">
                <a:solidFill>
                  <a:srgbClr val="45818E"/>
                </a:solidFill>
                <a:uFill>
                  <a:noFill/>
                </a:uFill>
                <a:hlinkClick r:id="rId19">
                  <a:extLst>
                    <a:ext uri="{A12FA001-AC4F-418D-AE19-62706E023703}">
                      <ahyp:hlinkClr val="tx"/>
                    </a:ext>
                  </a:extLst>
                </a:hlinkClick>
              </a:rPr>
              <a:t>GDPR, privacy and anonymisation:</a:t>
            </a:r>
            <a:r>
              <a:rPr lang="en-US" sz="1100">
                <a:solidFill>
                  <a:srgbClr val="45818E"/>
                </a:solidFill>
              </a:rPr>
              <a:t> </a:t>
            </a:r>
            <a:r>
              <a:rPr lang="en-US" sz="1100" u="sng">
                <a:solidFill>
                  <a:srgbClr val="45818E"/>
                </a:solidFill>
                <a:hlinkClick r:id="rId20">
                  <a:extLst>
                    <a:ext uri="{A12FA001-AC4F-418D-AE19-62706E023703}">
                      <ahyp:hlinkClr val="tx"/>
                    </a:ext>
                  </a:extLst>
                </a:hlinkClick>
              </a:rPr>
              <a:t>https://alan-turing-institute.github.io/rds-course/modules/m2/2.2.5-PrivacyAndAnonymisation.html</a:t>
            </a:r>
            <a:endParaRPr sz="1100">
              <a:solidFill>
                <a:srgbClr val="45818E"/>
              </a:solidFill>
            </a:endParaRPr>
          </a:p>
          <a:p>
            <a:pPr indent="0" lvl="0" marL="0" rtl="0" algn="l">
              <a:lnSpc>
                <a:spcPct val="120000"/>
              </a:lnSpc>
              <a:spcBef>
                <a:spcPts val="0"/>
              </a:spcBef>
              <a:spcAft>
                <a:spcPts val="0"/>
              </a:spcAft>
              <a:buNone/>
            </a:pPr>
            <a:r>
              <a:t/>
            </a:r>
            <a:endParaRPr sz="1100">
              <a:solidFill>
                <a:srgbClr val="45818E"/>
              </a:solidFill>
            </a:endParaRPr>
          </a:p>
          <a:p>
            <a:pPr indent="0" lvl="0" marL="0" rtl="0" algn="l">
              <a:lnSpc>
                <a:spcPct val="120000"/>
              </a:lnSpc>
              <a:spcBef>
                <a:spcPts val="0"/>
              </a:spcBef>
              <a:spcAft>
                <a:spcPts val="0"/>
              </a:spcAft>
              <a:buNone/>
            </a:pPr>
            <a:r>
              <a:rPr lang="en-US" sz="1100">
                <a:solidFill>
                  <a:schemeClr val="dk1"/>
                </a:solidFill>
              </a:rPr>
              <a:t>#8 </a:t>
            </a:r>
            <a:r>
              <a:rPr lang="en-US" sz="1100">
                <a:solidFill>
                  <a:srgbClr val="45818E"/>
                </a:solidFill>
                <a:uFill>
                  <a:noFill/>
                </a:uFill>
                <a:hlinkClick r:id="rId21">
                  <a:extLst>
                    <a:ext uri="{A12FA001-AC4F-418D-AE19-62706E023703}">
                      <ahyp:hlinkClr val="tx"/>
                    </a:ext>
                  </a:extLst>
                </a:hlinkClick>
              </a:rPr>
              <a:t>Data visualization:</a:t>
            </a:r>
            <a:r>
              <a:rPr lang="en-US" sz="1100">
                <a:solidFill>
                  <a:srgbClr val="45818E"/>
                </a:solidFill>
              </a:rPr>
              <a:t> </a:t>
            </a:r>
            <a:r>
              <a:rPr lang="en-US" sz="1100" u="sng">
                <a:solidFill>
                  <a:srgbClr val="45818E"/>
                </a:solidFill>
                <a:hlinkClick r:id="rId22">
                  <a:extLst>
                    <a:ext uri="{A12FA001-AC4F-418D-AE19-62706E023703}">
                      <ahyp:hlinkClr val="tx"/>
                    </a:ext>
                  </a:extLst>
                </a:hlinkClick>
              </a:rPr>
              <a:t>https://alan-turing-institute.github.io/rds-course/modules/m3/overview.html</a:t>
            </a:r>
            <a:endParaRPr sz="1100">
              <a:solidFill>
                <a:srgbClr val="45818E"/>
              </a:solidFill>
            </a:endParaRPr>
          </a:p>
          <a:p>
            <a:pPr indent="0" lvl="0" marL="0" rtl="0" algn="l">
              <a:lnSpc>
                <a:spcPct val="120000"/>
              </a:lnSpc>
              <a:spcBef>
                <a:spcPts val="0"/>
              </a:spcBef>
              <a:spcAft>
                <a:spcPts val="0"/>
              </a:spcAft>
              <a:buNone/>
            </a:pPr>
            <a:r>
              <a:t/>
            </a:r>
            <a:endParaRPr sz="1100">
              <a:solidFill>
                <a:srgbClr val="45818E"/>
              </a:solidFill>
            </a:endParaRPr>
          </a:p>
          <a:p>
            <a:pPr indent="0" lvl="0" marL="0" rtl="0" algn="l">
              <a:lnSpc>
                <a:spcPct val="120000"/>
              </a:lnSpc>
              <a:spcBef>
                <a:spcPts val="0"/>
              </a:spcBef>
              <a:spcAft>
                <a:spcPts val="0"/>
              </a:spcAft>
              <a:buNone/>
            </a:pPr>
            <a:r>
              <a:rPr lang="en-US" sz="1100">
                <a:solidFill>
                  <a:schemeClr val="dk1"/>
                </a:solidFill>
              </a:rPr>
              <a:t>#</a:t>
            </a:r>
            <a:r>
              <a:rPr lang="en-US" sz="1100">
                <a:solidFill>
                  <a:schemeClr val="dk1"/>
                </a:solidFill>
                <a:uFill>
                  <a:noFill/>
                </a:uFill>
                <a:hlinkClick r:id="rId23">
                  <a:extLst>
                    <a:ext uri="{A12FA001-AC4F-418D-AE19-62706E023703}">
                      <ahyp:hlinkClr val="tx"/>
                    </a:ext>
                  </a:extLst>
                </a:hlinkClick>
              </a:rPr>
              <a:t>9</a:t>
            </a:r>
            <a:r>
              <a:rPr lang="en-US" sz="1100">
                <a:solidFill>
                  <a:srgbClr val="45818E"/>
                </a:solidFill>
                <a:uFill>
                  <a:noFill/>
                </a:uFill>
                <a:hlinkClick r:id="rId24">
                  <a:extLst>
                    <a:ext uri="{A12FA001-AC4F-418D-AE19-62706E023703}">
                      <ahyp:hlinkClr val="tx"/>
                    </a:ext>
                  </a:extLst>
                </a:hlinkClick>
              </a:rPr>
              <a:t> Dealing with an imbalanced dataset</a:t>
            </a:r>
            <a:r>
              <a:rPr lang="en-US" sz="1100">
                <a:solidFill>
                  <a:srgbClr val="45818E"/>
                </a:solidFill>
              </a:rPr>
              <a:t>: </a:t>
            </a:r>
            <a:r>
              <a:rPr lang="en-US" sz="1100" u="sng">
                <a:solidFill>
                  <a:srgbClr val="45818E"/>
                </a:solidFill>
                <a:hlinkClick r:id="rId25">
                  <a:extLst>
                    <a:ext uri="{A12FA001-AC4F-418D-AE19-62706E023703}">
                      <ahyp:hlinkClr val="tx"/>
                    </a:ext>
                  </a:extLst>
                </a:hlinkClick>
              </a:rPr>
              <a:t>https://towardsdatascience.com/how-to-deal-with-imbalanced-data-34ab7db9b100</a:t>
            </a:r>
            <a:endParaRPr sz="1100">
              <a:solidFill>
                <a:srgbClr val="45818E"/>
              </a:solidFill>
            </a:endParaRPr>
          </a:p>
          <a:p>
            <a:pPr indent="0" lvl="0" marL="0" rtl="0" algn="l">
              <a:lnSpc>
                <a:spcPct val="120000"/>
              </a:lnSpc>
              <a:spcBef>
                <a:spcPts val="0"/>
              </a:spcBef>
              <a:spcAft>
                <a:spcPts val="0"/>
              </a:spcAft>
              <a:buNone/>
            </a:pPr>
            <a:r>
              <a:t/>
            </a:r>
            <a:endParaRPr sz="1100">
              <a:solidFill>
                <a:srgbClr val="45818E"/>
              </a:solidFill>
            </a:endParaRPr>
          </a:p>
          <a:p>
            <a:pPr indent="0" lvl="0" marL="0" rtl="0" algn="l">
              <a:lnSpc>
                <a:spcPct val="120000"/>
              </a:lnSpc>
              <a:spcBef>
                <a:spcPts val="0"/>
              </a:spcBef>
              <a:spcAft>
                <a:spcPts val="0"/>
              </a:spcAft>
              <a:buNone/>
            </a:pPr>
            <a:r>
              <a:t/>
            </a:r>
            <a:endParaRPr sz="1100">
              <a:solidFill>
                <a:srgbClr val="45818E"/>
              </a:solidFill>
            </a:endParaRPr>
          </a:p>
          <a:p>
            <a:pPr indent="0" lvl="0" marL="0" rtl="0" algn="l">
              <a:spcBef>
                <a:spcPts val="0"/>
              </a:spcBef>
              <a:spcAft>
                <a:spcPts val="0"/>
              </a:spcAft>
              <a:buNone/>
            </a:pPr>
            <a:r>
              <a:t/>
            </a:r>
            <a:endParaRPr sz="1100">
              <a:solidFill>
                <a:srgbClr val="45818E"/>
              </a:solidFill>
            </a:endParaRPr>
          </a:p>
        </p:txBody>
      </p:sp>
      <p:sp>
        <p:nvSpPr>
          <p:cNvPr id="268" name="Google Shape;268;p46"/>
          <p:cNvSpPr/>
          <p:nvPr/>
        </p:nvSpPr>
        <p:spPr>
          <a:xfrm>
            <a:off x="0" y="3300"/>
            <a:ext cx="9144000" cy="9144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0" lIns="0" spcFirstLastPara="1" rIns="0" wrap="square" tIns="0">
            <a:noAutofit/>
          </a:bodyPr>
          <a:lstStyle/>
          <a:p>
            <a:pPr indent="457200" lvl="0" marL="0" marR="0" rtl="0" algn="l">
              <a:lnSpc>
                <a:spcPct val="100000"/>
              </a:lnSpc>
              <a:spcBef>
                <a:spcPts val="0"/>
              </a:spcBef>
              <a:spcAft>
                <a:spcPts val="0"/>
              </a:spcAft>
              <a:buClr>
                <a:srgbClr val="000000"/>
              </a:buClr>
              <a:buSzPts val="1100"/>
              <a:buFont typeface="Arial"/>
              <a:buNone/>
            </a:pPr>
            <a:r>
              <a:rPr lang="en-US" sz="2800"/>
              <a:t>2</a:t>
            </a:r>
            <a:r>
              <a:rPr b="0" i="0" lang="en-US" sz="2800" u="none" cap="none" strike="noStrike">
                <a:solidFill>
                  <a:srgbClr val="000000"/>
                </a:solidFill>
                <a:latin typeface="Arial"/>
                <a:ea typeface="Arial"/>
                <a:cs typeface="Arial"/>
                <a:sym typeface="Arial"/>
              </a:rPr>
              <a:t>.</a:t>
            </a:r>
            <a:r>
              <a:rPr lang="en-US" sz="2800"/>
              <a:t>7</a:t>
            </a:r>
            <a:r>
              <a:rPr b="0" i="0" lang="en-US" sz="2800" u="none" cap="none" strike="noStrike">
                <a:solidFill>
                  <a:srgbClr val="000000"/>
                </a:solidFill>
                <a:latin typeface="Arial"/>
                <a:ea typeface="Arial"/>
                <a:cs typeface="Arial"/>
                <a:sym typeface="Arial"/>
              </a:rPr>
              <a:t> </a:t>
            </a:r>
            <a:r>
              <a:rPr lang="en-US" sz="2800">
                <a:solidFill>
                  <a:srgbClr val="000000"/>
                </a:solidFill>
              </a:rPr>
              <a:t>Further Reading &amp; Questions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7"/>
          <p:cNvSpPr txBox="1"/>
          <p:nvPr>
            <p:ph idx="1" type="subTitle"/>
          </p:nvPr>
        </p:nvSpPr>
        <p:spPr>
          <a:xfrm>
            <a:off x="557650" y="293500"/>
            <a:ext cx="7550100" cy="42630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b="1" sz="8200"/>
          </a:p>
          <a:p>
            <a:pPr indent="0" lvl="0" marL="0" rtl="0" algn="l">
              <a:lnSpc>
                <a:spcPct val="80000"/>
              </a:lnSpc>
              <a:spcBef>
                <a:spcPts val="0"/>
              </a:spcBef>
              <a:spcAft>
                <a:spcPts val="0"/>
              </a:spcAft>
              <a:buSzPts val="275"/>
              <a:buNone/>
            </a:pPr>
            <a:r>
              <a:rPr b="1" lang="en-US" sz="8200">
                <a:solidFill>
                  <a:schemeClr val="dk1"/>
                </a:solidFill>
              </a:rPr>
              <a:t>Thank you !!</a:t>
            </a:r>
            <a:endParaRPr b="1" sz="8200">
              <a:solidFill>
                <a:schemeClr val="dk1"/>
              </a:solidFill>
            </a:endParaRPr>
          </a:p>
          <a:p>
            <a:pPr indent="0" lvl="0" marL="0" rtl="0" algn="l">
              <a:lnSpc>
                <a:spcPct val="80000"/>
              </a:lnSpc>
              <a:spcBef>
                <a:spcPts val="0"/>
              </a:spcBef>
              <a:spcAft>
                <a:spcPts val="0"/>
              </a:spcAft>
              <a:buSzPts val="275"/>
              <a:buNone/>
            </a:pPr>
            <a:r>
              <a:t/>
            </a:r>
            <a:endParaRPr sz="1200"/>
          </a:p>
          <a:p>
            <a:pPr indent="0" lvl="0" marL="0" rtl="0" algn="l">
              <a:lnSpc>
                <a:spcPct val="80000"/>
              </a:lnSpc>
              <a:spcBef>
                <a:spcPts val="0"/>
              </a:spcBef>
              <a:spcAft>
                <a:spcPts val="0"/>
              </a:spcAft>
              <a:buSzPts val="275"/>
              <a:buNone/>
            </a:pPr>
            <a:r>
              <a:t/>
            </a:r>
            <a:endParaRPr sz="1200"/>
          </a:p>
          <a:p>
            <a:pPr indent="0" lvl="0" marL="0" rtl="0" algn="l">
              <a:lnSpc>
                <a:spcPct val="80000"/>
              </a:lnSpc>
              <a:spcBef>
                <a:spcPts val="0"/>
              </a:spcBef>
              <a:spcAft>
                <a:spcPts val="0"/>
              </a:spcAft>
              <a:buSzPts val="275"/>
              <a:buNone/>
            </a:pPr>
            <a:r>
              <a:t/>
            </a:r>
            <a:endParaRPr sz="1200"/>
          </a:p>
          <a:p>
            <a:pPr indent="0" lvl="0" marL="0" rtl="0" algn="l">
              <a:lnSpc>
                <a:spcPct val="80000"/>
              </a:lnSpc>
              <a:spcBef>
                <a:spcPts val="0"/>
              </a:spcBef>
              <a:spcAft>
                <a:spcPts val="0"/>
              </a:spcAft>
              <a:buSzPts val="275"/>
              <a:buNone/>
            </a:pPr>
            <a:r>
              <a:rPr lang="en-US" sz="1200">
                <a:solidFill>
                  <a:schemeClr val="dk1"/>
                </a:solidFill>
              </a:rPr>
              <a:t>Machine Learning Engineer / Data Scientist</a:t>
            </a:r>
            <a:endParaRPr sz="1200">
              <a:solidFill>
                <a:schemeClr val="dk1"/>
              </a:solidFill>
            </a:endParaRPr>
          </a:p>
          <a:p>
            <a:pPr indent="0" lvl="0" marL="0" rtl="0" algn="l">
              <a:lnSpc>
                <a:spcPct val="95000"/>
              </a:lnSpc>
              <a:spcBef>
                <a:spcPts val="0"/>
              </a:spcBef>
              <a:spcAft>
                <a:spcPts val="0"/>
              </a:spcAft>
              <a:buSzPts val="275"/>
              <a:buNone/>
            </a:pPr>
            <a:r>
              <a:rPr lang="en-US" sz="1200">
                <a:solidFill>
                  <a:schemeClr val="hlink"/>
                </a:solidFill>
                <a:uFill>
                  <a:noFill/>
                </a:uFill>
                <a:hlinkClick r:id="rId3"/>
              </a:rPr>
              <a:t>zahariesergiu@gmail.com</a:t>
            </a:r>
            <a:endParaRPr sz="1200"/>
          </a:p>
          <a:p>
            <a:pPr indent="0" lvl="0" marL="0" rtl="0" algn="l">
              <a:lnSpc>
                <a:spcPct val="95000"/>
              </a:lnSpc>
              <a:spcBef>
                <a:spcPts val="0"/>
              </a:spcBef>
              <a:spcAft>
                <a:spcPts val="0"/>
              </a:spcAft>
              <a:buSzPts val="275"/>
              <a:buNone/>
            </a:pPr>
            <a:r>
              <a:rPr lang="en-US" sz="1200">
                <a:solidFill>
                  <a:schemeClr val="hlink"/>
                </a:solidFill>
                <a:uFill>
                  <a:noFill/>
                </a:uFill>
                <a:hlinkClick r:id="rId4"/>
              </a:rPr>
              <a:t>https://www.linkedin.com/in/zahariesergiu/</a:t>
            </a:r>
            <a:endParaRPr sz="1200"/>
          </a:p>
          <a:p>
            <a:pPr indent="0" lvl="0" marL="0" rtl="0" algn="l">
              <a:lnSpc>
                <a:spcPct val="95000"/>
              </a:lnSpc>
              <a:spcBef>
                <a:spcPts val="0"/>
              </a:spcBef>
              <a:spcAft>
                <a:spcPts val="0"/>
              </a:spcAft>
              <a:buSzPts val="275"/>
              <a:buNone/>
            </a:pPr>
            <a:r>
              <a:rPr lang="en-US" sz="1200" u="sng">
                <a:solidFill>
                  <a:schemeClr val="hlink"/>
                </a:solidFill>
                <a:hlinkClick r:id="rId5"/>
              </a:rPr>
              <a:t>https://github.com/zahariesergiu/ubb-sociology-ml</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