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4"/>
    <p:sldMasterId id="2147483682" r:id="rId5"/>
    <p:sldMasterId id="214748368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y="5143500" cx="9144000"/>
  <p:notesSz cx="6858000" cy="9144000"/>
  <p:embeddedFontLst>
    <p:embeddedFont>
      <p:font typeface="IBM Plex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IBMPlexSans-regular.fntdata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IBMPlexSans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IBMPlexSans-boldItalic.fntdata"/><Relationship Id="rId30" Type="http://schemas.openxmlformats.org/officeDocument/2006/relationships/font" Target="fonts/IBMPlexSans-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a51aa74606_0_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2a51aa74606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22c4cb78e_1_1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922c4cb78e_1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22c4cb78e_1_2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922c4cb78e_1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a51aa7460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2a51aa7460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2577c93d4a_2_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2577c93d4a_2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2577c93d4a_2_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2577c93d4a_2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2577c93d4a_2_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2577c93d4a_2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2577c93d4a_2_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2577c93d4a_2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2577c93d4a_2_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2577c93d4a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2577c93d4a_2_1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32577c93d4a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2577c93d4a_2_1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32577c93d4a_2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2577c93d4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32577c93d4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2577c93d4a_2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32577c93d4a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2577c93d4a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2577c93d4a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2577c93d4a_2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2577c93d4a_2_12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2577c93d4a_2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2577c93d4a_2_12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2577c93d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2577c93d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2577c93d4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2577c93d4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2577c93d4a_2_1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g32577c93d4a_2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2577c93d4a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32577c93d4a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" name="Google Shape;10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2" name="Google Shape;10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5" name="Google Shape;105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6" name="Google Shape;10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9" name="Google Shape;10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2" name="Google Shape;11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" name="Google Shape;11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" name="Google Shape;118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9" name="Google Shape;119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0" name="Google Shape;12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3" name="Google Shape;123;p3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4" name="Google Shape;12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8" name="Google Shape;12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9" name="Google Shape;12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0" name="Google Shape;13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33" name="Google Shape;133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6" name="Google Shape;136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7" name="Google Shape;13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hyperlink" Target="https://colab.research.google.com/drive/1kCXkKY4nelN7Q3FyW9WQ4NdN2gpZcJAh?usp=drive_link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hyperlink" Target="https://colab.research.google.com/drive/1njSNUt5E07dKHRBZarDOLolPEHHFjFKE#scrollTo=6zGaNkJzUo6g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hyperlink" Target="https://colab.research.google.com/drive/1njSNUt5E07dKHRBZarDOLolPEHHFjFKE#scrollTo=6zGaNkJzUo6g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nature.com/articles/nmeth.4642?source=post_page-----64b49f07ea3--------------------------------" TargetMode="External"/><Relationship Id="rId10" Type="http://schemas.openxmlformats.org/officeDocument/2006/relationships/hyperlink" Target="https://www.nature.com/articles/nmeth.4642?source=post_page-----64b49f07ea3--------------------------------" TargetMode="External"/><Relationship Id="rId13" Type="http://schemas.openxmlformats.org/officeDocument/2006/relationships/hyperlink" Target="https://michaelnielsen.org/ddi/if-correlation-doesnt-imply-causation-then-what-does/" TargetMode="External"/><Relationship Id="rId12" Type="http://schemas.openxmlformats.org/officeDocument/2006/relationships/hyperlink" Target="https://michaelnielsen.org/ddi/if-correlation-doesnt-imply-causation-then-what-does/" TargetMode="External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www.youtube.com/watch?v=g9c66TUylZ4" TargetMode="External"/><Relationship Id="rId4" Type="http://schemas.openxmlformats.org/officeDocument/2006/relationships/hyperlink" Target="https://www.youtube.com/watch?v=g9c66TUylZ4" TargetMode="External"/><Relationship Id="rId9" Type="http://schemas.openxmlformats.org/officeDocument/2006/relationships/hyperlink" Target="https://www.kaggle.com/code/mysarahmadbhat/all-about-feature-scaling/notebook" TargetMode="External"/><Relationship Id="rId15" Type="http://schemas.openxmlformats.org/officeDocument/2006/relationships/hyperlink" Target="https://towardsdatascience.com/are-you-guilty-of-using-the-word-experiment-incorrectly-9068baeab7a4" TargetMode="External"/><Relationship Id="rId14" Type="http://schemas.openxmlformats.org/officeDocument/2006/relationships/hyperlink" Target="https://towardsdatascience.com/are-you-guilty-of-using-the-word-experiment-incorrectly-9068baeab7a4" TargetMode="External"/><Relationship Id="rId5" Type="http://schemas.openxmlformats.org/officeDocument/2006/relationships/hyperlink" Target="https://scientistcafe.com/ids/splitting-criteria" TargetMode="External"/><Relationship Id="rId6" Type="http://schemas.openxmlformats.org/officeDocument/2006/relationships/hyperlink" Target="https://ai.meta.com/blog/self-supervised-learning-the-dark-matter-of-intelligence/" TargetMode="External"/><Relationship Id="rId7" Type="http://schemas.openxmlformats.org/officeDocument/2006/relationships/hyperlink" Target="https://ai.meta.com/blog/self-supervised-learning-the-dark-matter-of-intelligence/" TargetMode="External"/><Relationship Id="rId8" Type="http://schemas.openxmlformats.org/officeDocument/2006/relationships/hyperlink" Target="https://www.kaggle.com/code/mysarahmadbhat/all-about-feature-scaling/notebook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hyperlink" Target="mailto:zahariesergiu@gmail.com" TargetMode="External"/><Relationship Id="rId4" Type="http://schemas.openxmlformats.org/officeDocument/2006/relationships/hyperlink" Target="https://www.linkedin.com/in/zahariesergiu/" TargetMode="External"/><Relationship Id="rId5" Type="http://schemas.openxmlformats.org/officeDocument/2006/relationships/hyperlink" Target="https://github.com/zahariesergiu/ubb-sociology-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7"/>
          <p:cNvSpPr txBox="1"/>
          <p:nvPr>
            <p:ph type="ctrTitle"/>
          </p:nvPr>
        </p:nvSpPr>
        <p:spPr>
          <a:xfrm>
            <a:off x="311700" y="377425"/>
            <a:ext cx="8634600" cy="31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highlight>
                  <a:srgbClr val="FFFFFF"/>
                </a:highlight>
              </a:rPr>
              <a:t>			</a:t>
            </a:r>
            <a:endParaRPr sz="1100"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4400">
                <a:highlight>
                  <a:srgbClr val="FFFFFF"/>
                </a:highlight>
              </a:rPr>
              <a:t>Machine learning:</a:t>
            </a:r>
            <a:endParaRPr b="1" sz="4400"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4400">
                <a:highlight>
                  <a:srgbClr val="FFFFFF"/>
                </a:highlight>
              </a:rPr>
              <a:t>prediction,</a:t>
            </a:r>
            <a:endParaRPr b="1" sz="4400"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4400">
                <a:highlight>
                  <a:srgbClr val="FFFFFF"/>
                </a:highlight>
              </a:rPr>
              <a:t>classification and</a:t>
            </a:r>
            <a:endParaRPr b="1" sz="4400"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4400">
                <a:highlight>
                  <a:srgbClr val="FFFFFF"/>
                </a:highlight>
              </a:rPr>
              <a:t>clustering</a:t>
            </a:r>
            <a:endParaRPr sz="4400"/>
          </a:p>
        </p:txBody>
      </p:sp>
      <p:sp>
        <p:nvSpPr>
          <p:cNvPr id="145" name="Google Shape;145;p37"/>
          <p:cNvSpPr txBox="1"/>
          <p:nvPr>
            <p:ph idx="1" type="subTitle"/>
          </p:nvPr>
        </p:nvSpPr>
        <p:spPr>
          <a:xfrm>
            <a:off x="311700" y="355215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8205"/>
              <a:buFont typeface="Arial"/>
              <a:buNone/>
            </a:pPr>
            <a:r>
              <a:rPr b="1" lang="en" sz="3900">
                <a:solidFill>
                  <a:schemeClr val="dk1"/>
                </a:solidFill>
                <a:highlight>
                  <a:srgbClr val="FFFFFF"/>
                </a:highlight>
              </a:rPr>
              <a:t>UBB Faculty of Sociology</a:t>
            </a:r>
            <a:endParaRPr b="1" sz="3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Course Agenda</a:t>
            </a:r>
            <a:endParaRPr b="1"/>
          </a:p>
        </p:txBody>
      </p:sp>
      <p:sp>
        <p:nvSpPr>
          <p:cNvPr id="151" name="Google Shape;151;p38"/>
          <p:cNvSpPr txBox="1"/>
          <p:nvPr>
            <p:ph idx="1" type="body"/>
          </p:nvPr>
        </p:nvSpPr>
        <p:spPr>
          <a:xfrm>
            <a:off x="87925" y="1152475"/>
            <a:ext cx="87444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b="1" lang="en" sz="2000">
                <a:solidFill>
                  <a:schemeClr val="dk1"/>
                </a:solidFill>
              </a:rPr>
              <a:t>#1  Intro, Simple Linear Regression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b="1" lang="en" sz="2000">
                <a:solidFill>
                  <a:schemeClr val="dk1"/>
                </a:solidFill>
                <a:highlight>
                  <a:srgbClr val="F6F1EE"/>
                </a:highlight>
              </a:rPr>
              <a:t>#2  Python recap, Git, Handling data, EDA</a:t>
            </a:r>
            <a:endParaRPr b="1" sz="2000">
              <a:solidFill>
                <a:schemeClr val="dk1"/>
              </a:solidFill>
              <a:highlight>
                <a:srgbClr val="F6F1EE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b="1" lang="en" sz="2000">
                <a:solidFill>
                  <a:schemeClr val="dk1"/>
                </a:solidFill>
                <a:highlight>
                  <a:srgbClr val="FFE289"/>
                </a:highlight>
              </a:rPr>
              <a:t>#3  Regression, Decision Trees</a:t>
            </a:r>
            <a:endParaRPr b="1" sz="2000">
              <a:solidFill>
                <a:schemeClr val="dk1"/>
              </a:solidFill>
              <a:highlight>
                <a:srgbClr val="FFE289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b="1" lang="en" sz="2000">
                <a:solidFill>
                  <a:schemeClr val="dk1"/>
                </a:solidFill>
                <a:highlight>
                  <a:srgbClr val="F6F1EE"/>
                </a:highlight>
              </a:rPr>
              <a:t>#4  Bias, Variance,  Overfitting, Classification, Metrics</a:t>
            </a:r>
            <a:endParaRPr b="1" sz="2000">
              <a:solidFill>
                <a:schemeClr val="dk1"/>
              </a:solidFill>
              <a:highlight>
                <a:srgbClr val="F6F1EE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b="1" lang="en" sz="2000">
                <a:solidFill>
                  <a:schemeClr val="dk1"/>
                </a:solidFill>
                <a:highlight>
                  <a:srgbClr val="F6F1EE"/>
                </a:highlight>
              </a:rPr>
              <a:t>#5  Random Forest Classifier, Clustering</a:t>
            </a:r>
            <a:endParaRPr b="1" sz="2000">
              <a:solidFill>
                <a:schemeClr val="dk1"/>
              </a:solidFill>
              <a:highlight>
                <a:srgbClr val="F6F1EE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b="1" lang="en" sz="2000">
                <a:solidFill>
                  <a:schemeClr val="dk1"/>
                </a:solidFill>
                <a:highlight>
                  <a:srgbClr val="F6F1EE"/>
                </a:highlight>
              </a:rPr>
              <a:t>#6  Neural Newtorks</a:t>
            </a:r>
            <a:endParaRPr b="1" sz="2000">
              <a:solidFill>
                <a:schemeClr val="dk1"/>
              </a:solidFill>
              <a:highlight>
                <a:srgbClr val="F6F1EE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b="1" lang="en" sz="2000">
                <a:solidFill>
                  <a:schemeClr val="dk1"/>
                </a:solidFill>
                <a:highlight>
                  <a:srgbClr val="F6F1EE"/>
                </a:highlight>
              </a:rPr>
              <a:t>#7  Help Final Project</a:t>
            </a:r>
            <a:endParaRPr b="1" sz="2000">
              <a:solidFill>
                <a:schemeClr val="dk1"/>
              </a:solidFill>
              <a:highlight>
                <a:srgbClr val="F6F1EE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b="1" lang="en" sz="2000">
                <a:solidFill>
                  <a:schemeClr val="dk1"/>
                </a:solidFill>
                <a:highlight>
                  <a:srgbClr val="F6F1EE"/>
                </a:highlight>
              </a:rPr>
              <a:t>#8  Help Final Project</a:t>
            </a:r>
            <a:endParaRPr b="1">
              <a:solidFill>
                <a:schemeClr val="dk1"/>
              </a:solidFill>
              <a:highlight>
                <a:srgbClr val="F6F1EE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9"/>
          <p:cNvSpPr txBox="1"/>
          <p:nvPr>
            <p:ph idx="1" type="body"/>
          </p:nvPr>
        </p:nvSpPr>
        <p:spPr>
          <a:xfrm>
            <a:off x="311700" y="58625"/>
            <a:ext cx="8520600" cy="23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b="1" lang="en" sz="6000">
                <a:solidFill>
                  <a:schemeClr val="dk1"/>
                </a:solidFill>
                <a:highlight>
                  <a:srgbClr val="F6F1EE"/>
                </a:highlight>
              </a:rPr>
              <a:t>3. Linear Regression, Decision Trees</a:t>
            </a:r>
            <a:endParaRPr sz="6000">
              <a:solidFill>
                <a:schemeClr val="dk1"/>
              </a:solidFill>
              <a:highlight>
                <a:srgbClr val="F6F1EE"/>
              </a:highlight>
            </a:endParaRPr>
          </a:p>
        </p:txBody>
      </p:sp>
      <p:sp>
        <p:nvSpPr>
          <p:cNvPr id="157" name="Google Shape;157;p39"/>
          <p:cNvSpPr txBox="1"/>
          <p:nvPr/>
        </p:nvSpPr>
        <p:spPr>
          <a:xfrm>
            <a:off x="381525" y="2576725"/>
            <a:ext cx="6031200" cy="24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#3.1  Catch up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#3.2  Linear Regression recap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#3.3  Decision Trees Regression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#3.4  Regression implementation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#3.5  Final Project Task 2 - Census Data EDA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#3.6  Questions &amp; Further reading</a:t>
            </a:r>
            <a:endParaRPr sz="192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0"/>
          <p:cNvSpPr/>
          <p:nvPr/>
        </p:nvSpPr>
        <p:spPr>
          <a:xfrm>
            <a:off x="367751" y="850125"/>
            <a:ext cx="7240505" cy="4092864"/>
          </a:xfrm>
          <a:custGeom>
            <a:rect b="b" l="l" r="r" t="t"/>
            <a:pathLst>
              <a:path extrusionOk="0" h="4092864" w="7240505">
                <a:moveTo>
                  <a:pt x="0" y="0"/>
                </a:moveTo>
                <a:lnTo>
                  <a:pt x="7240505" y="0"/>
                </a:lnTo>
                <a:lnTo>
                  <a:pt x="7240505" y="4092864"/>
                </a:lnTo>
                <a:lnTo>
                  <a:pt x="0" y="40928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40"/>
          <p:cNvSpPr txBox="1"/>
          <p:nvPr/>
        </p:nvSpPr>
        <p:spPr>
          <a:xfrm>
            <a:off x="658675" y="1451125"/>
            <a:ext cx="7185000" cy="11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 one thing that stood out to you: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thing you found surprising / interesting / useful etc.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800"/>
              <a:t>3</a:t>
            </a:r>
            <a:r>
              <a:rPr b="0" i="0" lang="en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2800"/>
              <a:t>1</a:t>
            </a:r>
            <a:r>
              <a:rPr b="0" i="0" lang="en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2800"/>
              <a:t>Catch up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1"/>
          <p:cNvSpPr txBox="1"/>
          <p:nvPr>
            <p:ph type="title"/>
          </p:nvPr>
        </p:nvSpPr>
        <p:spPr>
          <a:xfrm>
            <a:off x="205393" y="834625"/>
            <a:ext cx="37104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Predict calories</a:t>
            </a:r>
            <a:endParaRPr/>
          </a:p>
        </p:txBody>
      </p:sp>
      <p:sp>
        <p:nvSpPr>
          <p:cNvPr id="170" name="Google Shape;170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86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71" name="Google Shape;17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119" y="1311313"/>
            <a:ext cx="6111451" cy="3828519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41"/>
          <p:cNvSpPr txBox="1"/>
          <p:nvPr/>
        </p:nvSpPr>
        <p:spPr>
          <a:xfrm>
            <a:off x="6518296" y="3153641"/>
            <a:ext cx="21804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How lines work: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Calories =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2BFB7"/>
                </a:solidFill>
                <a:latin typeface="IBM Plex Sans"/>
                <a:ea typeface="IBM Plex Sans"/>
                <a:cs typeface="IBM Plex Sans"/>
                <a:sym typeface="IBM Plex Sans"/>
              </a:rPr>
              <a:t>Slope </a:t>
            </a:r>
            <a:r>
              <a:rPr b="0" i="0" lang="en" sz="14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* Weight + </a:t>
            </a:r>
            <a:r>
              <a:rPr b="0" i="0" lang="en" sz="1400" u="none" cap="none" strike="noStrike">
                <a:solidFill>
                  <a:srgbClr val="F2BFB7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Intercept</a:t>
            </a:r>
            <a:r>
              <a:rPr b="0" i="0" lang="en" sz="14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1"/>
          <p:cNvSpPr txBox="1"/>
          <p:nvPr/>
        </p:nvSpPr>
        <p:spPr>
          <a:xfrm>
            <a:off x="6624604" y="1152475"/>
            <a:ext cx="14898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Eq of the line:</a:t>
            </a:r>
            <a:b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 = ax +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Where: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a: slope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b: intercept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x: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41"/>
          <p:cNvSpPr/>
          <p:nvPr/>
        </p:nvSpPr>
        <p:spPr>
          <a:xfrm>
            <a:off x="0" y="3300"/>
            <a:ext cx="9144000" cy="9144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800"/>
              <a:t>3</a:t>
            </a:r>
            <a:r>
              <a:rPr b="0" i="0" lang="en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2800"/>
              <a:t>2</a:t>
            </a:r>
            <a:r>
              <a:rPr b="0" i="0" lang="en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Linear Regression recap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Predict the calories</a:t>
            </a:r>
            <a:endParaRPr/>
          </a:p>
        </p:txBody>
      </p:sp>
      <p:sp>
        <p:nvSpPr>
          <p:cNvPr id="180" name="Google Shape;180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6876"/>
              <a:buNone/>
            </a:pPr>
            <a:r>
              <a:rPr lang="en">
                <a:solidFill>
                  <a:schemeClr val="dk1"/>
                </a:solidFill>
              </a:rPr>
              <a:t>Calories for 15 apple pie slices: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6876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4354"/>
              <a:buNone/>
            </a:pPr>
            <a:r>
              <a:rPr lang="en" sz="2016">
                <a:solidFill>
                  <a:schemeClr val="dk1"/>
                </a:solidFill>
              </a:rPr>
              <a:t>148, 154, 167, 176, 176, </a:t>
            </a:r>
            <a:endParaRPr sz="2016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4354"/>
              <a:buNone/>
            </a:pPr>
            <a:r>
              <a:rPr lang="en" sz="2016">
                <a:solidFill>
                  <a:schemeClr val="dk1"/>
                </a:solidFill>
              </a:rPr>
              <a:t>191, 203, </a:t>
            </a:r>
            <a:r>
              <a:rPr b="1" lang="en" sz="2016">
                <a:solidFill>
                  <a:schemeClr val="dk1"/>
                </a:solidFill>
              </a:rPr>
              <a:t>207</a:t>
            </a:r>
            <a:r>
              <a:rPr lang="en" sz="2016">
                <a:solidFill>
                  <a:schemeClr val="dk1"/>
                </a:solidFill>
              </a:rPr>
              <a:t>, 227, 230, </a:t>
            </a:r>
            <a:endParaRPr sz="2016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4354"/>
              <a:buNone/>
            </a:pPr>
            <a:r>
              <a:rPr lang="en" sz="2016">
                <a:solidFill>
                  <a:schemeClr val="dk1"/>
                </a:solidFill>
              </a:rPr>
              <a:t>245, 251, 259, 290, 503</a:t>
            </a:r>
            <a:endParaRPr sz="2016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91253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793"/>
              <a:buNone/>
            </a:pPr>
            <a:r>
              <a:rPr lang="en" sz="1786">
                <a:solidFill>
                  <a:schemeClr val="dk1"/>
                </a:solidFill>
              </a:rPr>
              <a:t>Mean: 228,47 </a:t>
            </a:r>
            <a:endParaRPr sz="1786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17793"/>
              <a:buNone/>
            </a:pPr>
            <a:r>
              <a:rPr lang="en" sz="1786">
                <a:solidFill>
                  <a:schemeClr val="dk1"/>
                </a:solidFill>
              </a:rPr>
              <a:t>Median: 207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81" name="Google Shape;18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66820" y="846404"/>
            <a:ext cx="3746500" cy="3644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3"/>
          <p:cNvSpPr txBox="1"/>
          <p:nvPr>
            <p:ph type="title"/>
          </p:nvPr>
        </p:nvSpPr>
        <p:spPr>
          <a:xfrm>
            <a:off x="311699" y="445025"/>
            <a:ext cx="37104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Predict calories</a:t>
            </a:r>
            <a:endParaRPr/>
          </a:p>
        </p:txBody>
      </p:sp>
      <p:sp>
        <p:nvSpPr>
          <p:cNvPr id="187" name="Google Shape;187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86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88" name="Google Shape;188;p43"/>
          <p:cNvSpPr txBox="1"/>
          <p:nvPr/>
        </p:nvSpPr>
        <p:spPr>
          <a:xfrm>
            <a:off x="6518296" y="3153641"/>
            <a:ext cx="2180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How lines work: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Calories =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1.19*</a:t>
            </a:r>
            <a:r>
              <a:rPr b="0" i="0" lang="en" sz="1400" u="none" cap="none" strike="noStrike">
                <a:solidFill>
                  <a:srgbClr val="F2BFB7"/>
                </a:solidFill>
                <a:latin typeface="IBM Plex Sans"/>
                <a:ea typeface="IBM Plex Sans"/>
                <a:cs typeface="IBM Plex Sans"/>
                <a:sym typeface="IBM Plex Sans"/>
              </a:rPr>
              <a:t>20</a:t>
            </a:r>
            <a:r>
              <a:rPr b="0" i="0" lang="en" sz="14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+ </a:t>
            </a:r>
            <a:r>
              <a:rPr b="0" i="0" lang="en" sz="1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106.2=131</a:t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9" name="Google Shape;189;p43"/>
          <p:cNvSpPr txBox="1"/>
          <p:nvPr/>
        </p:nvSpPr>
        <p:spPr>
          <a:xfrm>
            <a:off x="6624604" y="1152475"/>
            <a:ext cx="14898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Eq of the line:</a:t>
            </a:r>
            <a:b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 = ax + b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Where: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a: slope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b: intercept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x: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699" y="1080655"/>
            <a:ext cx="6014126" cy="406284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43"/>
          <p:cNvSpPr txBox="1"/>
          <p:nvPr/>
        </p:nvSpPr>
        <p:spPr>
          <a:xfrm>
            <a:off x="6449004" y="4568875"/>
            <a:ext cx="184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Code on Colab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"/>
          <p:cNvSpPr txBox="1"/>
          <p:nvPr/>
        </p:nvSpPr>
        <p:spPr>
          <a:xfrm>
            <a:off x="311700" y="371550"/>
            <a:ext cx="8520600" cy="41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Data is not always linear</a:t>
            </a:r>
            <a:endParaRPr b="1" i="0" sz="20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No problem!</a:t>
            </a:r>
            <a:r>
              <a:rPr b="0" i="0" lang="en" sz="11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			</a:t>
            </a:r>
            <a:endParaRPr b="0" i="0" sz="11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There are non-linear regression models:</a:t>
            </a:r>
            <a:r>
              <a:rPr b="0" i="0" lang="en" sz="11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</a:t>
            </a:r>
            <a:endParaRPr b="0" i="0" sz="11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				 								</a:t>
            </a:r>
            <a:br>
              <a:rPr b="0" i="0" lang="en" sz="11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b="0" i="0" lang="en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●  </a:t>
            </a:r>
            <a:r>
              <a:rPr b="0" i="0" lang="en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Decision Tree Regression</a:t>
            </a:r>
            <a:br>
              <a:rPr b="0" i="0" lang="en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b="0" i="0" lang="en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1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				</a:t>
            </a:r>
            <a:endParaRPr b="0" i="0" sz="11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				 								</a:t>
            </a:r>
            <a:br>
              <a:rPr b="0" i="0" lang="en" sz="11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b="0" i="0" lang="en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●  SVM with non-linear kernels</a:t>
            </a:r>
            <a:br>
              <a:rPr b="0" i="0" lang="en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b="0" i="0" lang="en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1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				</a:t>
            </a:r>
            <a:endParaRPr b="0" i="0" sz="11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				 								</a:t>
            </a:r>
            <a:br>
              <a:rPr b="0" i="0" lang="en" sz="11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b="0" i="0" lang="en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●  Neural networks</a:t>
            </a:r>
            <a:br>
              <a:rPr b="0" i="0" lang="en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b="0" i="0" lang="en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1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				</a:t>
            </a:r>
            <a:endParaRPr b="0" i="0" sz="11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				 								</a:t>
            </a:r>
            <a:br>
              <a:rPr b="0" i="0" lang="en" sz="11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b="0" i="0" lang="en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●  KNN</a:t>
            </a:r>
            <a:br>
              <a:rPr b="0" i="0" lang="en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b="0" i="0" lang="en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1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				</a:t>
            </a:r>
            <a:endParaRPr b="0" i="0" sz="11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				 								</a:t>
            </a:r>
            <a:br>
              <a:rPr b="0" i="0" lang="en" sz="11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b="0" i="0" lang="en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●  Ensemble methods 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2013" y="1238248"/>
            <a:ext cx="4779046" cy="3330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5"/>
          <p:cNvSpPr txBox="1"/>
          <p:nvPr>
            <p:ph idx="1" type="body"/>
          </p:nvPr>
        </p:nvSpPr>
        <p:spPr>
          <a:xfrm>
            <a:off x="311700" y="1152475"/>
            <a:ext cx="5166749" cy="3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		 	 	 		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b="1" lang="en" sz="3200">
                <a:solidFill>
                  <a:schemeClr val="dk1"/>
                </a:solidFill>
                <a:highlight>
                  <a:srgbClr val="FFFFFF"/>
                </a:highlight>
              </a:rPr>
              <a:t>Decision Tree Regression</a:t>
            </a:r>
            <a:r>
              <a:rPr lang="en" sz="2300">
                <a:solidFill>
                  <a:schemeClr val="dk1"/>
                </a:solidFill>
                <a:highlight>
                  <a:srgbClr val="FFFFFF"/>
                </a:highlight>
              </a:rPr>
              <a:t>		</a:t>
            </a:r>
            <a:endParaRPr sz="2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lang="en" sz="2300">
                <a:solidFill>
                  <a:schemeClr val="dk1"/>
                </a:solidFill>
                <a:highlight>
                  <a:srgbClr val="FFFFFF"/>
                </a:highlight>
              </a:rPr>
              <a:t>										</a:t>
            </a:r>
            <a:endParaRPr sz="2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60714"/>
              <a:buNone/>
            </a:pPr>
            <a:r>
              <a:rPr lang="en" sz="2800">
                <a:solidFill>
                  <a:schemeClr val="dk1"/>
                </a:solidFill>
                <a:highlight>
                  <a:srgbClr val="FFFFFF"/>
                </a:highlight>
              </a:rPr>
              <a:t>Decision Trees Regression is a very fast algorithm How it works: A two step repeating process</a:t>
            </a:r>
            <a:endParaRPr sz="2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2639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2800">
                <a:solidFill>
                  <a:schemeClr val="dk1"/>
                </a:solidFill>
                <a:highlight>
                  <a:srgbClr val="FFFFFF"/>
                </a:highlight>
              </a:rPr>
              <a:t>Take some random samples in the subtree split the dataset in two</a:t>
            </a:r>
            <a:endParaRPr sz="2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2639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2800">
                <a:solidFill>
                  <a:schemeClr val="dk1"/>
                </a:solidFill>
                <a:highlight>
                  <a:srgbClr val="FFFFFF"/>
                </a:highlight>
              </a:rPr>
              <a:t>Save the random split which separates the data by value the best</a:t>
            </a:r>
            <a:br>
              <a:rPr lang="en" sz="28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en" sz="2300">
                <a:solidFill>
                  <a:schemeClr val="dk1"/>
                </a:solidFill>
                <a:highlight>
                  <a:srgbClr val="FFFFFF"/>
                </a:highlight>
              </a:rPr>
              <a:t>					 						</a:t>
            </a:r>
            <a:endParaRPr sz="2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 sz="2800">
                <a:solidFill>
                  <a:schemeClr val="dk1"/>
                </a:solidFill>
                <a:highlight>
                  <a:srgbClr val="FFFFFF"/>
                </a:highlight>
              </a:rPr>
              <a:t>Then, repeat for the newly created subtrees </a:t>
            </a:r>
            <a:endParaRPr sz="2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					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				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			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		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2500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03" name="Google Shape;20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7878" y="795130"/>
            <a:ext cx="3196121" cy="434837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45"/>
          <p:cNvSpPr/>
          <p:nvPr/>
        </p:nvSpPr>
        <p:spPr>
          <a:xfrm>
            <a:off x="0" y="3300"/>
            <a:ext cx="9144000" cy="9144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800"/>
              <a:t>3</a:t>
            </a:r>
            <a:r>
              <a:rPr b="0" i="0" lang="en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2800"/>
              <a:t>3</a:t>
            </a:r>
            <a:r>
              <a:rPr b="0" i="0" lang="en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Decision Trees Regression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10" name="Google Shape;210;p46"/>
          <p:cNvSpPr txBox="1"/>
          <p:nvPr>
            <p:ph idx="1" type="body"/>
          </p:nvPr>
        </p:nvSpPr>
        <p:spPr>
          <a:xfrm>
            <a:off x="311700" y="1152475"/>
            <a:ext cx="4904356" cy="34354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chemeClr val="dk1"/>
                </a:solidFill>
              </a:rPr>
              <a:t>		 	 	 		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40625"/>
              <a:buNone/>
            </a:pPr>
            <a:r>
              <a:rPr b="1" lang="en" sz="3200">
                <a:solidFill>
                  <a:schemeClr val="dk1"/>
                </a:solidFill>
                <a:highlight>
                  <a:srgbClr val="FFFFFF"/>
                </a:highlight>
              </a:rPr>
              <a:t>Decision Tree Regression</a:t>
            </a:r>
            <a:r>
              <a:rPr lang="en" sz="2300">
                <a:solidFill>
                  <a:schemeClr val="dk1"/>
                </a:solidFill>
                <a:highlight>
                  <a:srgbClr val="FFFFFF"/>
                </a:highlight>
              </a:rPr>
              <a:t>		</a:t>
            </a:r>
            <a:endParaRPr sz="2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95652"/>
              <a:buNone/>
            </a:pPr>
            <a:r>
              <a:rPr lang="en" sz="2300">
                <a:solidFill>
                  <a:schemeClr val="dk1"/>
                </a:solidFill>
                <a:highlight>
                  <a:srgbClr val="FFFFFF"/>
                </a:highlight>
              </a:rPr>
              <a:t>										</a:t>
            </a:r>
            <a:endParaRPr sz="2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60714"/>
              <a:buNone/>
            </a:pPr>
            <a:r>
              <a:rPr lang="en" sz="2800">
                <a:solidFill>
                  <a:schemeClr val="dk1"/>
                </a:solidFill>
                <a:highlight>
                  <a:srgbClr val="FFFFFF"/>
                </a:highlight>
              </a:rPr>
              <a:t>Decision Trees Regression is a very fast algorithm How it works: A two step repeating process</a:t>
            </a:r>
            <a:endParaRPr sz="2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9725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2800">
                <a:solidFill>
                  <a:schemeClr val="dk1"/>
                </a:solidFill>
                <a:highlight>
                  <a:srgbClr val="FFFFFF"/>
                </a:highlight>
              </a:rPr>
              <a:t>Step 1</a:t>
            </a:r>
            <a:endParaRPr sz="2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972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2800">
                <a:solidFill>
                  <a:schemeClr val="dk1"/>
                </a:solidFill>
                <a:highlight>
                  <a:srgbClr val="FFFFFF"/>
                </a:highlight>
              </a:rPr>
              <a:t>Take some random samples in the subtree split the dataset in two</a:t>
            </a:r>
            <a:endParaRPr sz="2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972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2800">
                <a:solidFill>
                  <a:schemeClr val="dk1"/>
                </a:solidFill>
                <a:highlight>
                  <a:srgbClr val="FFFFFF"/>
                </a:highlight>
              </a:rPr>
              <a:t>Save the random split which separates the data by value the best</a:t>
            </a:r>
            <a:br>
              <a:rPr lang="en" sz="2800">
                <a:solidFill>
                  <a:schemeClr val="dk1"/>
                </a:solidFill>
                <a:highlight>
                  <a:srgbClr val="FFFFFF"/>
                </a:highlight>
              </a:rPr>
            </a:br>
            <a:endParaRPr sz="2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972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2800">
                <a:solidFill>
                  <a:schemeClr val="dk1"/>
                </a:solidFill>
                <a:highlight>
                  <a:schemeClr val="lt1"/>
                </a:highlight>
              </a:rPr>
              <a:t>Step 2</a:t>
            </a:r>
            <a:endParaRPr sz="2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3972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2800">
                <a:solidFill>
                  <a:schemeClr val="dk1"/>
                </a:solidFill>
                <a:highlight>
                  <a:schemeClr val="lt1"/>
                </a:highlight>
              </a:rPr>
              <a:t>Take some random samples in the subtree split the dataset in two</a:t>
            </a:r>
            <a:endParaRPr sz="2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3972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2800">
                <a:solidFill>
                  <a:schemeClr val="dk1"/>
                </a:solidFill>
                <a:highlight>
                  <a:schemeClr val="lt1"/>
                </a:highlight>
              </a:rPr>
              <a:t>Save the random split which separates the data by value the best</a:t>
            </a:r>
            <a:r>
              <a:rPr lang="en" sz="2300">
                <a:solidFill>
                  <a:schemeClr val="dk1"/>
                </a:solidFill>
                <a:highlight>
                  <a:srgbClr val="FFFFFF"/>
                </a:highlight>
              </a:rPr>
              <a:t>				 						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11" name="Google Shape;211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3446" y="0"/>
            <a:ext cx="378055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7"/>
          <p:cNvSpPr txBox="1"/>
          <p:nvPr>
            <p:ph idx="1" type="body"/>
          </p:nvPr>
        </p:nvSpPr>
        <p:spPr>
          <a:xfrm>
            <a:off x="311700" y="238539"/>
            <a:ext cx="8520600" cy="43303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722">
                <a:solidFill>
                  <a:schemeClr val="dk1"/>
                </a:solidFill>
              </a:rPr>
              <a:t>		 	 	 		</a:t>
            </a:r>
            <a:endParaRPr sz="722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b="1" lang="en" sz="1720">
                <a:solidFill>
                  <a:schemeClr val="dk1"/>
                </a:solidFill>
                <a:highlight>
                  <a:srgbClr val="FFFFFF"/>
                </a:highlight>
              </a:rPr>
              <a:t>Decision Tree Regression</a:t>
            </a:r>
            <a:r>
              <a:rPr lang="en" sz="1292">
                <a:solidFill>
                  <a:schemeClr val="dk1"/>
                </a:solidFill>
                <a:highlight>
                  <a:srgbClr val="FFFFFF"/>
                </a:highlight>
              </a:rPr>
              <a:t>		</a:t>
            </a:r>
            <a:endParaRPr sz="1292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292">
                <a:solidFill>
                  <a:schemeClr val="dk1"/>
                </a:solidFill>
                <a:highlight>
                  <a:srgbClr val="FFFFFF"/>
                </a:highlight>
              </a:rPr>
              <a:t>										</a:t>
            </a:r>
            <a:endParaRPr sz="1292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530">
                <a:solidFill>
                  <a:schemeClr val="dk1"/>
                </a:solidFill>
                <a:highlight>
                  <a:srgbClr val="FFFFFF"/>
                </a:highlight>
              </a:rPr>
              <a:t>Decision Trees Regression is a very fast algorithm How it works: A two step repeating process</a:t>
            </a:r>
            <a:endParaRPr sz="1292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25755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30"/>
              <a:buAutoNum type="arabicPeriod" startAt="3"/>
            </a:pPr>
            <a:r>
              <a:rPr lang="en" sz="1530">
                <a:solidFill>
                  <a:schemeClr val="dk1"/>
                </a:solidFill>
                <a:highlight>
                  <a:srgbClr val="FFFFFF"/>
                </a:highlight>
              </a:rPr>
              <a:t>Step 3</a:t>
            </a:r>
            <a:endParaRPr sz="153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25755" lvl="1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AutoNum type="arabicPeriod"/>
            </a:pPr>
            <a:r>
              <a:rPr lang="en" sz="1530">
                <a:solidFill>
                  <a:schemeClr val="dk1"/>
                </a:solidFill>
                <a:highlight>
                  <a:srgbClr val="FFFFFF"/>
                </a:highlight>
              </a:rPr>
              <a:t>Take some random samples in the subtree split the dataset in two</a:t>
            </a:r>
            <a:endParaRPr sz="153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25755" lvl="1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AutoNum type="arabicPeriod"/>
            </a:pPr>
            <a:r>
              <a:rPr lang="en" sz="1530">
                <a:solidFill>
                  <a:schemeClr val="dk1"/>
                </a:solidFill>
                <a:highlight>
                  <a:srgbClr val="FFFFFF"/>
                </a:highlight>
              </a:rPr>
              <a:t>Save the random split which separates the data by value the best</a:t>
            </a:r>
            <a:br>
              <a:rPr lang="en" sz="1530">
                <a:solidFill>
                  <a:schemeClr val="dk1"/>
                </a:solidFill>
                <a:highlight>
                  <a:srgbClr val="FFFFFF"/>
                </a:highlight>
              </a:rPr>
            </a:br>
            <a:endParaRPr sz="153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914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530">
                <a:solidFill>
                  <a:schemeClr val="dk1"/>
                </a:solidFill>
                <a:highlight>
                  <a:srgbClr val="FFFFFF"/>
                </a:highlight>
              </a:rPr>
              <a:t>……..</a:t>
            </a:r>
            <a:endParaRPr sz="153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40005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530">
                <a:solidFill>
                  <a:schemeClr val="dk1"/>
                </a:solidFill>
                <a:highlight>
                  <a:schemeClr val="lt1"/>
                </a:highlight>
              </a:rPr>
              <a:t>n. 	Step n</a:t>
            </a:r>
            <a:endParaRPr sz="153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45720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530">
                <a:solidFill>
                  <a:schemeClr val="dk1"/>
                </a:solidFill>
                <a:highlight>
                  <a:schemeClr val="lt1"/>
                </a:highlight>
              </a:rPr>
              <a:t>n.1 Take some random samples in the subtree split the dataset in two</a:t>
            </a:r>
            <a:endParaRPr sz="153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45720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rPr lang="en" sz="1530">
                <a:solidFill>
                  <a:schemeClr val="dk1"/>
                </a:solidFill>
                <a:highlight>
                  <a:schemeClr val="lt1"/>
                </a:highlight>
              </a:rPr>
              <a:t>n.2 Save the random split which separates the data by value the best</a:t>
            </a:r>
            <a:r>
              <a:rPr lang="en" sz="1292">
                <a:solidFill>
                  <a:schemeClr val="dk1"/>
                </a:solidFill>
                <a:highlight>
                  <a:srgbClr val="FFFFFF"/>
                </a:highlight>
              </a:rPr>
              <a:t>				 						</a:t>
            </a:r>
            <a:endParaRPr sz="1055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2000">
                <a:solidFill>
                  <a:schemeClr val="dk1"/>
                </a:solidFill>
                <a:highlight>
                  <a:srgbClr val="FFFFFF"/>
                </a:highlight>
              </a:rPr>
              <a:t>Decision Tree Regression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	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Stop Criteria: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100">
                <a:solidFill>
                  <a:schemeClr val="dk1"/>
                </a:solidFill>
              </a:rPr>
              <a:t>Maximum Depth:</a:t>
            </a:r>
            <a:r>
              <a:rPr lang="en" sz="1100">
                <a:solidFill>
                  <a:schemeClr val="dk1"/>
                </a:solidFill>
              </a:rPr>
              <a:t> Stops growing the tree when the maximum depth is reached.</a:t>
            </a:r>
            <a:endParaRPr sz="11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100">
                <a:solidFill>
                  <a:schemeClr val="dk1"/>
                </a:solidFill>
              </a:rPr>
              <a:t>Minimum Samples per Leaf:</a:t>
            </a:r>
            <a:r>
              <a:rPr lang="en" sz="1100">
                <a:solidFill>
                  <a:schemeClr val="dk1"/>
                </a:solidFill>
              </a:rPr>
              <a:t> Requires a minimum number of samples in each leaf node.</a:t>
            </a:r>
            <a:endParaRPr sz="11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100">
                <a:solidFill>
                  <a:schemeClr val="dk1"/>
                </a:solidFill>
              </a:rPr>
              <a:t>Minimum Samples per Split:</a:t>
            </a:r>
            <a:r>
              <a:rPr lang="en" sz="1100">
                <a:solidFill>
                  <a:schemeClr val="dk1"/>
                </a:solidFill>
              </a:rPr>
              <a:t> Requires a minimum number of samples to attempt a split.</a:t>
            </a:r>
            <a:endParaRPr sz="11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100">
                <a:solidFill>
                  <a:schemeClr val="dk1"/>
                </a:solidFill>
              </a:rPr>
              <a:t>Maximum Number of Nodes:</a:t>
            </a:r>
            <a:r>
              <a:rPr lang="en" sz="1100">
                <a:solidFill>
                  <a:schemeClr val="dk1"/>
                </a:solidFill>
              </a:rPr>
              <a:t> Limits the total number of nodes in the tree.</a:t>
            </a:r>
            <a:endParaRPr sz="11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100">
                <a:solidFill>
                  <a:schemeClr val="dk1"/>
                </a:solidFill>
              </a:rPr>
              <a:t>No Further Split Improves Performance:</a:t>
            </a:r>
            <a:r>
              <a:rPr lang="en" sz="1100">
                <a:solidFill>
                  <a:schemeClr val="dk1"/>
                </a:solidFill>
              </a:rPr>
              <a:t> Stops when no split improves the target metric.</a:t>
            </a:r>
            <a:endParaRPr sz="11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100">
                <a:solidFill>
                  <a:schemeClr val="dk1"/>
                </a:solidFill>
              </a:rPr>
              <a:t>Early Stopping with Cross-Validation:</a:t>
            </a:r>
            <a:r>
              <a:rPr lang="en" sz="1100">
                <a:solidFill>
                  <a:schemeClr val="dk1"/>
                </a:solidFill>
              </a:rPr>
              <a:t> Stops if validation performance does not improve.</a:t>
            </a:r>
            <a:endParaRPr sz="11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100">
                <a:solidFill>
                  <a:schemeClr val="dk1"/>
                </a:solidFill>
              </a:rPr>
              <a:t>Insufficient Data:</a:t>
            </a:r>
            <a:r>
              <a:rPr lang="en" sz="1100">
                <a:solidFill>
                  <a:schemeClr val="dk1"/>
                </a:solidFill>
              </a:rPr>
              <a:t> Stops if a node has too few samples for further splitting.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2000">
                <a:solidFill>
                  <a:schemeClr val="dk1"/>
                </a:solidFill>
                <a:highlight>
                  <a:srgbClr val="FFFFFF"/>
                </a:highlight>
              </a:rPr>
              <a:t>Decision Tree Regression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	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Advantages: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We get a nice, explainable model, easy to understand by humans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Very fast prediction for new samples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2000">
                <a:solidFill>
                  <a:schemeClr val="dk1"/>
                </a:solidFill>
                <a:highlight>
                  <a:srgbClr val="FFFFFF"/>
                </a:highlight>
              </a:rPr>
              <a:t>Decision Tree Regression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	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Disadvantages: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Leaves grow exponentially by depth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Very prone to overfitting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51"/>
          <p:cNvSpPr txBox="1"/>
          <p:nvPr>
            <p:ph type="title"/>
          </p:nvPr>
        </p:nvSpPr>
        <p:spPr>
          <a:xfrm>
            <a:off x="152674" y="21362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Decision Tree Regression Calories</a:t>
            </a:r>
            <a:endParaRPr/>
          </a:p>
        </p:txBody>
      </p:sp>
      <p:pic>
        <p:nvPicPr>
          <p:cNvPr id="237" name="Google Shape;23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2357" y="834890"/>
            <a:ext cx="7103265" cy="4314922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51"/>
          <p:cNvSpPr txBox="1"/>
          <p:nvPr/>
        </p:nvSpPr>
        <p:spPr>
          <a:xfrm>
            <a:off x="197300" y="3285325"/>
            <a:ext cx="1905000" cy="10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4"/>
              </a:rPr>
              <a:t>Code on Colab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3231" y="874642"/>
            <a:ext cx="6209874" cy="4268857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52"/>
          <p:cNvSpPr txBox="1"/>
          <p:nvPr>
            <p:ph type="title"/>
          </p:nvPr>
        </p:nvSpPr>
        <p:spPr>
          <a:xfrm>
            <a:off x="152674" y="21362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Decision Tree Regression Calories</a:t>
            </a:r>
            <a:endParaRPr/>
          </a:p>
        </p:txBody>
      </p:sp>
      <p:sp>
        <p:nvSpPr>
          <p:cNvPr id="245" name="Google Shape;245;p52"/>
          <p:cNvSpPr txBox="1"/>
          <p:nvPr/>
        </p:nvSpPr>
        <p:spPr>
          <a:xfrm>
            <a:off x="197300" y="3285325"/>
            <a:ext cx="1905000" cy="10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4"/>
              </a:rPr>
              <a:t>Code on Colab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Penguins size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California Housing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1" name="Google Shape;251;p53"/>
          <p:cNvSpPr/>
          <p:nvPr/>
        </p:nvSpPr>
        <p:spPr>
          <a:xfrm>
            <a:off x="0" y="3300"/>
            <a:ext cx="9144000" cy="9144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800"/>
              <a:t>3</a:t>
            </a:r>
            <a:r>
              <a:rPr b="0" i="0" lang="en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2800"/>
              <a:t>4</a:t>
            </a:r>
            <a:r>
              <a:rPr b="0" i="0" lang="en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Regression </a:t>
            </a:r>
            <a:r>
              <a:rPr lang="en" sz="2800"/>
              <a:t>implementation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4"/>
          <p:cNvSpPr/>
          <p:nvPr/>
        </p:nvSpPr>
        <p:spPr>
          <a:xfrm>
            <a:off x="0" y="3300"/>
            <a:ext cx="9144000" cy="9144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dk1"/>
                </a:solidFill>
              </a:rPr>
              <a:t>3.5 Final Project Task 2 - Census Data EDA</a:t>
            </a:r>
            <a:endParaRPr sz="2800"/>
          </a:p>
        </p:txBody>
      </p:sp>
      <p:sp>
        <p:nvSpPr>
          <p:cNvPr id="257" name="Google Shape;257;p54"/>
          <p:cNvSpPr txBox="1"/>
          <p:nvPr/>
        </p:nvSpPr>
        <p:spPr>
          <a:xfrm>
            <a:off x="176100" y="1321500"/>
            <a:ext cx="8173800" cy="26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https://github.com/zahariesergiu/ubb-sociology-ml/blob/main/final_project/Final_Project_Task_2_Census_EDA.ipynb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55"/>
          <p:cNvSpPr txBox="1"/>
          <p:nvPr>
            <p:ph idx="1" type="body"/>
          </p:nvPr>
        </p:nvSpPr>
        <p:spPr>
          <a:xfrm>
            <a:off x="231000" y="1455617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lang="en" sz="1300">
                <a:solidFill>
                  <a:schemeClr val="dk1"/>
                </a:solidFill>
              </a:rPr>
              <a:t>#1</a:t>
            </a:r>
            <a:r>
              <a:rPr lang="en"/>
              <a:t> </a:t>
            </a:r>
            <a:r>
              <a:rPr lang="en" sz="1300">
                <a:solidFill>
                  <a:schemeClr val="hlink"/>
                </a:solidFill>
                <a:uFill>
                  <a:noFill/>
                </a:uFill>
                <a:hlinkClick r:id="rId3"/>
              </a:rPr>
              <a:t>Regression Trees explained</a:t>
            </a:r>
            <a:r>
              <a:rPr lang="en" sz="1300">
                <a:solidFill>
                  <a:schemeClr val="dk1"/>
                </a:solidFill>
              </a:rPr>
              <a:t>: </a:t>
            </a:r>
            <a:r>
              <a:rPr lang="en" sz="1300" u="sng">
                <a:solidFill>
                  <a:schemeClr val="hlink"/>
                </a:solidFill>
                <a:hlinkClick r:id="rId4"/>
              </a:rPr>
              <a:t>https://www.youtube.com/watch?v=g9c66TUylZ4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lang="en" sz="1300">
                <a:solidFill>
                  <a:schemeClr val="dk1"/>
                </a:solidFill>
              </a:rPr>
              <a:t>#2</a:t>
            </a:r>
            <a:r>
              <a:rPr lang="en" sz="1300">
                <a:solidFill>
                  <a:schemeClr val="accent5"/>
                </a:solidFill>
              </a:rPr>
              <a:t> </a:t>
            </a:r>
            <a:r>
              <a:rPr lang="en" sz="1300">
                <a:solidFill>
                  <a:schemeClr val="accent5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Decision Trees Split Criteria</a:t>
            </a:r>
            <a:r>
              <a:rPr lang="en" sz="1300">
                <a:solidFill>
                  <a:schemeClr val="accent5"/>
                </a:solidFill>
              </a:rPr>
              <a:t>: </a:t>
            </a:r>
            <a:r>
              <a:rPr lang="en" sz="1300" u="sng">
                <a:solidFill>
                  <a:schemeClr val="accent5"/>
                </a:solidFill>
              </a:rPr>
              <a:t>https://scientistcafe.com/ids/splitting-criteria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lang="en" sz="1300">
                <a:solidFill>
                  <a:schemeClr val="dk1"/>
                </a:solidFill>
              </a:rPr>
              <a:t>#3 </a:t>
            </a:r>
            <a:r>
              <a:rPr lang="en" sz="1300">
                <a:solidFill>
                  <a:schemeClr val="hlink"/>
                </a:solidFill>
                <a:uFill>
                  <a:noFill/>
                </a:uFill>
                <a:hlinkClick r:id="rId6"/>
              </a:rPr>
              <a:t>Self-supervised learning</a:t>
            </a:r>
            <a:r>
              <a:rPr lang="en" sz="1300">
                <a:solidFill>
                  <a:schemeClr val="dk1"/>
                </a:solidFill>
              </a:rPr>
              <a:t>: </a:t>
            </a:r>
            <a:r>
              <a:rPr lang="en" sz="1300" u="sng">
                <a:solidFill>
                  <a:schemeClr val="hlink"/>
                </a:solidFill>
                <a:hlinkClick r:id="rId7"/>
              </a:rPr>
              <a:t>https://ai.meta.com/blog/self-supervised-learning-the-dark-matter-of-intelligence/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lang="en" sz="1300">
                <a:solidFill>
                  <a:schemeClr val="dk1"/>
                </a:solidFill>
              </a:rPr>
              <a:t>#4 </a:t>
            </a:r>
            <a:r>
              <a:rPr lang="en" sz="1300">
                <a:solidFill>
                  <a:schemeClr val="hlink"/>
                </a:solidFill>
                <a:uFill>
                  <a:noFill/>
                </a:uFill>
                <a:hlinkClick r:id="rId8"/>
              </a:rPr>
              <a:t>Feature scaling @ Kaggle</a:t>
            </a:r>
            <a:r>
              <a:rPr lang="en" sz="1300">
                <a:solidFill>
                  <a:schemeClr val="dk1"/>
                </a:solidFill>
              </a:rPr>
              <a:t>: </a:t>
            </a:r>
            <a:r>
              <a:rPr lang="en" sz="1300" u="sng">
                <a:solidFill>
                  <a:schemeClr val="hlink"/>
                </a:solidFill>
                <a:hlinkClick r:id="rId9"/>
              </a:rPr>
              <a:t>https://www.kaggle.com/code/mysarahmadbhat/all-about-feature-scaling/notebook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lang="en" sz="1300">
                <a:solidFill>
                  <a:schemeClr val="dk1"/>
                </a:solidFill>
              </a:rPr>
              <a:t>#5 </a:t>
            </a:r>
            <a:r>
              <a:rPr lang="en" sz="1300">
                <a:solidFill>
                  <a:schemeClr val="hlink"/>
                </a:solidFill>
                <a:uFill>
                  <a:noFill/>
                </a:uFill>
                <a:hlinkClick r:id="rId10"/>
              </a:rPr>
              <a:t>Nature article: statistics and machine learning</a:t>
            </a:r>
            <a:r>
              <a:rPr lang="en" sz="1300">
                <a:solidFill>
                  <a:schemeClr val="dk1"/>
                </a:solidFill>
              </a:rPr>
              <a:t>: </a:t>
            </a:r>
            <a:r>
              <a:rPr lang="en" sz="1300" u="sng">
                <a:solidFill>
                  <a:schemeClr val="hlink"/>
                </a:solidFill>
                <a:hlinkClick r:id="rId11"/>
              </a:rPr>
              <a:t>https://www.nature.com/articles/nmeth.4642?source=post_page-----64b49f07ea3--------------------------------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lang="en" sz="1300">
                <a:solidFill>
                  <a:schemeClr val="dk1"/>
                </a:solidFill>
              </a:rPr>
              <a:t>#6 </a:t>
            </a:r>
            <a:r>
              <a:rPr lang="en" sz="1300">
                <a:solidFill>
                  <a:schemeClr val="hlink"/>
                </a:solidFill>
                <a:uFill>
                  <a:noFill/>
                </a:uFill>
                <a:hlinkClick r:id="rId12"/>
              </a:rPr>
              <a:t>If correlation doesn’t imply causation, then what does?</a:t>
            </a:r>
            <a:r>
              <a:rPr lang="en" sz="1300">
                <a:solidFill>
                  <a:schemeClr val="dk1"/>
                </a:solidFill>
              </a:rPr>
              <a:t>: </a:t>
            </a:r>
            <a:r>
              <a:rPr lang="en" sz="1300" u="sng">
                <a:solidFill>
                  <a:schemeClr val="hlink"/>
                </a:solidFill>
                <a:hlinkClick r:id="rId13"/>
              </a:rPr>
              <a:t>https://michaelnielsen.org/ddi/if-correlation-doesnt-imply-causation-then-what-does/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lang="en" sz="1300">
                <a:solidFill>
                  <a:schemeClr val="dk1"/>
                </a:solidFill>
              </a:rPr>
              <a:t>#7 </a:t>
            </a:r>
            <a:r>
              <a:rPr lang="en" sz="1300">
                <a:solidFill>
                  <a:schemeClr val="hlink"/>
                </a:solidFill>
                <a:uFill>
                  <a:noFill/>
                </a:uFill>
                <a:hlinkClick r:id="rId14"/>
              </a:rPr>
              <a:t>Requirements for talking about cause and effect</a:t>
            </a:r>
            <a:r>
              <a:rPr lang="en" sz="1300">
                <a:solidFill>
                  <a:schemeClr val="dk1"/>
                </a:solidFill>
              </a:rPr>
              <a:t>: </a:t>
            </a:r>
            <a:r>
              <a:rPr lang="en" sz="1300" u="sng">
                <a:solidFill>
                  <a:schemeClr val="hlink"/>
                </a:solidFill>
                <a:hlinkClick r:id="rId15"/>
              </a:rPr>
              <a:t>https://towardsdatascience.com/are-you-guilty-of-using-the-word-experiment-incorrectly-9068baeab7a4</a:t>
            </a:r>
            <a:endParaRPr sz="1300"/>
          </a:p>
        </p:txBody>
      </p:sp>
      <p:sp>
        <p:nvSpPr>
          <p:cNvPr id="263" name="Google Shape;263;p55"/>
          <p:cNvSpPr/>
          <p:nvPr/>
        </p:nvSpPr>
        <p:spPr>
          <a:xfrm>
            <a:off x="0" y="3300"/>
            <a:ext cx="9144000" cy="9144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800"/>
              <a:t>3</a:t>
            </a:r>
            <a:r>
              <a:rPr b="0" i="0" lang="en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2800"/>
              <a:t>6</a:t>
            </a:r>
            <a:r>
              <a:rPr b="0" i="0" lang="en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Further Reading &amp; Questions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6"/>
          <p:cNvSpPr txBox="1"/>
          <p:nvPr>
            <p:ph idx="1" type="subTitle"/>
          </p:nvPr>
        </p:nvSpPr>
        <p:spPr>
          <a:xfrm>
            <a:off x="557650" y="293500"/>
            <a:ext cx="7550100" cy="42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82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8200">
                <a:solidFill>
                  <a:schemeClr val="dk1"/>
                </a:solidFill>
              </a:rPr>
              <a:t>Thank you !!</a:t>
            </a:r>
            <a:endParaRPr b="1" sz="8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200">
                <a:solidFill>
                  <a:schemeClr val="dk1"/>
                </a:solidFill>
              </a:rPr>
              <a:t>Machine Learning Engineer / Data Scientist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200">
                <a:solidFill>
                  <a:schemeClr val="hlink"/>
                </a:solidFill>
                <a:uFill>
                  <a:noFill/>
                </a:uFill>
                <a:hlinkClick r:id="rId3"/>
              </a:rPr>
              <a:t>zahariesergiu@gmail.com</a:t>
            </a:r>
            <a:endParaRPr sz="12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200">
                <a:solidFill>
                  <a:schemeClr val="hlink"/>
                </a:solidFill>
                <a:uFill>
                  <a:noFill/>
                </a:uFill>
                <a:hlinkClick r:id="rId4"/>
              </a:rPr>
              <a:t>https://www.linkedin.com/in/zahariesergiu/</a:t>
            </a:r>
            <a:endParaRPr sz="12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200" u="sng">
                <a:solidFill>
                  <a:schemeClr val="hlink"/>
                </a:solidFill>
                <a:hlinkClick r:id="rId5"/>
              </a:rPr>
              <a:t>https://github.com/zahariesergiu/ubb-sociology-ml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