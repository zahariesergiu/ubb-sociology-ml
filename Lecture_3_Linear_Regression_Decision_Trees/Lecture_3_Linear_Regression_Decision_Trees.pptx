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  <p:sldMasterId id="2147483660" r:id="rId5"/>
    <p:sldMasterId id="2147483672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y="5143500" cx="9144000"/>
  <p:notesSz cx="6858000" cy="9144000"/>
  <p:embeddedFontLst>
    <p:embeddedFont>
      <p:font typeface="IBM Plex Sans"/>
      <p:regular r:id="rId28"/>
      <p:bold r:id="rId29"/>
      <p:italic r:id="rId30"/>
      <p:boldItalic r:id="rId3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32" roundtripDataSignature="AMtx7mjMAp62hViWy21z/7HOwiCShYC8w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font" Target="fonts/IBMPlexSans-regular.fntdata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font" Target="fonts/IBMPlexSans-bold.fntdata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font" Target="fonts/IBMPlexSans-boldItalic.fntdata"/><Relationship Id="rId30" Type="http://schemas.openxmlformats.org/officeDocument/2006/relationships/font" Target="fonts/IBMPlexSans-italic.fntdata"/><Relationship Id="rId11" Type="http://schemas.openxmlformats.org/officeDocument/2006/relationships/slide" Target="slides/slide4.xml"/><Relationship Id="rId10" Type="http://schemas.openxmlformats.org/officeDocument/2006/relationships/slide" Target="slides/slide3.xml"/><Relationship Id="rId32" Type="http://customschemas.google.com/relationships/presentationmetadata" Target="metadata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2" name="Google Shape;14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" name="Google Shape;14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4" name="Google Shape;15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0" name="Google Shape;160;p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" name="Google Shape;16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4" name="Google Shape;19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0" name="Google Shape;200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7" name="Google Shape;207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1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4" name="Google Shape;214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9" name="Google Shape;219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4" name="Google Shape;224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9" name="Google Shape;229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4" name="Google Shape;234;p15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41" name="Google Shape;241;p16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8" name="Google Shape;248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4" name="Google Shape;254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0" name="Google Shape;260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6" name="Google Shape;266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2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" name="Google Shape;16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27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1" name="Google Shape;21;p2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28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28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2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" name="Google Shape;29;p2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30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2" name="Google Shape;32;p30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3" name="Google Shape;33;p3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31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6" name="Google Shape;36;p3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32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32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" name="Google Shape;40;p32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1" name="Google Shape;41;p32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2" name="Google Shape;42;p3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3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5" name="Google Shape;45;p3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34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34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9" name="Google Shape;49;p3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6" name="Google Shape;56;p2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7" name="Google Shape;57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60" name="Google Shape;60;p35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61" name="Google Shape;61;p3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6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64" name="Google Shape;64;p3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7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7" name="Google Shape;67;p3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0" name="Google Shape;70;p3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3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3" name="Google Shape;73;p39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4" name="Google Shape;74;p39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5" name="Google Shape;75;p3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40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8" name="Google Shape;78;p40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9" name="Google Shape;79;p4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4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41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3" name="Google Shape;83;p41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4" name="Google Shape;84;p41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5" name="Google Shape;85;p4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42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88" name="Google Shape;88;p4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43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1" name="Google Shape;91;p43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2" name="Google Shape;92;p4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4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46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01" name="Google Shape;101;p46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02" name="Google Shape;102;p4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7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05" name="Google Shape;105;p4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4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08" name="Google Shape;108;p4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09" name="Google Shape;109;p4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12" name="Google Shape;112;p49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13" name="Google Shape;113;p49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14" name="Google Shape;114;p4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17" name="Google Shape;117;p5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1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20" name="Google Shape;120;p51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21" name="Google Shape;121;p5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2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24" name="Google Shape;124;p5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5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53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28" name="Google Shape;128;p53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29" name="Google Shape;129;p53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30" name="Google Shape;130;p5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54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33" name="Google Shape;133;p5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55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36" name="Google Shape;136;p55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37" name="Google Shape;137;p5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5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_rels/slideMaster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11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32.xml"/><Relationship Id="rId12" Type="http://schemas.openxmlformats.org/officeDocument/2006/relationships/theme" Target="../theme/theme4.xml"/><Relationship Id="rId9" Type="http://schemas.openxmlformats.org/officeDocument/2006/relationships/slideLayout" Target="../slideLayouts/slideLayout31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2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2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4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7" name="Google Shape;97;p4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4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Relationship Id="rId4" Type="http://schemas.openxmlformats.org/officeDocument/2006/relationships/hyperlink" Target="https://colab.research.google.com/drive/1kCXkKY4nelN7Q3FyW9WQ4NdN2gpZcJAh?usp=drive_link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Relationship Id="rId4" Type="http://schemas.openxmlformats.org/officeDocument/2006/relationships/hyperlink" Target="https://colab.research.google.com/drive/1njSNUt5E07dKHRBZarDOLolPEHHFjFKE#scrollTo=6zGaNkJzUo6g" TargetMode="Externa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Relationship Id="rId4" Type="http://schemas.openxmlformats.org/officeDocument/2006/relationships/hyperlink" Target="https://colab.research.google.com/drive/1njSNUt5E07dKHRBZarDOLolPEHHFjFKE#scrollTo=6zGaNkJzUo6g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1" Type="http://schemas.openxmlformats.org/officeDocument/2006/relationships/hyperlink" Target="https://www.nature.com/articles/nmeth.4642?source=post_page-----64b49f07ea3--------------------------------" TargetMode="External"/><Relationship Id="rId10" Type="http://schemas.openxmlformats.org/officeDocument/2006/relationships/hyperlink" Target="https://www.nature.com/articles/nmeth.4642?source=post_page-----64b49f07ea3--------------------------------" TargetMode="External"/><Relationship Id="rId13" Type="http://schemas.openxmlformats.org/officeDocument/2006/relationships/hyperlink" Target="https://michaelnielsen.org/ddi/if-correlation-doesnt-imply-causation-then-what-does/" TargetMode="External"/><Relationship Id="rId12" Type="http://schemas.openxmlformats.org/officeDocument/2006/relationships/hyperlink" Target="https://michaelnielsen.org/ddi/if-correlation-doesnt-imply-causation-then-what-does/" TargetMode="External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www.youtube.com/watch?v=g9c66TUylZ4" TargetMode="External"/><Relationship Id="rId4" Type="http://schemas.openxmlformats.org/officeDocument/2006/relationships/hyperlink" Target="https://www.youtube.com/watch?v=g9c66TUylZ4" TargetMode="External"/><Relationship Id="rId9" Type="http://schemas.openxmlformats.org/officeDocument/2006/relationships/hyperlink" Target="https://www.kaggle.com/code/mysarahmadbhat/all-about-feature-scaling/notebook" TargetMode="External"/><Relationship Id="rId15" Type="http://schemas.openxmlformats.org/officeDocument/2006/relationships/hyperlink" Target="https://towardsdatascience.com/are-you-guilty-of-using-the-word-experiment-incorrectly-9068baeab7a4" TargetMode="External"/><Relationship Id="rId14" Type="http://schemas.openxmlformats.org/officeDocument/2006/relationships/hyperlink" Target="https://towardsdatascience.com/are-you-guilty-of-using-the-word-experiment-incorrectly-9068baeab7a4" TargetMode="External"/><Relationship Id="rId5" Type="http://schemas.openxmlformats.org/officeDocument/2006/relationships/hyperlink" Target="https://scientistcafe.com/ids/splitting-criteria" TargetMode="External"/><Relationship Id="rId6" Type="http://schemas.openxmlformats.org/officeDocument/2006/relationships/hyperlink" Target="https://ai.meta.com/blog/self-supervised-learning-the-dark-matter-of-intelligence/" TargetMode="External"/><Relationship Id="rId7" Type="http://schemas.openxmlformats.org/officeDocument/2006/relationships/hyperlink" Target="https://ai.meta.com/blog/self-supervised-learning-the-dark-matter-of-intelligence/" TargetMode="External"/><Relationship Id="rId8" Type="http://schemas.openxmlformats.org/officeDocument/2006/relationships/hyperlink" Target="https://www.kaggle.com/code/mysarahmadbhat/all-about-feature-scaling/notebook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zahariesergiu@gmail.com" TargetMode="External"/><Relationship Id="rId4" Type="http://schemas.openxmlformats.org/officeDocument/2006/relationships/hyperlink" Target="https://www.linkedin.com/in/zahariesergiu/" TargetMode="External"/><Relationship Id="rId5" Type="http://schemas.openxmlformats.org/officeDocument/2006/relationships/hyperlink" Target="https://github.com/zahariesergiu/ubb-sociology-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"/>
          <p:cNvSpPr txBox="1"/>
          <p:nvPr>
            <p:ph type="ctrTitle"/>
          </p:nvPr>
        </p:nvSpPr>
        <p:spPr>
          <a:xfrm>
            <a:off x="311700" y="377425"/>
            <a:ext cx="8634600" cy="313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highlight>
                  <a:srgbClr val="FFFFFF"/>
                </a:highlight>
              </a:rPr>
              <a:t>			</a:t>
            </a:r>
            <a:endParaRPr sz="1100">
              <a:highlight>
                <a:srgbClr val="FFFFFF"/>
              </a:highlight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b="1" lang="en" sz="4400">
                <a:highlight>
                  <a:srgbClr val="FFFFFF"/>
                </a:highlight>
              </a:rPr>
              <a:t>Machine learning:</a:t>
            </a:r>
            <a:endParaRPr b="1" sz="4400">
              <a:highlight>
                <a:srgbClr val="FFFFFF"/>
              </a:highlight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b="1" lang="en" sz="4400">
                <a:highlight>
                  <a:srgbClr val="FFFFFF"/>
                </a:highlight>
              </a:rPr>
              <a:t>prediction,</a:t>
            </a:r>
            <a:endParaRPr b="1" sz="4400">
              <a:highlight>
                <a:srgbClr val="FFFFFF"/>
              </a:highlight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b="1" lang="en" sz="4400">
                <a:highlight>
                  <a:srgbClr val="FFFFFF"/>
                </a:highlight>
              </a:rPr>
              <a:t>classification and</a:t>
            </a:r>
            <a:endParaRPr b="1" sz="4400">
              <a:highlight>
                <a:srgbClr val="FFFFFF"/>
              </a:highlight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b="1" lang="en" sz="4400">
                <a:highlight>
                  <a:srgbClr val="FFFFFF"/>
                </a:highlight>
              </a:rPr>
              <a:t>clustering</a:t>
            </a:r>
            <a:endParaRPr sz="4400"/>
          </a:p>
        </p:txBody>
      </p:sp>
      <p:sp>
        <p:nvSpPr>
          <p:cNvPr id="145" name="Google Shape;145;p1"/>
          <p:cNvSpPr txBox="1"/>
          <p:nvPr>
            <p:ph idx="1" type="subTitle"/>
          </p:nvPr>
        </p:nvSpPr>
        <p:spPr>
          <a:xfrm>
            <a:off x="311700" y="3552150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8205"/>
              <a:buFont typeface="Arial"/>
              <a:buNone/>
            </a:pPr>
            <a:r>
              <a:rPr b="1" lang="en" sz="3900">
                <a:solidFill>
                  <a:schemeClr val="dk1"/>
                </a:solidFill>
                <a:highlight>
                  <a:srgbClr val="FFFFFF"/>
                </a:highlight>
              </a:rPr>
              <a:t>UBB Faculty of Sociology</a:t>
            </a:r>
            <a:endParaRPr b="1" sz="39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b="1" lang="en"/>
              <a:t>Course Agenda</a:t>
            </a:r>
            <a:endParaRPr b="1"/>
          </a:p>
        </p:txBody>
      </p:sp>
      <p:sp>
        <p:nvSpPr>
          <p:cNvPr id="151" name="Google Shape;151;p2"/>
          <p:cNvSpPr txBox="1"/>
          <p:nvPr>
            <p:ph idx="1" type="body"/>
          </p:nvPr>
        </p:nvSpPr>
        <p:spPr>
          <a:xfrm>
            <a:off x="87925" y="1152475"/>
            <a:ext cx="87444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946"/>
              <a:buNone/>
            </a:pPr>
            <a:r>
              <a:rPr b="1" lang="en" sz="2000">
                <a:solidFill>
                  <a:schemeClr val="dk1"/>
                </a:solidFill>
              </a:rPr>
              <a:t>#1  Intro, Simple Linear Regression</a:t>
            </a:r>
            <a:endParaRPr b="1" sz="2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946"/>
              <a:buNone/>
            </a:pPr>
            <a:r>
              <a:rPr b="1" lang="en" sz="2000">
                <a:solidFill>
                  <a:schemeClr val="dk1"/>
                </a:solidFill>
                <a:highlight>
                  <a:srgbClr val="F6F1EE"/>
                </a:highlight>
              </a:rPr>
              <a:t>#2  Python recap, Git, Handling data, EDA</a:t>
            </a:r>
            <a:endParaRPr b="1" sz="2000">
              <a:solidFill>
                <a:schemeClr val="dk1"/>
              </a:solidFill>
              <a:highlight>
                <a:srgbClr val="F6F1EE"/>
              </a:highlight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946"/>
              <a:buNone/>
            </a:pPr>
            <a:r>
              <a:rPr b="1" lang="en" sz="2000">
                <a:solidFill>
                  <a:schemeClr val="dk1"/>
                </a:solidFill>
                <a:highlight>
                  <a:srgbClr val="FFE289"/>
                </a:highlight>
              </a:rPr>
              <a:t>#3  Regression, Decision Trees</a:t>
            </a:r>
            <a:endParaRPr b="1" sz="2000">
              <a:solidFill>
                <a:schemeClr val="dk1"/>
              </a:solidFill>
              <a:highlight>
                <a:srgbClr val="FFE289"/>
              </a:highlight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946"/>
              <a:buNone/>
            </a:pPr>
            <a:r>
              <a:rPr b="1" lang="en" sz="2000">
                <a:solidFill>
                  <a:schemeClr val="dk1"/>
                </a:solidFill>
                <a:highlight>
                  <a:srgbClr val="F6F1EE"/>
                </a:highlight>
              </a:rPr>
              <a:t>#4  Bias, Variance,  Overfitting, Classification, Metrics</a:t>
            </a:r>
            <a:endParaRPr b="1" sz="2000">
              <a:solidFill>
                <a:schemeClr val="dk1"/>
              </a:solidFill>
              <a:highlight>
                <a:srgbClr val="F6F1EE"/>
              </a:highlight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946"/>
              <a:buNone/>
            </a:pPr>
            <a:r>
              <a:rPr b="1" lang="en" sz="2000">
                <a:solidFill>
                  <a:schemeClr val="dk1"/>
                </a:solidFill>
                <a:highlight>
                  <a:srgbClr val="F6F1EE"/>
                </a:highlight>
              </a:rPr>
              <a:t>#5  Random Forest Classifier, Clustering</a:t>
            </a:r>
            <a:endParaRPr b="1" sz="2000">
              <a:solidFill>
                <a:schemeClr val="dk1"/>
              </a:solidFill>
              <a:highlight>
                <a:srgbClr val="F6F1EE"/>
              </a:highlight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946"/>
              <a:buNone/>
            </a:pPr>
            <a:r>
              <a:rPr b="1" lang="en" sz="2000">
                <a:solidFill>
                  <a:schemeClr val="dk1"/>
                </a:solidFill>
                <a:highlight>
                  <a:srgbClr val="F6F1EE"/>
                </a:highlight>
              </a:rPr>
              <a:t>#6  Neural Newtorks</a:t>
            </a:r>
            <a:endParaRPr b="1" sz="2000">
              <a:solidFill>
                <a:schemeClr val="dk1"/>
              </a:solidFill>
              <a:highlight>
                <a:srgbClr val="F6F1EE"/>
              </a:highlight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946"/>
              <a:buNone/>
            </a:pPr>
            <a:r>
              <a:rPr b="1" lang="en" sz="2000">
                <a:solidFill>
                  <a:schemeClr val="dk1"/>
                </a:solidFill>
                <a:highlight>
                  <a:srgbClr val="F6F1EE"/>
                </a:highlight>
              </a:rPr>
              <a:t>#7  Help Final Project</a:t>
            </a:r>
            <a:endParaRPr b="1" sz="2000">
              <a:solidFill>
                <a:schemeClr val="dk1"/>
              </a:solidFill>
              <a:highlight>
                <a:srgbClr val="F6F1EE"/>
              </a:highlight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946"/>
              <a:buNone/>
            </a:pPr>
            <a:r>
              <a:rPr b="1" lang="en" sz="2000">
                <a:solidFill>
                  <a:schemeClr val="dk1"/>
                </a:solidFill>
                <a:highlight>
                  <a:srgbClr val="F6F1EE"/>
                </a:highlight>
              </a:rPr>
              <a:t>#8  Help Final Project</a:t>
            </a:r>
            <a:endParaRPr b="1">
              <a:solidFill>
                <a:schemeClr val="dk1"/>
              </a:solidFill>
              <a:highlight>
                <a:srgbClr val="F6F1EE"/>
              </a:highlight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"/>
          <p:cNvSpPr txBox="1"/>
          <p:nvPr>
            <p:ph idx="1" type="body"/>
          </p:nvPr>
        </p:nvSpPr>
        <p:spPr>
          <a:xfrm>
            <a:off x="311700" y="58625"/>
            <a:ext cx="8520600" cy="232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46"/>
              <a:buNone/>
            </a:pPr>
            <a:r>
              <a:rPr b="1" lang="en" sz="6000">
                <a:solidFill>
                  <a:schemeClr val="dk1"/>
                </a:solidFill>
                <a:highlight>
                  <a:srgbClr val="F6F1EE"/>
                </a:highlight>
              </a:rPr>
              <a:t>3. Linear Regression, Decision Trees</a:t>
            </a:r>
            <a:endParaRPr sz="6000">
              <a:solidFill>
                <a:schemeClr val="dk1"/>
              </a:solidFill>
              <a:highlight>
                <a:srgbClr val="F6F1EE"/>
              </a:highlight>
            </a:endParaRPr>
          </a:p>
        </p:txBody>
      </p:sp>
      <p:sp>
        <p:nvSpPr>
          <p:cNvPr id="157" name="Google Shape;157;p3"/>
          <p:cNvSpPr txBox="1"/>
          <p:nvPr/>
        </p:nvSpPr>
        <p:spPr>
          <a:xfrm>
            <a:off x="381525" y="2576725"/>
            <a:ext cx="6031200" cy="245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b="0" i="0" lang="en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#3.1  Catch up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b="0" i="0" lang="en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#3.2  Linear Regression recap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b="0" i="0" lang="en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#3.3  Decision Trees Regression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b="0" i="0" lang="en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#3.4  Regression implementation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b="0" i="0" lang="en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#3.5  Final Project Task 2 - Census Data EDA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#3.6  Questions &amp; Further reading</a:t>
            </a:r>
            <a:endParaRPr b="0" i="0" sz="192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4"/>
          <p:cNvSpPr/>
          <p:nvPr/>
        </p:nvSpPr>
        <p:spPr>
          <a:xfrm>
            <a:off x="367751" y="850125"/>
            <a:ext cx="7240505" cy="4092864"/>
          </a:xfrm>
          <a:custGeom>
            <a:rect b="b" l="l" r="r" t="t"/>
            <a:pathLst>
              <a:path extrusionOk="0" h="4092864" w="7240505">
                <a:moveTo>
                  <a:pt x="0" y="0"/>
                </a:moveTo>
                <a:lnTo>
                  <a:pt x="7240505" y="0"/>
                </a:lnTo>
                <a:lnTo>
                  <a:pt x="7240505" y="4092864"/>
                </a:lnTo>
                <a:lnTo>
                  <a:pt x="0" y="409286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63" name="Google Shape;163;p4"/>
          <p:cNvSpPr txBox="1"/>
          <p:nvPr/>
        </p:nvSpPr>
        <p:spPr>
          <a:xfrm>
            <a:off x="658675" y="1451125"/>
            <a:ext cx="7185000" cy="112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 one thing that stood out to you: 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45720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one thing you found surprising / interesting / useful etc.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4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C9DAF8"/>
          </a:solidFill>
          <a:ln cap="flat" cmpd="sng" w="9525">
            <a:solidFill>
              <a:srgbClr val="C9DAF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45720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3.1 Catch up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"/>
          <p:cNvSpPr txBox="1"/>
          <p:nvPr>
            <p:ph type="title"/>
          </p:nvPr>
        </p:nvSpPr>
        <p:spPr>
          <a:xfrm>
            <a:off x="205393" y="834625"/>
            <a:ext cx="3710400" cy="63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Predict calories</a:t>
            </a:r>
            <a:endParaRPr/>
          </a:p>
        </p:txBody>
      </p:sp>
      <p:sp>
        <p:nvSpPr>
          <p:cNvPr id="170" name="Google Shape;170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786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r>
              <a:t/>
            </a:r>
            <a:endParaRPr/>
          </a:p>
        </p:txBody>
      </p:sp>
      <p:pic>
        <p:nvPicPr>
          <p:cNvPr id="171" name="Google Shape;171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6119" y="1311313"/>
            <a:ext cx="6111451" cy="3828519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5"/>
          <p:cNvSpPr txBox="1"/>
          <p:nvPr/>
        </p:nvSpPr>
        <p:spPr>
          <a:xfrm>
            <a:off x="6518296" y="3153641"/>
            <a:ext cx="2180400" cy="9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How lines work: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Calories =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F2BFB7"/>
                </a:solidFill>
                <a:latin typeface="IBM Plex Sans"/>
                <a:ea typeface="IBM Plex Sans"/>
                <a:cs typeface="IBM Plex Sans"/>
                <a:sym typeface="IBM Plex Sans"/>
              </a:rPr>
              <a:t>Slope </a:t>
            </a:r>
            <a:r>
              <a:rPr b="0" i="0" lang="en" sz="1400" u="none" cap="none" strike="noStrik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* Weight + </a:t>
            </a:r>
            <a:r>
              <a:rPr b="0" i="0" lang="en" sz="1400" u="none" cap="none" strike="noStrike">
                <a:solidFill>
                  <a:srgbClr val="F2BFB7"/>
                </a:solidFill>
                <a:latin typeface="IBM Plex Sans"/>
                <a:ea typeface="IBM Plex Sans"/>
                <a:cs typeface="IBM Plex Sans"/>
                <a:sym typeface="IBM Plex Sans"/>
              </a:rPr>
              <a:t>Intercept</a:t>
            </a:r>
            <a:r>
              <a:rPr b="0" i="0" lang="en" sz="1400" u="none" cap="none" strike="noStrik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5"/>
          <p:cNvSpPr txBox="1"/>
          <p:nvPr/>
        </p:nvSpPr>
        <p:spPr>
          <a:xfrm>
            <a:off x="6624604" y="1152475"/>
            <a:ext cx="14898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Eq of the line:</a:t>
            </a:r>
            <a:br>
              <a:rPr b="0" i="0" lang="e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y = ax + b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Where: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a: slope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b: intercept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x: data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5"/>
          <p:cNvSpPr/>
          <p:nvPr/>
        </p:nvSpPr>
        <p:spPr>
          <a:xfrm>
            <a:off x="0" y="3300"/>
            <a:ext cx="9144000" cy="914400"/>
          </a:xfrm>
          <a:prstGeom prst="rect">
            <a:avLst/>
          </a:prstGeom>
          <a:solidFill>
            <a:srgbClr val="C9DAF8"/>
          </a:solidFill>
          <a:ln cap="flat" cmpd="sng" w="9525">
            <a:solidFill>
              <a:srgbClr val="C9DAF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45720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3.2 Linear Regression recap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"/>
              <a:t>Predict the calories</a:t>
            </a:r>
            <a:endParaRPr/>
          </a:p>
        </p:txBody>
      </p:sp>
      <p:sp>
        <p:nvSpPr>
          <p:cNvPr id="180" name="Google Shape;180;p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16875"/>
              <a:buNone/>
            </a:pPr>
            <a:r>
              <a:rPr lang="en">
                <a:solidFill>
                  <a:schemeClr val="dk1"/>
                </a:solidFill>
              </a:rPr>
              <a:t>Calories for 15 apple pie slices: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6875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04354"/>
              <a:buNone/>
            </a:pPr>
            <a:r>
              <a:rPr lang="en" sz="2016">
                <a:solidFill>
                  <a:schemeClr val="dk1"/>
                </a:solidFill>
              </a:rPr>
              <a:t>148, 154, 167, 176, 176, </a:t>
            </a:r>
            <a:endParaRPr sz="2016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04354"/>
              <a:buNone/>
            </a:pPr>
            <a:r>
              <a:rPr lang="en" sz="2016">
                <a:solidFill>
                  <a:schemeClr val="dk1"/>
                </a:solidFill>
              </a:rPr>
              <a:t>191, 203, </a:t>
            </a:r>
            <a:r>
              <a:rPr b="1" lang="en" sz="2016">
                <a:solidFill>
                  <a:schemeClr val="dk1"/>
                </a:solidFill>
              </a:rPr>
              <a:t>207</a:t>
            </a:r>
            <a:r>
              <a:rPr lang="en" sz="2016">
                <a:solidFill>
                  <a:schemeClr val="dk1"/>
                </a:solidFill>
              </a:rPr>
              <a:t>, 227, 230, </a:t>
            </a:r>
            <a:endParaRPr sz="2016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04354"/>
              <a:buNone/>
            </a:pPr>
            <a:r>
              <a:rPr lang="en" sz="2016">
                <a:solidFill>
                  <a:schemeClr val="dk1"/>
                </a:solidFill>
              </a:rPr>
              <a:t>245, 251, 259, 290, 503</a:t>
            </a:r>
            <a:endParaRPr sz="2016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91253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7793"/>
              <a:buNone/>
            </a:pPr>
            <a:r>
              <a:rPr lang="en" sz="1786">
                <a:solidFill>
                  <a:schemeClr val="dk1"/>
                </a:solidFill>
              </a:rPr>
              <a:t>Mean: 228,47 </a:t>
            </a:r>
            <a:endParaRPr sz="1786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ct val="117793"/>
              <a:buNone/>
            </a:pPr>
            <a:r>
              <a:rPr lang="en" sz="1786">
                <a:solidFill>
                  <a:schemeClr val="dk1"/>
                </a:solidFill>
              </a:rPr>
              <a:t>Median: 207</a:t>
            </a:r>
            <a:endParaRPr>
              <a:solidFill>
                <a:schemeClr val="dk1"/>
              </a:solidFill>
            </a:endParaRPr>
          </a:p>
        </p:txBody>
      </p:sp>
      <p:pic>
        <p:nvPicPr>
          <p:cNvPr id="181" name="Google Shape;181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66820" y="846404"/>
            <a:ext cx="3746500" cy="36449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7"/>
          <p:cNvSpPr txBox="1"/>
          <p:nvPr>
            <p:ph type="title"/>
          </p:nvPr>
        </p:nvSpPr>
        <p:spPr>
          <a:xfrm>
            <a:off x="311699" y="445025"/>
            <a:ext cx="3710400" cy="63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Predict calories</a:t>
            </a:r>
            <a:endParaRPr/>
          </a:p>
        </p:txBody>
      </p:sp>
      <p:sp>
        <p:nvSpPr>
          <p:cNvPr id="187" name="Google Shape;187;p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786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r>
              <a:t/>
            </a:r>
            <a:endParaRPr/>
          </a:p>
        </p:txBody>
      </p:sp>
      <p:sp>
        <p:nvSpPr>
          <p:cNvPr id="188" name="Google Shape;188;p7"/>
          <p:cNvSpPr txBox="1"/>
          <p:nvPr/>
        </p:nvSpPr>
        <p:spPr>
          <a:xfrm>
            <a:off x="6518296" y="3153641"/>
            <a:ext cx="21804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How lines work: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Calories =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1.19*</a:t>
            </a:r>
            <a:r>
              <a:rPr b="0" i="0" lang="en" sz="1400" u="none" cap="none" strike="noStrike">
                <a:solidFill>
                  <a:srgbClr val="F2BFB7"/>
                </a:solidFill>
                <a:latin typeface="IBM Plex Sans"/>
                <a:ea typeface="IBM Plex Sans"/>
                <a:cs typeface="IBM Plex Sans"/>
                <a:sym typeface="IBM Plex Sans"/>
              </a:rPr>
              <a:t>20</a:t>
            </a:r>
            <a:r>
              <a:rPr b="0" i="0" lang="en" sz="1400" u="none" cap="none" strike="noStrik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+ </a:t>
            </a:r>
            <a:r>
              <a:rPr b="0" i="0" lang="en" sz="14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106.2=131</a:t>
            </a:r>
            <a:endParaRPr b="0" i="0" sz="1400" u="none" cap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189" name="Google Shape;189;p7"/>
          <p:cNvSpPr txBox="1"/>
          <p:nvPr/>
        </p:nvSpPr>
        <p:spPr>
          <a:xfrm>
            <a:off x="6624604" y="1152475"/>
            <a:ext cx="14898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Eq of the line:</a:t>
            </a:r>
            <a:br>
              <a:rPr b="0" i="0" lang="e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y = ax + b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Where: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a: slope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b: intercept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x: data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0" name="Google Shape;190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1699" y="1080655"/>
            <a:ext cx="6014126" cy="4062845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7"/>
          <p:cNvSpPr txBox="1"/>
          <p:nvPr/>
        </p:nvSpPr>
        <p:spPr>
          <a:xfrm>
            <a:off x="6449004" y="4568875"/>
            <a:ext cx="18411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Code on Colab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8"/>
          <p:cNvSpPr txBox="1"/>
          <p:nvPr/>
        </p:nvSpPr>
        <p:spPr>
          <a:xfrm>
            <a:off x="311700" y="371550"/>
            <a:ext cx="8520600" cy="419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b="1" i="0" lang="en" sz="2000" u="none" cap="none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Data is not always linear</a:t>
            </a:r>
            <a:endParaRPr b="1" i="0" sz="2000" u="none" cap="none" strike="noStrike">
              <a:solidFill>
                <a:srgbClr val="000000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b="1" i="0" lang="en" sz="2000" u="none" cap="none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No problem!</a:t>
            </a:r>
            <a:r>
              <a:rPr b="0" i="0" lang="en" sz="1100" u="none" cap="none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						</a:t>
            </a:r>
            <a:endParaRPr b="0" i="0" sz="1100" u="none" cap="none" strike="noStrike">
              <a:solidFill>
                <a:srgbClr val="000000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b="0" i="0" lang="en" sz="1600" u="none" cap="none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There are non-linear regression models:</a:t>
            </a:r>
            <a:r>
              <a:rPr b="0" i="0" lang="en" sz="1100" u="none" cap="none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		</a:t>
            </a:r>
            <a:endParaRPr b="0" i="0" sz="1100" u="none" cap="none" strike="noStrike">
              <a:solidFill>
                <a:srgbClr val="000000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-228600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b="0" i="0" lang="en" sz="1100" u="none" cap="none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							 								</a:t>
            </a:r>
            <a:br>
              <a:rPr b="0" i="0" lang="en" sz="1100" u="none" cap="none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</a:br>
            <a:r>
              <a:rPr b="0" i="0" lang="en" sz="1800" u="none" cap="none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●  </a:t>
            </a:r>
            <a:r>
              <a:rPr b="0" i="0" lang="en" sz="1600" u="none" cap="none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Decision Tree Regression</a:t>
            </a:r>
            <a:br>
              <a:rPr b="0" i="0" lang="en" sz="1600" u="none" cap="none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</a:br>
            <a:r>
              <a:rPr b="0" i="0" lang="en" sz="1600" u="none" cap="none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" sz="1100" u="none" cap="none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							</a:t>
            </a:r>
            <a:endParaRPr b="0" i="0" sz="1100" u="none" cap="none" strike="noStrike">
              <a:solidFill>
                <a:srgbClr val="000000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b="0" i="0" lang="en" sz="1100" u="none" cap="none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							 								</a:t>
            </a:r>
            <a:br>
              <a:rPr b="0" i="0" lang="en" sz="1100" u="none" cap="none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</a:br>
            <a:r>
              <a:rPr b="0" i="0" lang="en" sz="1600" u="none" cap="none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●  SVM with non-linear kernels</a:t>
            </a:r>
            <a:br>
              <a:rPr b="0" i="0" lang="en" sz="1600" u="none" cap="none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</a:br>
            <a:r>
              <a:rPr b="0" i="0" lang="en" sz="1600" u="none" cap="none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" sz="1100" u="none" cap="none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							</a:t>
            </a:r>
            <a:endParaRPr b="0" i="0" sz="1100" u="none" cap="none" strike="noStrike">
              <a:solidFill>
                <a:srgbClr val="000000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b="0" i="0" lang="en" sz="1100" u="none" cap="none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							 								</a:t>
            </a:r>
            <a:br>
              <a:rPr b="0" i="0" lang="en" sz="1100" u="none" cap="none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</a:br>
            <a:r>
              <a:rPr b="0" i="0" lang="en" sz="1600" u="none" cap="none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●  Neural networks</a:t>
            </a:r>
            <a:br>
              <a:rPr b="0" i="0" lang="en" sz="1600" u="none" cap="none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</a:br>
            <a:r>
              <a:rPr b="0" i="0" lang="en" sz="1600" u="none" cap="none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" sz="1100" u="none" cap="none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							</a:t>
            </a:r>
            <a:endParaRPr b="0" i="0" sz="1100" u="none" cap="none" strike="noStrike">
              <a:solidFill>
                <a:srgbClr val="000000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b="0" i="0" lang="en" sz="1100" u="none" cap="none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							 								</a:t>
            </a:r>
            <a:br>
              <a:rPr b="0" i="0" lang="en" sz="1100" u="none" cap="none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</a:br>
            <a:r>
              <a:rPr b="0" i="0" lang="en" sz="1600" u="none" cap="none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●  KNN</a:t>
            </a:r>
            <a:br>
              <a:rPr b="0" i="0" lang="en" sz="1600" u="none" cap="none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</a:br>
            <a:r>
              <a:rPr b="0" i="0" lang="en" sz="1600" u="none" cap="none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" sz="1100" u="none" cap="none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							</a:t>
            </a:r>
            <a:endParaRPr b="0" i="0" sz="1100" u="none" cap="none" strike="noStrike">
              <a:solidFill>
                <a:srgbClr val="000000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b="0" i="0" lang="en" sz="1100" u="none" cap="none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							 								</a:t>
            </a:r>
            <a:br>
              <a:rPr b="0" i="0" lang="en" sz="1100" u="none" cap="none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</a:br>
            <a:r>
              <a:rPr b="0" i="0" lang="en" sz="1600" u="none" cap="none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●  Ensemble methods </a:t>
            </a:r>
            <a:endParaRPr b="0" i="0" sz="1800" u="none" cap="none" strike="noStrike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7" name="Google Shape;197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92013" y="1238248"/>
            <a:ext cx="4779046" cy="33306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9"/>
          <p:cNvSpPr txBox="1"/>
          <p:nvPr>
            <p:ph idx="1" type="body"/>
          </p:nvPr>
        </p:nvSpPr>
        <p:spPr>
          <a:xfrm>
            <a:off x="311700" y="1152475"/>
            <a:ext cx="5166749" cy="35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40000"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" sz="1100">
                <a:solidFill>
                  <a:schemeClr val="dk1"/>
                </a:solidFill>
              </a:rPr>
              <a:t>		 	 	 		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34375"/>
              <a:buFont typeface="Arial"/>
              <a:buNone/>
            </a:pPr>
            <a:r>
              <a:rPr b="1" lang="en" sz="3200">
                <a:solidFill>
                  <a:schemeClr val="dk1"/>
                </a:solidFill>
                <a:highlight>
                  <a:srgbClr val="FFFFFF"/>
                </a:highlight>
              </a:rPr>
              <a:t>Decision Tree Regression</a:t>
            </a:r>
            <a:r>
              <a:rPr lang="en" sz="2300">
                <a:solidFill>
                  <a:schemeClr val="dk1"/>
                </a:solidFill>
                <a:highlight>
                  <a:srgbClr val="FFFFFF"/>
                </a:highlight>
              </a:rPr>
              <a:t>		</a:t>
            </a:r>
            <a:endParaRPr sz="23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7826"/>
              <a:buFont typeface="Arial"/>
              <a:buNone/>
            </a:pPr>
            <a:r>
              <a:rPr lang="en" sz="2300">
                <a:solidFill>
                  <a:schemeClr val="dk1"/>
                </a:solidFill>
                <a:highlight>
                  <a:srgbClr val="FFFFFF"/>
                </a:highlight>
              </a:rPr>
              <a:t>										</a:t>
            </a:r>
            <a:endParaRPr sz="23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ct val="160714"/>
              <a:buNone/>
            </a:pPr>
            <a:r>
              <a:rPr lang="en" sz="2800">
                <a:solidFill>
                  <a:schemeClr val="dk1"/>
                </a:solidFill>
                <a:highlight>
                  <a:srgbClr val="FFFFFF"/>
                </a:highlight>
              </a:rPr>
              <a:t>Decision Trees Regression is a very fast algorithm How it works: A two step repeating process</a:t>
            </a:r>
            <a:endParaRPr sz="23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-299720" lvl="0" marL="4572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100000"/>
              <a:buAutoNum type="arabicPeriod"/>
            </a:pPr>
            <a:r>
              <a:rPr lang="en" sz="2800">
                <a:solidFill>
                  <a:schemeClr val="dk1"/>
                </a:solidFill>
                <a:highlight>
                  <a:srgbClr val="FFFFFF"/>
                </a:highlight>
              </a:rPr>
              <a:t>Evaluate potential split points to divide the dataset in two.</a:t>
            </a:r>
            <a:endParaRPr sz="28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-29972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3703"/>
              <a:buAutoNum type="arabicPeriod"/>
            </a:pPr>
            <a:r>
              <a:rPr lang="en" sz="2700">
                <a:solidFill>
                  <a:schemeClr val="dk1"/>
                </a:solidFill>
              </a:rPr>
              <a:t>Save the split that minimizes the error (Mean Squared Error) best.</a:t>
            </a:r>
            <a:br>
              <a:rPr lang="en" sz="2700">
                <a:solidFill>
                  <a:schemeClr val="dk1"/>
                </a:solidFill>
                <a:highlight>
                  <a:srgbClr val="FFFFFF"/>
                </a:highlight>
              </a:rPr>
            </a:br>
            <a:r>
              <a:rPr lang="en" sz="2700">
                <a:solidFill>
                  <a:schemeClr val="dk1"/>
                </a:solidFill>
                <a:highlight>
                  <a:srgbClr val="FFFFFF"/>
                </a:highlight>
              </a:rPr>
              <a:t>					 						</a:t>
            </a:r>
            <a:endParaRPr sz="27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 sz="2800">
                <a:solidFill>
                  <a:schemeClr val="dk1"/>
                </a:solidFill>
                <a:highlight>
                  <a:srgbClr val="FFFFFF"/>
                </a:highlight>
              </a:rPr>
              <a:t>Then, repeat for the newly created subtrees </a:t>
            </a:r>
            <a:endParaRPr sz="28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" sz="1100">
                <a:solidFill>
                  <a:schemeClr val="dk1"/>
                </a:solidFill>
                <a:highlight>
                  <a:srgbClr val="FFFFFF"/>
                </a:highlight>
              </a:rPr>
              <a:t>					</a:t>
            </a:r>
            <a:endParaRPr sz="11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" sz="1100">
                <a:solidFill>
                  <a:schemeClr val="dk1"/>
                </a:solidFill>
                <a:highlight>
                  <a:srgbClr val="FFFFFF"/>
                </a:highlight>
              </a:rPr>
              <a:t>				</a:t>
            </a:r>
            <a:endParaRPr sz="11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" sz="1100">
                <a:solidFill>
                  <a:schemeClr val="dk1"/>
                </a:solidFill>
                <a:highlight>
                  <a:srgbClr val="FFFFFF"/>
                </a:highlight>
              </a:rPr>
              <a:t>			</a:t>
            </a:r>
            <a:endParaRPr sz="11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" sz="1100">
                <a:solidFill>
                  <a:schemeClr val="dk1"/>
                </a:solidFill>
              </a:rPr>
              <a:t>		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ct val="250000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  <p:pic>
        <p:nvPicPr>
          <p:cNvPr id="203" name="Google Shape;203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7878" y="795130"/>
            <a:ext cx="3196121" cy="4348370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9"/>
          <p:cNvSpPr/>
          <p:nvPr/>
        </p:nvSpPr>
        <p:spPr>
          <a:xfrm>
            <a:off x="0" y="3300"/>
            <a:ext cx="9144000" cy="914400"/>
          </a:xfrm>
          <a:prstGeom prst="rect">
            <a:avLst/>
          </a:prstGeom>
          <a:solidFill>
            <a:srgbClr val="C9DAF8"/>
          </a:solidFill>
          <a:ln cap="flat" cmpd="sng" w="9525">
            <a:solidFill>
              <a:srgbClr val="C9DAF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45720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3.3 Decision Trees Regression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1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t/>
            </a:r>
            <a:endParaRPr/>
          </a:p>
        </p:txBody>
      </p:sp>
      <p:sp>
        <p:nvSpPr>
          <p:cNvPr id="210" name="Google Shape;210;p10"/>
          <p:cNvSpPr txBox="1"/>
          <p:nvPr>
            <p:ph idx="1" type="body"/>
          </p:nvPr>
        </p:nvSpPr>
        <p:spPr>
          <a:xfrm>
            <a:off x="311700" y="1152475"/>
            <a:ext cx="4904356" cy="34354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47500"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38"/>
              <a:buNone/>
            </a:pPr>
            <a:r>
              <a:rPr lang="en" sz="1100">
                <a:solidFill>
                  <a:schemeClr val="dk1"/>
                </a:solidFill>
              </a:rPr>
              <a:t>		 	 	 		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ct val="140625"/>
              <a:buNone/>
            </a:pPr>
            <a:r>
              <a:rPr b="1" lang="en" sz="3200">
                <a:solidFill>
                  <a:schemeClr val="dk1"/>
                </a:solidFill>
                <a:highlight>
                  <a:srgbClr val="FFFFFF"/>
                </a:highlight>
              </a:rPr>
              <a:t>Decision Tree Regression</a:t>
            </a:r>
            <a:r>
              <a:rPr lang="en" sz="2300">
                <a:solidFill>
                  <a:schemeClr val="dk1"/>
                </a:solidFill>
                <a:highlight>
                  <a:srgbClr val="FFFFFF"/>
                </a:highlight>
              </a:rPr>
              <a:t>		</a:t>
            </a:r>
            <a:endParaRPr sz="23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ct val="195652"/>
              <a:buNone/>
            </a:pPr>
            <a:r>
              <a:rPr lang="en" sz="2300">
                <a:solidFill>
                  <a:schemeClr val="dk1"/>
                </a:solidFill>
                <a:highlight>
                  <a:srgbClr val="FFFFFF"/>
                </a:highlight>
              </a:rPr>
              <a:t>										</a:t>
            </a:r>
            <a:endParaRPr sz="23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ct val="160714"/>
              <a:buNone/>
            </a:pPr>
            <a:r>
              <a:rPr lang="en" sz="2800">
                <a:solidFill>
                  <a:schemeClr val="dk1"/>
                </a:solidFill>
                <a:highlight>
                  <a:srgbClr val="FFFFFF"/>
                </a:highlight>
              </a:rPr>
              <a:t>Decision Trees Regression is a very fast algorithm How it works: A two step repeating process</a:t>
            </a:r>
            <a:endParaRPr sz="23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-353060" lvl="0" marL="4572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100000"/>
              <a:buAutoNum type="arabicPeriod"/>
            </a:pPr>
            <a:r>
              <a:rPr lang="en" sz="2800">
                <a:solidFill>
                  <a:schemeClr val="dk1"/>
                </a:solidFill>
                <a:highlight>
                  <a:srgbClr val="FFFFFF"/>
                </a:highlight>
              </a:rPr>
              <a:t>Step 1</a:t>
            </a:r>
            <a:endParaRPr sz="28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-313055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AutoNum type="arabicPeriod"/>
            </a:pPr>
            <a:r>
              <a:rPr lang="en" sz="2800">
                <a:solidFill>
                  <a:schemeClr val="dk1"/>
                </a:solidFill>
                <a:highlight>
                  <a:srgbClr val="FFFFFF"/>
                </a:highlight>
              </a:rPr>
              <a:t>Evaluate potential split points to divide the dataset in two.</a:t>
            </a:r>
            <a:endParaRPr sz="28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-313055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3703"/>
              <a:buAutoNum type="arabicPeriod"/>
            </a:pPr>
            <a:r>
              <a:rPr lang="en" sz="2700">
                <a:solidFill>
                  <a:schemeClr val="dk1"/>
                </a:solidFill>
              </a:rPr>
              <a:t>Save the split that minimizes the error (MSE) best.</a:t>
            </a:r>
            <a:endParaRPr sz="28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-35306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AutoNum type="arabicPeriod"/>
            </a:pPr>
            <a:r>
              <a:rPr lang="en" sz="2800">
                <a:solidFill>
                  <a:schemeClr val="dk1"/>
                </a:solidFill>
                <a:highlight>
                  <a:schemeClr val="lt1"/>
                </a:highlight>
              </a:rPr>
              <a:t>Step 2</a:t>
            </a:r>
            <a:endParaRPr sz="28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-313055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AutoNum type="arabicPeriod"/>
            </a:pPr>
            <a:r>
              <a:rPr lang="en" sz="2800">
                <a:solidFill>
                  <a:schemeClr val="dk1"/>
                </a:solidFill>
                <a:highlight>
                  <a:schemeClr val="lt1"/>
                </a:highlight>
              </a:rPr>
              <a:t>Evaluate potential split points to divide the dataset in two.</a:t>
            </a:r>
            <a:endParaRPr sz="28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-35306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3703"/>
              <a:buAutoNum type="arabicPeriod"/>
            </a:pPr>
            <a:r>
              <a:rPr lang="en" sz="2700">
                <a:solidFill>
                  <a:schemeClr val="dk1"/>
                </a:solidFill>
              </a:rPr>
              <a:t>Save the split that minimizes the error (MSE) best.</a:t>
            </a:r>
            <a:r>
              <a:rPr lang="en" sz="2300">
                <a:solidFill>
                  <a:schemeClr val="dk1"/>
                </a:solidFill>
                <a:highlight>
                  <a:srgbClr val="FFFFFF"/>
                </a:highlight>
              </a:rPr>
              <a:t>			 						</a:t>
            </a:r>
            <a:endParaRPr>
              <a:solidFill>
                <a:schemeClr val="dk1"/>
              </a:solidFill>
            </a:endParaRPr>
          </a:p>
        </p:txBody>
      </p:sp>
      <p:pic>
        <p:nvPicPr>
          <p:cNvPr id="211" name="Google Shape;211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3446" y="0"/>
            <a:ext cx="3780554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1"/>
          <p:cNvSpPr txBox="1"/>
          <p:nvPr>
            <p:ph idx="1" type="body"/>
          </p:nvPr>
        </p:nvSpPr>
        <p:spPr>
          <a:xfrm>
            <a:off x="311700" y="238539"/>
            <a:ext cx="8520600" cy="4330336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3"/>
              <a:buNone/>
            </a:pPr>
            <a:r>
              <a:rPr lang="en" sz="722">
                <a:solidFill>
                  <a:schemeClr val="dk1"/>
                </a:solidFill>
              </a:rPr>
              <a:t>		 	 	 		</a:t>
            </a:r>
            <a:endParaRPr sz="722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ts val="523"/>
              <a:buNone/>
            </a:pPr>
            <a:r>
              <a:rPr b="1" lang="en" sz="1720">
                <a:solidFill>
                  <a:schemeClr val="dk1"/>
                </a:solidFill>
                <a:highlight>
                  <a:srgbClr val="FFFFFF"/>
                </a:highlight>
              </a:rPr>
              <a:t>Decision Tree Regression</a:t>
            </a:r>
            <a:r>
              <a:rPr lang="en" sz="1292">
                <a:solidFill>
                  <a:schemeClr val="dk1"/>
                </a:solidFill>
                <a:highlight>
                  <a:srgbClr val="FFFFFF"/>
                </a:highlight>
              </a:rPr>
              <a:t>		</a:t>
            </a:r>
            <a:endParaRPr sz="1292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ts val="523"/>
              <a:buNone/>
            </a:pPr>
            <a:r>
              <a:rPr lang="en" sz="1292">
                <a:solidFill>
                  <a:schemeClr val="dk1"/>
                </a:solidFill>
                <a:highlight>
                  <a:srgbClr val="FFFFFF"/>
                </a:highlight>
              </a:rPr>
              <a:t>										</a:t>
            </a:r>
            <a:endParaRPr sz="1292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ts val="523"/>
              <a:buNone/>
            </a:pPr>
            <a:r>
              <a:rPr lang="en" sz="1530">
                <a:solidFill>
                  <a:schemeClr val="dk1"/>
                </a:solidFill>
                <a:highlight>
                  <a:srgbClr val="FFFFFF"/>
                </a:highlight>
              </a:rPr>
              <a:t>Decision Trees Regression is a very fast algorithm How it works: A two step repeating process</a:t>
            </a:r>
            <a:endParaRPr sz="1292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-325755" lvl="0" marL="457200" rtl="0" algn="l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30"/>
              <a:buAutoNum type="arabicPeriod" startAt="3"/>
            </a:pPr>
            <a:r>
              <a:rPr lang="en" sz="1530">
                <a:solidFill>
                  <a:schemeClr val="dk1"/>
                </a:solidFill>
                <a:highlight>
                  <a:srgbClr val="FFFFFF"/>
                </a:highlight>
              </a:rPr>
              <a:t>Step 3</a:t>
            </a:r>
            <a:endParaRPr sz="153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-325755" lvl="1" marL="9144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AutoNum type="arabicPeriod"/>
            </a:pPr>
            <a:r>
              <a:rPr lang="en" sz="1530">
                <a:solidFill>
                  <a:schemeClr val="dk1"/>
                </a:solidFill>
                <a:highlight>
                  <a:srgbClr val="FFFFFF"/>
                </a:highlight>
              </a:rPr>
              <a:t>Evaluate potential split points to divide the dataset in two.</a:t>
            </a:r>
            <a:endParaRPr sz="153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-32385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AutoNum type="arabicPeriod"/>
            </a:pPr>
            <a:r>
              <a:rPr lang="en" sz="1500">
                <a:solidFill>
                  <a:schemeClr val="dk1"/>
                </a:solidFill>
              </a:rPr>
              <a:t>Save the split that minimizes the error (MSE) the best.</a:t>
            </a:r>
            <a:endParaRPr sz="15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914400" rtl="0" algn="l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ts val="523"/>
              <a:buNone/>
            </a:pPr>
            <a:r>
              <a:rPr lang="en" sz="1530">
                <a:solidFill>
                  <a:schemeClr val="dk1"/>
                </a:solidFill>
                <a:highlight>
                  <a:srgbClr val="FFFFFF"/>
                </a:highlight>
              </a:rPr>
              <a:t>……..</a:t>
            </a:r>
            <a:endParaRPr sz="153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-400050" lvl="0" marL="457200" rtl="0" algn="l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ts val="523"/>
              <a:buNone/>
            </a:pPr>
            <a:r>
              <a:rPr lang="en" sz="1530">
                <a:solidFill>
                  <a:schemeClr val="dk1"/>
                </a:solidFill>
                <a:highlight>
                  <a:schemeClr val="lt1"/>
                </a:highlight>
              </a:rPr>
              <a:t>n. 	Step n</a:t>
            </a:r>
            <a:endParaRPr sz="153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457200" lvl="0" marL="0" rtl="0" algn="l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ts val="523"/>
              <a:buNone/>
            </a:pPr>
            <a:r>
              <a:rPr lang="en" sz="1530">
                <a:solidFill>
                  <a:schemeClr val="dk1"/>
                </a:solidFill>
                <a:highlight>
                  <a:schemeClr val="lt1"/>
                </a:highlight>
              </a:rPr>
              <a:t>n.1 </a:t>
            </a:r>
            <a:r>
              <a:rPr lang="en" sz="1530">
                <a:solidFill>
                  <a:schemeClr val="dk1"/>
                </a:solidFill>
                <a:highlight>
                  <a:schemeClr val="lt1"/>
                </a:highlight>
              </a:rPr>
              <a:t>Evaluate potential split points to divide the dataset in two.</a:t>
            </a:r>
            <a:endParaRPr sz="153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457200" lvl="0" marL="0" rtl="0" algn="l">
              <a:lnSpc>
                <a:spcPct val="80000"/>
              </a:lnSpc>
              <a:spcBef>
                <a:spcPts val="1200"/>
              </a:spcBef>
              <a:spcAft>
                <a:spcPts val="1200"/>
              </a:spcAft>
              <a:buSzPts val="523"/>
              <a:buNone/>
            </a:pPr>
            <a:r>
              <a:rPr lang="en" sz="1530">
                <a:solidFill>
                  <a:schemeClr val="dk1"/>
                </a:solidFill>
                <a:highlight>
                  <a:schemeClr val="lt1"/>
                </a:highlight>
              </a:rPr>
              <a:t>n.2 </a:t>
            </a:r>
            <a:r>
              <a:rPr lang="en" sz="1500">
                <a:solidFill>
                  <a:schemeClr val="dk1"/>
                </a:solidFill>
              </a:rPr>
              <a:t>Save the split that minimizes the error (MSE) the best.</a:t>
            </a:r>
            <a:r>
              <a:rPr lang="en" sz="1500">
                <a:solidFill>
                  <a:schemeClr val="dk1"/>
                </a:solidFill>
                <a:highlight>
                  <a:srgbClr val="FFFFFF"/>
                </a:highlight>
              </a:rPr>
              <a:t>	</a:t>
            </a:r>
            <a:r>
              <a:rPr lang="en" sz="1292">
                <a:solidFill>
                  <a:schemeClr val="dk1"/>
                </a:solidFill>
                <a:highlight>
                  <a:srgbClr val="FFFFFF"/>
                </a:highlight>
              </a:rPr>
              <a:t>		 						</a:t>
            </a:r>
            <a:endParaRPr sz="1055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1" lang="en" sz="2000">
                <a:solidFill>
                  <a:schemeClr val="dk1"/>
                </a:solidFill>
                <a:highlight>
                  <a:srgbClr val="FFFFFF"/>
                </a:highlight>
              </a:rPr>
              <a:t>Decision Tree Regression</a:t>
            </a:r>
            <a:r>
              <a:rPr lang="en" sz="1100">
                <a:solidFill>
                  <a:schemeClr val="dk1"/>
                </a:solidFill>
                <a:highlight>
                  <a:srgbClr val="FFFFFF"/>
                </a:highlight>
              </a:rPr>
              <a:t>	</a:t>
            </a:r>
            <a:endParaRPr sz="11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6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" sz="1600">
                <a:solidFill>
                  <a:schemeClr val="dk1"/>
                </a:solidFill>
                <a:highlight>
                  <a:srgbClr val="FFFFFF"/>
                </a:highlight>
              </a:rPr>
              <a:t>Stop Criteria:</a:t>
            </a:r>
            <a:endParaRPr sz="11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b="1" lang="en" sz="1100">
                <a:solidFill>
                  <a:schemeClr val="dk1"/>
                </a:solidFill>
              </a:rPr>
              <a:t>Maximum Depth:</a:t>
            </a:r>
            <a:r>
              <a:rPr lang="en" sz="1100">
                <a:solidFill>
                  <a:schemeClr val="dk1"/>
                </a:solidFill>
              </a:rPr>
              <a:t> Stops growing the tree when the maximum depth is reached.</a:t>
            </a:r>
            <a:endParaRPr sz="1100">
              <a:solidFill>
                <a:schemeClr val="dk1"/>
              </a:solidFill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b="1" lang="en" sz="1100">
                <a:solidFill>
                  <a:schemeClr val="dk1"/>
                </a:solidFill>
              </a:rPr>
              <a:t>Minimum Samples per Leaf:</a:t>
            </a:r>
            <a:r>
              <a:rPr lang="en" sz="1100">
                <a:solidFill>
                  <a:schemeClr val="dk1"/>
                </a:solidFill>
              </a:rPr>
              <a:t> Requires a minimum number of samples in each leaf node.</a:t>
            </a:r>
            <a:endParaRPr sz="1100">
              <a:solidFill>
                <a:schemeClr val="dk1"/>
              </a:solidFill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b="1" lang="en" sz="1100">
                <a:solidFill>
                  <a:schemeClr val="dk1"/>
                </a:solidFill>
              </a:rPr>
              <a:t>Minimum Samples per Split:</a:t>
            </a:r>
            <a:r>
              <a:rPr lang="en" sz="1100">
                <a:solidFill>
                  <a:schemeClr val="dk1"/>
                </a:solidFill>
              </a:rPr>
              <a:t> Requires a minimum number of samples to attempt a split.</a:t>
            </a:r>
            <a:endParaRPr sz="1100">
              <a:solidFill>
                <a:schemeClr val="dk1"/>
              </a:solidFill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b="1" lang="en" sz="1100">
                <a:solidFill>
                  <a:schemeClr val="dk1"/>
                </a:solidFill>
              </a:rPr>
              <a:t>Maximum Number of Nodes:</a:t>
            </a:r>
            <a:r>
              <a:rPr lang="en" sz="1100">
                <a:solidFill>
                  <a:schemeClr val="dk1"/>
                </a:solidFill>
              </a:rPr>
              <a:t> Limits the total number of nodes in the tree.</a:t>
            </a:r>
            <a:endParaRPr sz="1100">
              <a:solidFill>
                <a:schemeClr val="dk1"/>
              </a:solidFill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b="1" lang="en" sz="1100">
                <a:solidFill>
                  <a:schemeClr val="dk1"/>
                </a:solidFill>
              </a:rPr>
              <a:t>No Further Split Improves Performance:</a:t>
            </a:r>
            <a:r>
              <a:rPr lang="en" sz="1100">
                <a:solidFill>
                  <a:schemeClr val="dk1"/>
                </a:solidFill>
              </a:rPr>
              <a:t> Stops when no split improves the target metric.</a:t>
            </a:r>
            <a:endParaRPr sz="1100">
              <a:solidFill>
                <a:schemeClr val="dk1"/>
              </a:solidFill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b="1" lang="en" sz="1100">
                <a:solidFill>
                  <a:schemeClr val="dk1"/>
                </a:solidFill>
              </a:rPr>
              <a:t>Early Stopping with Cross-Validation:</a:t>
            </a:r>
            <a:r>
              <a:rPr lang="en" sz="1100">
                <a:solidFill>
                  <a:schemeClr val="dk1"/>
                </a:solidFill>
              </a:rPr>
              <a:t> Stops if validation performance does not improve.</a:t>
            </a:r>
            <a:endParaRPr sz="1100">
              <a:solidFill>
                <a:schemeClr val="dk1"/>
              </a:solidFill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b="1" lang="en" sz="1100">
                <a:solidFill>
                  <a:schemeClr val="dk1"/>
                </a:solidFill>
              </a:rPr>
              <a:t>Insufficient Data:</a:t>
            </a:r>
            <a:r>
              <a:rPr lang="en" sz="1100">
                <a:solidFill>
                  <a:schemeClr val="dk1"/>
                </a:solidFill>
              </a:rPr>
              <a:t> Stops if a node has too few samples for further splitting.</a:t>
            </a:r>
            <a:endParaRPr sz="1600">
              <a:solidFill>
                <a:schemeClr val="dk1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1" lang="en" sz="2000">
                <a:solidFill>
                  <a:schemeClr val="dk1"/>
                </a:solidFill>
                <a:highlight>
                  <a:srgbClr val="FFFFFF"/>
                </a:highlight>
              </a:rPr>
              <a:t>Decision Tree Regression</a:t>
            </a:r>
            <a:r>
              <a:rPr lang="en" sz="1100">
                <a:solidFill>
                  <a:schemeClr val="dk1"/>
                </a:solidFill>
                <a:highlight>
                  <a:srgbClr val="FFFFFF"/>
                </a:highlight>
              </a:rPr>
              <a:t>	</a:t>
            </a:r>
            <a:endParaRPr sz="11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1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" sz="1600">
                <a:solidFill>
                  <a:schemeClr val="dk1"/>
                </a:solidFill>
                <a:highlight>
                  <a:srgbClr val="FFFFFF"/>
                </a:highlight>
              </a:rPr>
              <a:t>Advantages:</a:t>
            </a:r>
            <a:endParaRPr sz="11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  <a:highlight>
                  <a:srgbClr val="FFFFFF"/>
                </a:highlight>
              </a:rPr>
              <a:t>We get a nice, explainable model, easy to understand by humans</a:t>
            </a:r>
            <a:endParaRPr sz="11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  <a:highlight>
                  <a:srgbClr val="FFFFFF"/>
                </a:highlight>
              </a:rPr>
              <a:t>Very fast prediction for new samples 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1" lang="en" sz="2000">
                <a:solidFill>
                  <a:schemeClr val="dk1"/>
                </a:solidFill>
                <a:highlight>
                  <a:srgbClr val="FFFFFF"/>
                </a:highlight>
              </a:rPr>
              <a:t>Decision Tree Regression</a:t>
            </a:r>
            <a:r>
              <a:rPr lang="en" sz="1100">
                <a:solidFill>
                  <a:schemeClr val="dk1"/>
                </a:solidFill>
                <a:highlight>
                  <a:srgbClr val="FFFFFF"/>
                </a:highlight>
              </a:rPr>
              <a:t>	</a:t>
            </a:r>
            <a:endParaRPr sz="11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6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" sz="1600">
                <a:solidFill>
                  <a:schemeClr val="dk1"/>
                </a:solidFill>
                <a:highlight>
                  <a:srgbClr val="FFFFFF"/>
                </a:highlight>
              </a:rPr>
              <a:t>Disadvantages:</a:t>
            </a:r>
            <a:endParaRPr sz="11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  <a:highlight>
                  <a:srgbClr val="FFFFFF"/>
                </a:highlight>
              </a:rPr>
              <a:t>Leaves grow exponentially by depth</a:t>
            </a:r>
            <a:endParaRPr sz="16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  <a:highlight>
                  <a:srgbClr val="FFFFFF"/>
                </a:highlight>
              </a:rPr>
              <a:t>Very prone to overfitting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5"/>
          <p:cNvSpPr txBox="1"/>
          <p:nvPr>
            <p:ph type="title"/>
          </p:nvPr>
        </p:nvSpPr>
        <p:spPr>
          <a:xfrm>
            <a:off x="152674" y="21362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"/>
              <a:t>Decision Tree Regression Calories</a:t>
            </a:r>
            <a:endParaRPr/>
          </a:p>
        </p:txBody>
      </p:sp>
      <p:pic>
        <p:nvPicPr>
          <p:cNvPr id="237" name="Google Shape;23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102357" y="834890"/>
            <a:ext cx="7103265" cy="4314922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15"/>
          <p:cNvSpPr txBox="1"/>
          <p:nvPr/>
        </p:nvSpPr>
        <p:spPr>
          <a:xfrm>
            <a:off x="197300" y="3285325"/>
            <a:ext cx="1905000" cy="101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Code on Colab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3" name="Google Shape;24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103231" y="874642"/>
            <a:ext cx="6209874" cy="4268857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16"/>
          <p:cNvSpPr txBox="1"/>
          <p:nvPr>
            <p:ph type="title"/>
          </p:nvPr>
        </p:nvSpPr>
        <p:spPr>
          <a:xfrm>
            <a:off x="152674" y="21362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"/>
              <a:t>Decision Tree Regression Calories</a:t>
            </a:r>
            <a:endParaRPr/>
          </a:p>
        </p:txBody>
      </p:sp>
      <p:sp>
        <p:nvSpPr>
          <p:cNvPr id="245" name="Google Shape;245;p16"/>
          <p:cNvSpPr txBox="1"/>
          <p:nvPr/>
        </p:nvSpPr>
        <p:spPr>
          <a:xfrm>
            <a:off x="197300" y="3285325"/>
            <a:ext cx="1905000" cy="101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Code on Colab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>
                <a:solidFill>
                  <a:schemeClr val="dk1"/>
                </a:solidFill>
              </a:rPr>
              <a:t>Penguins size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>
                <a:solidFill>
                  <a:schemeClr val="dk1"/>
                </a:solidFill>
              </a:rPr>
              <a:t>California Housing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251" name="Google Shape;251;p17"/>
          <p:cNvSpPr/>
          <p:nvPr/>
        </p:nvSpPr>
        <p:spPr>
          <a:xfrm>
            <a:off x="0" y="3300"/>
            <a:ext cx="9144000" cy="914400"/>
          </a:xfrm>
          <a:prstGeom prst="rect">
            <a:avLst/>
          </a:prstGeom>
          <a:solidFill>
            <a:srgbClr val="C9DAF8"/>
          </a:solidFill>
          <a:ln cap="flat" cmpd="sng" w="9525">
            <a:solidFill>
              <a:srgbClr val="C9DAF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45720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3.4 Regression implementation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18"/>
          <p:cNvSpPr/>
          <p:nvPr/>
        </p:nvSpPr>
        <p:spPr>
          <a:xfrm>
            <a:off x="0" y="3300"/>
            <a:ext cx="9144000" cy="914400"/>
          </a:xfrm>
          <a:prstGeom prst="rect">
            <a:avLst/>
          </a:prstGeom>
          <a:solidFill>
            <a:srgbClr val="C9DAF8"/>
          </a:solidFill>
          <a:ln cap="flat" cmpd="sng" w="9525">
            <a:solidFill>
              <a:srgbClr val="C9DAF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45720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3.5 Final Project Task 2 - Census Data EDA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18"/>
          <p:cNvSpPr txBox="1"/>
          <p:nvPr/>
        </p:nvSpPr>
        <p:spPr>
          <a:xfrm>
            <a:off x="176100" y="1321500"/>
            <a:ext cx="8173800" cy="26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https://github.com/zahariesergiu/ubb-sociology-ml/blob/main/final_project/Final_Project_Task_2_Census_EDA.ipynb</a:t>
            </a:r>
            <a:endParaRPr b="0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9"/>
          <p:cNvSpPr txBox="1"/>
          <p:nvPr>
            <p:ph idx="1" type="body"/>
          </p:nvPr>
        </p:nvSpPr>
        <p:spPr>
          <a:xfrm>
            <a:off x="231000" y="1455617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946"/>
              <a:buNone/>
            </a:pPr>
            <a:r>
              <a:rPr lang="en" sz="1300">
                <a:solidFill>
                  <a:schemeClr val="dk1"/>
                </a:solidFill>
              </a:rPr>
              <a:t>#1</a:t>
            </a:r>
            <a:r>
              <a:rPr lang="en"/>
              <a:t> </a:t>
            </a:r>
            <a:r>
              <a:rPr lang="en" sz="1300">
                <a:solidFill>
                  <a:schemeClr val="hlink"/>
                </a:solidFill>
                <a:uFill>
                  <a:noFill/>
                </a:uFill>
                <a:hlinkClick r:id="rId3"/>
              </a:rPr>
              <a:t>Regression Trees explained</a:t>
            </a:r>
            <a:r>
              <a:rPr lang="en" sz="1300">
                <a:solidFill>
                  <a:schemeClr val="dk1"/>
                </a:solidFill>
              </a:rPr>
              <a:t>: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https://www.youtube.com/watch?v=g9c66TUylZ4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946"/>
              <a:buNone/>
            </a:pPr>
            <a:r>
              <a:rPr lang="en" sz="1300">
                <a:solidFill>
                  <a:schemeClr val="dk1"/>
                </a:solidFill>
              </a:rPr>
              <a:t>#2</a:t>
            </a:r>
            <a:r>
              <a:rPr lang="en" sz="1300">
                <a:solidFill>
                  <a:schemeClr val="accent5"/>
                </a:solidFill>
              </a:rPr>
              <a:t> </a:t>
            </a:r>
            <a:r>
              <a:rPr lang="en" sz="1300">
                <a:solidFill>
                  <a:schemeClr val="accent5"/>
                </a:solidFill>
                <a:uFill>
                  <a:noFill/>
                </a:uFill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Decision Trees Split Criteria</a:t>
            </a:r>
            <a:r>
              <a:rPr lang="en" sz="1300">
                <a:solidFill>
                  <a:schemeClr val="accent5"/>
                </a:solidFill>
              </a:rPr>
              <a:t>: </a:t>
            </a:r>
            <a:r>
              <a:rPr lang="en" sz="1300" u="sng">
                <a:solidFill>
                  <a:schemeClr val="accent5"/>
                </a:solidFill>
              </a:rPr>
              <a:t>https://scientistcafe.com/ids/splitting-criteria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946"/>
              <a:buNone/>
            </a:pPr>
            <a:r>
              <a:rPr lang="en" sz="1300">
                <a:solidFill>
                  <a:schemeClr val="dk1"/>
                </a:solidFill>
              </a:rPr>
              <a:t>#3 </a:t>
            </a:r>
            <a:r>
              <a:rPr lang="en" sz="1300">
                <a:solidFill>
                  <a:schemeClr val="hlink"/>
                </a:solidFill>
                <a:uFill>
                  <a:noFill/>
                </a:uFill>
                <a:hlinkClick r:id="rId6"/>
              </a:rPr>
              <a:t>Self-supervised learning</a:t>
            </a:r>
            <a:r>
              <a:rPr lang="en" sz="1300">
                <a:solidFill>
                  <a:schemeClr val="dk1"/>
                </a:solidFill>
              </a:rPr>
              <a:t>: </a:t>
            </a:r>
            <a:r>
              <a:rPr lang="en" sz="1300" u="sng">
                <a:solidFill>
                  <a:schemeClr val="hlink"/>
                </a:solidFill>
                <a:hlinkClick r:id="rId7"/>
              </a:rPr>
              <a:t>https://ai.meta.com/blog/self-supervised-learning-the-dark-matter-of-intelligence/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946"/>
              <a:buNone/>
            </a:pPr>
            <a:r>
              <a:rPr lang="en" sz="1300">
                <a:solidFill>
                  <a:schemeClr val="dk1"/>
                </a:solidFill>
              </a:rPr>
              <a:t>#4 </a:t>
            </a:r>
            <a:r>
              <a:rPr lang="en" sz="1300">
                <a:solidFill>
                  <a:schemeClr val="hlink"/>
                </a:solidFill>
                <a:uFill>
                  <a:noFill/>
                </a:uFill>
                <a:hlinkClick r:id="rId8"/>
              </a:rPr>
              <a:t>Feature scaling @ Kaggle</a:t>
            </a:r>
            <a:r>
              <a:rPr lang="en" sz="1300">
                <a:solidFill>
                  <a:schemeClr val="dk1"/>
                </a:solidFill>
              </a:rPr>
              <a:t>: </a:t>
            </a:r>
            <a:r>
              <a:rPr lang="en" sz="1300" u="sng">
                <a:solidFill>
                  <a:schemeClr val="hlink"/>
                </a:solidFill>
                <a:hlinkClick r:id="rId9"/>
              </a:rPr>
              <a:t>https://www.kaggle.com/code/mysarahmadbhat/all-about-feature-scaling/notebook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946"/>
              <a:buNone/>
            </a:pPr>
            <a:r>
              <a:rPr lang="en" sz="1300">
                <a:solidFill>
                  <a:schemeClr val="dk1"/>
                </a:solidFill>
              </a:rPr>
              <a:t>#5 </a:t>
            </a:r>
            <a:r>
              <a:rPr lang="en" sz="1300">
                <a:solidFill>
                  <a:schemeClr val="hlink"/>
                </a:solidFill>
                <a:uFill>
                  <a:noFill/>
                </a:uFill>
                <a:hlinkClick r:id="rId10"/>
              </a:rPr>
              <a:t>Nature article: statistics and machine learning</a:t>
            </a:r>
            <a:r>
              <a:rPr lang="en" sz="1300">
                <a:solidFill>
                  <a:schemeClr val="dk1"/>
                </a:solidFill>
              </a:rPr>
              <a:t>: </a:t>
            </a:r>
            <a:r>
              <a:rPr lang="en" sz="1300" u="sng">
                <a:solidFill>
                  <a:schemeClr val="hlink"/>
                </a:solidFill>
                <a:hlinkClick r:id="rId11"/>
              </a:rPr>
              <a:t>https://www.nature.com/articles/nmeth.4642?source=post_page-----64b49f07ea3--------------------------------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946"/>
              <a:buNone/>
            </a:pPr>
            <a:r>
              <a:rPr lang="en" sz="1300">
                <a:solidFill>
                  <a:schemeClr val="dk1"/>
                </a:solidFill>
              </a:rPr>
              <a:t>#6 </a:t>
            </a:r>
            <a:r>
              <a:rPr lang="en" sz="1300">
                <a:solidFill>
                  <a:schemeClr val="hlink"/>
                </a:solidFill>
                <a:uFill>
                  <a:noFill/>
                </a:uFill>
                <a:hlinkClick r:id="rId12"/>
              </a:rPr>
              <a:t>If correlation doesn’t imply causation, then what does?</a:t>
            </a:r>
            <a:r>
              <a:rPr lang="en" sz="1300">
                <a:solidFill>
                  <a:schemeClr val="dk1"/>
                </a:solidFill>
              </a:rPr>
              <a:t>: </a:t>
            </a:r>
            <a:r>
              <a:rPr lang="en" sz="1300" u="sng">
                <a:solidFill>
                  <a:schemeClr val="hlink"/>
                </a:solidFill>
                <a:hlinkClick r:id="rId13"/>
              </a:rPr>
              <a:t>https://michaelnielsen.org/ddi/if-correlation-doesnt-imply-causation-then-what-does/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946"/>
              <a:buNone/>
            </a:pPr>
            <a:r>
              <a:rPr lang="en" sz="1300">
                <a:solidFill>
                  <a:schemeClr val="dk1"/>
                </a:solidFill>
              </a:rPr>
              <a:t>#7 </a:t>
            </a:r>
            <a:r>
              <a:rPr lang="en" sz="1300">
                <a:solidFill>
                  <a:schemeClr val="hlink"/>
                </a:solidFill>
                <a:uFill>
                  <a:noFill/>
                </a:uFill>
                <a:hlinkClick r:id="rId14"/>
              </a:rPr>
              <a:t>Requirements for talking about cause and effect</a:t>
            </a:r>
            <a:r>
              <a:rPr lang="en" sz="1300">
                <a:solidFill>
                  <a:schemeClr val="dk1"/>
                </a:solidFill>
              </a:rPr>
              <a:t>: </a:t>
            </a:r>
            <a:r>
              <a:rPr lang="en" sz="1300" u="sng">
                <a:solidFill>
                  <a:schemeClr val="hlink"/>
                </a:solidFill>
                <a:hlinkClick r:id="rId15"/>
              </a:rPr>
              <a:t>https://towardsdatascience.com/are-you-guilty-of-using-the-word-experiment-incorrectly-9068baeab7a4</a:t>
            </a:r>
            <a:endParaRPr sz="1300"/>
          </a:p>
        </p:txBody>
      </p:sp>
      <p:sp>
        <p:nvSpPr>
          <p:cNvPr id="263" name="Google Shape;263;p19"/>
          <p:cNvSpPr/>
          <p:nvPr/>
        </p:nvSpPr>
        <p:spPr>
          <a:xfrm>
            <a:off x="0" y="3300"/>
            <a:ext cx="9144000" cy="914400"/>
          </a:xfrm>
          <a:prstGeom prst="rect">
            <a:avLst/>
          </a:prstGeom>
          <a:solidFill>
            <a:srgbClr val="C9DAF8"/>
          </a:solidFill>
          <a:ln cap="flat" cmpd="sng" w="9525">
            <a:solidFill>
              <a:srgbClr val="C9DAF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45720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3.6 Further Reading &amp; Questions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20"/>
          <p:cNvSpPr txBox="1"/>
          <p:nvPr>
            <p:ph idx="1" type="subTitle"/>
          </p:nvPr>
        </p:nvSpPr>
        <p:spPr>
          <a:xfrm>
            <a:off x="557650" y="293500"/>
            <a:ext cx="7550100" cy="426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75"/>
              <a:buNone/>
            </a:pPr>
            <a:r>
              <a:t/>
            </a:r>
            <a:endParaRPr b="1" sz="8200"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75"/>
              <a:buNone/>
            </a:pPr>
            <a:r>
              <a:rPr b="1" lang="en" sz="8200">
                <a:solidFill>
                  <a:schemeClr val="dk1"/>
                </a:solidFill>
              </a:rPr>
              <a:t>Thank you !!</a:t>
            </a:r>
            <a:endParaRPr b="1" sz="8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75"/>
              <a:buNone/>
            </a:pPr>
            <a:r>
              <a:t/>
            </a:r>
            <a:endParaRPr sz="1200"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75"/>
              <a:buNone/>
            </a:pPr>
            <a:r>
              <a:t/>
            </a:r>
            <a:endParaRPr sz="1200"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75"/>
              <a:buNone/>
            </a:pPr>
            <a:r>
              <a:t/>
            </a:r>
            <a:endParaRPr sz="1200"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75"/>
              <a:buNone/>
            </a:pPr>
            <a:r>
              <a:rPr lang="en" sz="1200">
                <a:solidFill>
                  <a:schemeClr val="dk1"/>
                </a:solidFill>
              </a:rPr>
              <a:t>Machine Learning Engineer / Data Scientist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275"/>
              <a:buNone/>
            </a:pPr>
            <a:r>
              <a:rPr lang="en" sz="1200">
                <a:solidFill>
                  <a:schemeClr val="hlink"/>
                </a:solidFill>
                <a:uFill>
                  <a:noFill/>
                </a:uFill>
                <a:hlinkClick r:id="rId3"/>
              </a:rPr>
              <a:t>zahariesergiu@gmail.com</a:t>
            </a:r>
            <a:endParaRPr sz="1200"/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275"/>
              <a:buNone/>
            </a:pPr>
            <a:r>
              <a:rPr lang="en" sz="1200">
                <a:solidFill>
                  <a:schemeClr val="hlink"/>
                </a:solidFill>
                <a:uFill>
                  <a:noFill/>
                </a:uFill>
                <a:hlinkClick r:id="rId4"/>
              </a:rPr>
              <a:t>https://www.linkedin.com/in/zahariesergiu/</a:t>
            </a:r>
            <a:endParaRPr sz="1200"/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275"/>
              <a:buNone/>
            </a:pPr>
            <a:r>
              <a:rPr lang="en" sz="1200" u="sng">
                <a:solidFill>
                  <a:schemeClr val="hlink"/>
                </a:solidFill>
                <a:hlinkClick r:id="rId5"/>
              </a:rPr>
              <a:t>https://github.com/zahariesergiu/ubb-sociology-ml</a:t>
            </a:r>
            <a:endParaRPr sz="12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