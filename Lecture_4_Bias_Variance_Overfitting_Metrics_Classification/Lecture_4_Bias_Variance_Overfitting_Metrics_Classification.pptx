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69ad17fac_2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269ad17fac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480904220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b48090422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480904220_0_3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b480904220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69ad17fac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269ad17fac_2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69ad17fac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269ad17fac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69ad17fac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269ad17fac_2_8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69ad17fac_2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269ad17fac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69ad17fac_2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269ad17fac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69ad17fac_2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269ad17fac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69ad17fac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269ad17fac_2_10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69ad17fac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269ad17fac_2_10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69ad17fac_2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269ad17fac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69ad17fac_2_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269ad17fac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269ad17fac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269ad17fac_2_1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69ad17fac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269ad17fac_2_1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69ad17fac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269ad17fac_2_1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69ad17fac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269ad17fac_2_1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269ad17fac_2_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269ad17fac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69ad17fac_2_1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269ad17fac_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269ad17fac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269ad17fac_2_15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69ad17fac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269ad17fac_2_1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69ad17fac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269ad17fac_2_16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269ad17fac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269ad17fac_2_17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480904220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48090422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269ad17fac_2_1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269ad17fac_2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69ad17fac_2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269ad17fac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hyperlink" Target="https://colab.research.google.com/drive/1RZdtNq7Xy1qnsUpDaSx9DxZuY0HUoHY-#scrollTo=eBr0WWNJroUn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olab.research.google.com/drive/1RZdtNq7Xy1qnsUpDaSx9DxZuY0HUoHY-#scrollTo=eBr0WWNJroUn" TargetMode="External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20" Type="http://schemas.openxmlformats.org/officeDocument/2006/relationships/hyperlink" Target="https://github.com/INRIA/scikit-learn-mooc/blob/main/notebooks/ensemble_adaboost.ipynb" TargetMode="External"/><Relationship Id="rId11" Type="http://schemas.openxmlformats.org/officeDocument/2006/relationships/hyperlink" Target="https://alan-turing-institute.github.io/rds-course/modules/m4/4.4-ModelEvaluation.html" TargetMode="External"/><Relationship Id="rId22" Type="http://schemas.openxmlformats.org/officeDocument/2006/relationships/hyperlink" Target="https://developers.google.com/machine-learning/crash-course/classification/roc-and-auc#:~:text=The%20points%20on%20a%20ROC,to%20the%20specific%20use%20case" TargetMode="External"/><Relationship Id="rId10" Type="http://schemas.openxmlformats.org/officeDocument/2006/relationships/hyperlink" Target="https://www.fast.ai/posts/2019-09-24-metrics.html" TargetMode="External"/><Relationship Id="rId21" Type="http://schemas.openxmlformats.org/officeDocument/2006/relationships/hyperlink" Target="https://developers.google.com/machine-learning/crash-course/classification/roc-and-auc#:~:text=The%20points%20on%20a%20ROC,to%20the%20specific%20use%20case." TargetMode="External"/><Relationship Id="rId13" Type="http://schemas.openxmlformats.org/officeDocument/2006/relationships/hyperlink" Target="https://www.youtube.com/watch?v=vP06aMoz4v" TargetMode="External"/><Relationship Id="rId24" Type="http://schemas.openxmlformats.org/officeDocument/2006/relationships/hyperlink" Target="https://www.iguazio.com/glossary/classification-threshold/" TargetMode="External"/><Relationship Id="rId12" Type="http://schemas.openxmlformats.org/officeDocument/2006/relationships/hyperlink" Target="https://alan-turing-institute.github.io/rds-course/modules/m4/4.4-ModelEvaluation.html" TargetMode="External"/><Relationship Id="rId23" Type="http://schemas.openxmlformats.org/officeDocument/2006/relationships/hyperlink" Target="https://www.iguazio.com/glossary/classification-threshold/" TargetMode="Externa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inria.github.io/scikit-learn-mooc/overfit/bias_vs_variance_slides.html" TargetMode="External"/><Relationship Id="rId4" Type="http://schemas.openxmlformats.org/officeDocument/2006/relationships/hyperlink" Target="https://inria.github.io/scikit-learn-mooc/overfit/bias_vs_variance_slides.html" TargetMode="External"/><Relationship Id="rId9" Type="http://schemas.openxmlformats.org/officeDocument/2006/relationships/hyperlink" Target="https://www.fast.ai/posts/2019-09-24-metrics.html" TargetMode="External"/><Relationship Id="rId15" Type="http://schemas.openxmlformats.org/officeDocument/2006/relationships/hyperlink" Target="https://www.youtube.com/watch?v=Rzhpf1Ai7Z" TargetMode="External"/><Relationship Id="rId14" Type="http://schemas.openxmlformats.org/officeDocument/2006/relationships/hyperlink" Target="https://www.youtube.com/watch?v=vP06aMoz4v" TargetMode="External"/><Relationship Id="rId17" Type="http://schemas.openxmlformats.org/officeDocument/2006/relationships/hyperlink" Target="https://www.youtube.com/watch?v=_L39rN6gz7Y&amp;t=196s" TargetMode="External"/><Relationship Id="rId16" Type="http://schemas.openxmlformats.org/officeDocument/2006/relationships/hyperlink" Target="https://www.youtube.com/watch?v=Rzhpf1Ai7Z" TargetMode="External"/><Relationship Id="rId5" Type="http://schemas.openxmlformats.org/officeDocument/2006/relationships/hyperlink" Target="https://www.youtube.com/watch?v=zUJbRO0Wavo" TargetMode="External"/><Relationship Id="rId19" Type="http://schemas.openxmlformats.org/officeDocument/2006/relationships/hyperlink" Target="https://github.com/INRIA/scikit-learn-mooc/blob/main/notebooks/ensemble_adaboost.ipynb" TargetMode="External"/><Relationship Id="rId6" Type="http://schemas.openxmlformats.org/officeDocument/2006/relationships/hyperlink" Target="https://www.youtube.com/watch?v=zUJbRO0Wavo" TargetMode="External"/><Relationship Id="rId18" Type="http://schemas.openxmlformats.org/officeDocument/2006/relationships/hyperlink" Target="https://www.youtube.com/watch?v=_L39rN6gz7Y&amp;t=196s" TargetMode="External"/><Relationship Id="rId7" Type="http://schemas.openxmlformats.org/officeDocument/2006/relationships/hyperlink" Target="https://www.fast.ai/posts/2017-11-13-validation-sets.html" TargetMode="External"/><Relationship Id="rId8" Type="http://schemas.openxmlformats.org/officeDocument/2006/relationships/hyperlink" Target="https://www.fast.ai/posts/2017-11-13-validation-sets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hyperlink" Target="mailto:zahariesergiu@gmail.com" TargetMode="External"/><Relationship Id="rId4" Type="http://schemas.openxmlformats.org/officeDocument/2006/relationships/hyperlink" Target="https://www.linkedin.com/in/zahariesergiu/" TargetMode="External"/><Relationship Id="rId5" Type="http://schemas.openxmlformats.org/officeDocument/2006/relationships/hyperlink" Target="https://github.com/zahariesergiu/ubb-sociology-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0" y="377425"/>
            <a:ext cx="8634600" cy="31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highlight>
                  <a:srgbClr val="FFFFFF"/>
                </a:highlight>
              </a:rPr>
              <a:t>			</a:t>
            </a:r>
            <a:endParaRPr sz="11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4400">
                <a:highlight>
                  <a:srgbClr val="FFFFFF"/>
                </a:highlight>
              </a:rPr>
              <a:t>Machine learning:</a:t>
            </a:r>
            <a:endParaRPr b="1" sz="44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4400">
                <a:highlight>
                  <a:srgbClr val="FFFFFF"/>
                </a:highlight>
              </a:rPr>
              <a:t>prediction,</a:t>
            </a:r>
            <a:endParaRPr b="1" sz="44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4400">
                <a:highlight>
                  <a:srgbClr val="FFFFFF"/>
                </a:highlight>
              </a:rPr>
              <a:t>classification and</a:t>
            </a:r>
            <a:endParaRPr b="1" sz="44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4400">
                <a:highlight>
                  <a:srgbClr val="FFFFFF"/>
                </a:highlight>
              </a:rPr>
              <a:t>clustering</a:t>
            </a:r>
            <a:endParaRPr sz="44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5521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205"/>
              <a:buFont typeface="Arial"/>
              <a:buNone/>
            </a:pPr>
            <a:r>
              <a:rPr b="1" lang="en" sz="3900">
                <a:solidFill>
                  <a:schemeClr val="dk1"/>
                </a:solidFill>
                <a:highlight>
                  <a:srgbClr val="FFFFFF"/>
                </a:highlight>
              </a:rPr>
              <a:t>UBB Faculty of Sociology</a:t>
            </a:r>
            <a:endParaRPr b="1" sz="3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Course Agenda</a:t>
            </a:r>
            <a:endParaRPr b="1"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87925" y="1152475"/>
            <a:ext cx="8744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</a:rPr>
              <a:t>#1  Intro, Simple Linear Regression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6F1EE"/>
                </a:highlight>
              </a:rPr>
              <a:t>#2  Python recap, Git, Handling data, EDA</a:t>
            </a:r>
            <a:endParaRPr b="1" sz="2000">
              <a:solidFill>
                <a:schemeClr val="dk1"/>
              </a:solidFill>
              <a:highlight>
                <a:srgbClr val="F6F1EE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6F1EE"/>
                </a:highlight>
              </a:rPr>
              <a:t>#3  Regression, Decision Trees</a:t>
            </a:r>
            <a:endParaRPr b="1" sz="2000">
              <a:solidFill>
                <a:schemeClr val="dk1"/>
              </a:solidFill>
              <a:highlight>
                <a:srgbClr val="F6F1EE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FE289"/>
                </a:highlight>
              </a:rPr>
              <a:t>#4  Bias, Variance,  Overfitting, Classification, Metrics</a:t>
            </a:r>
            <a:endParaRPr b="1" sz="2000">
              <a:solidFill>
                <a:schemeClr val="dk1"/>
              </a:solidFill>
              <a:highlight>
                <a:srgbClr val="FFE289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6F1EE"/>
                </a:highlight>
              </a:rPr>
              <a:t>#5  Random Forest Classifier, Clustering</a:t>
            </a:r>
            <a:endParaRPr b="1" sz="2000">
              <a:solidFill>
                <a:schemeClr val="dk1"/>
              </a:solidFill>
              <a:highlight>
                <a:srgbClr val="F6F1EE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6F1EE"/>
                </a:highlight>
              </a:rPr>
              <a:t>#6  Neural Newtorks</a:t>
            </a:r>
            <a:endParaRPr b="1" sz="2000">
              <a:solidFill>
                <a:schemeClr val="dk1"/>
              </a:solidFill>
              <a:highlight>
                <a:srgbClr val="F6F1EE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6F1EE"/>
                </a:highlight>
              </a:rPr>
              <a:t>#7  Help Final Project</a:t>
            </a:r>
            <a:endParaRPr b="1" sz="2000">
              <a:solidFill>
                <a:schemeClr val="dk1"/>
              </a:solidFill>
              <a:highlight>
                <a:srgbClr val="F6F1EE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6F1EE"/>
                </a:highlight>
              </a:rPr>
              <a:t>#8  Help Final Project</a:t>
            </a:r>
            <a:endParaRPr b="1">
              <a:solidFill>
                <a:schemeClr val="dk1"/>
              </a:solidFill>
              <a:highlight>
                <a:srgbClr val="F6F1EE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94350" y="58625"/>
            <a:ext cx="8738100" cy="23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8"/>
              <a:buNone/>
            </a:pPr>
            <a:r>
              <a:rPr b="1" lang="en" sz="5550">
                <a:solidFill>
                  <a:schemeClr val="dk1"/>
                </a:solidFill>
                <a:highlight>
                  <a:srgbClr val="F6F1EE"/>
                </a:highlight>
              </a:rPr>
              <a:t>4 Bias, Variance, Overfitting, Classification</a:t>
            </a:r>
            <a:endParaRPr sz="5550">
              <a:solidFill>
                <a:schemeClr val="dk1"/>
              </a:solidFill>
              <a:highlight>
                <a:srgbClr val="F6F1EE"/>
              </a:highlight>
            </a:endParaRPr>
          </a:p>
        </p:txBody>
      </p:sp>
      <p:sp>
        <p:nvSpPr>
          <p:cNvPr id="112" name="Google Shape;112;p27"/>
          <p:cNvSpPr txBox="1"/>
          <p:nvPr/>
        </p:nvSpPr>
        <p:spPr>
          <a:xfrm>
            <a:off x="381525" y="2576725"/>
            <a:ext cx="6031200" cy="24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#4.1  Catch up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#4.2  Bias, variance tradeoff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#4.3  Overfitting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#4.4  Classification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#4.5  Classification Metrics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#4.6  Final Project Task 3 - Census Data Regression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#4.7  Questions &amp; Further reading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/>
          <p:nvPr/>
        </p:nvSpPr>
        <p:spPr>
          <a:xfrm>
            <a:off x="367751" y="850125"/>
            <a:ext cx="7240505" cy="4092864"/>
          </a:xfrm>
          <a:custGeom>
            <a:rect b="b" l="l" r="r" t="t"/>
            <a:pathLst>
              <a:path extrusionOk="0" h="4092864" w="7240505">
                <a:moveTo>
                  <a:pt x="0" y="0"/>
                </a:moveTo>
                <a:lnTo>
                  <a:pt x="7240505" y="0"/>
                </a:lnTo>
                <a:lnTo>
                  <a:pt x="7240505" y="4092864"/>
                </a:lnTo>
                <a:lnTo>
                  <a:pt x="0" y="40928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8"/>
          <p:cNvSpPr txBox="1"/>
          <p:nvPr/>
        </p:nvSpPr>
        <p:spPr>
          <a:xfrm>
            <a:off x="658675" y="1451125"/>
            <a:ext cx="71850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one thing that stood out to you: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thing you found surprising / interesting / useful etc.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 Catch up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" type="body"/>
          </p:nvPr>
        </p:nvSpPr>
        <p:spPr>
          <a:xfrm>
            <a:off x="311700" y="1152475"/>
            <a:ext cx="8520600" cy="3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500">
                <a:solidFill>
                  <a:schemeClr val="dk1"/>
                </a:solidFill>
                <a:highlight>
                  <a:srgbClr val="FFFFFF"/>
                </a:highlight>
              </a:rPr>
              <a:t>2 types of errors</a:t>
            </a:r>
            <a:endParaRPr sz="2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25" name="Google Shape;125;p29"/>
          <p:cNvSpPr/>
          <p:nvPr/>
        </p:nvSpPr>
        <p:spPr>
          <a:xfrm>
            <a:off x="0" y="3300"/>
            <a:ext cx="9144000" cy="914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 Bias, variance tradeoff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9"/>
          <p:cNvSpPr/>
          <p:nvPr/>
        </p:nvSpPr>
        <p:spPr>
          <a:xfrm>
            <a:off x="5026650" y="1344175"/>
            <a:ext cx="2436000" cy="91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9"/>
          <p:cNvSpPr/>
          <p:nvPr/>
        </p:nvSpPr>
        <p:spPr>
          <a:xfrm>
            <a:off x="4226900" y="2837300"/>
            <a:ext cx="1837800" cy="61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9"/>
          <p:cNvSpPr/>
          <p:nvPr/>
        </p:nvSpPr>
        <p:spPr>
          <a:xfrm>
            <a:off x="6458025" y="2837300"/>
            <a:ext cx="1837800" cy="61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9"/>
          <p:cNvSpPr/>
          <p:nvPr/>
        </p:nvSpPr>
        <p:spPr>
          <a:xfrm>
            <a:off x="3555400" y="4217175"/>
            <a:ext cx="1318500" cy="5550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9"/>
          <p:cNvSpPr/>
          <p:nvPr/>
        </p:nvSpPr>
        <p:spPr>
          <a:xfrm>
            <a:off x="5407650" y="4217175"/>
            <a:ext cx="1318500" cy="5550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9"/>
          <p:cNvSpPr txBox="1"/>
          <p:nvPr/>
        </p:nvSpPr>
        <p:spPr>
          <a:xfrm>
            <a:off x="5256150" y="1474375"/>
            <a:ext cx="1930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Machine Learning Errors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9"/>
          <p:cNvSpPr txBox="1"/>
          <p:nvPr/>
        </p:nvSpPr>
        <p:spPr>
          <a:xfrm>
            <a:off x="6458025" y="2915075"/>
            <a:ext cx="17262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Irreducible Error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9"/>
          <p:cNvSpPr txBox="1"/>
          <p:nvPr/>
        </p:nvSpPr>
        <p:spPr>
          <a:xfrm>
            <a:off x="4226900" y="2945750"/>
            <a:ext cx="17262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Reducible Error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9"/>
          <p:cNvSpPr txBox="1"/>
          <p:nvPr/>
        </p:nvSpPr>
        <p:spPr>
          <a:xfrm>
            <a:off x="3555400" y="4297500"/>
            <a:ext cx="1284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9"/>
          <p:cNvSpPr txBox="1"/>
          <p:nvPr/>
        </p:nvSpPr>
        <p:spPr>
          <a:xfrm>
            <a:off x="5407650" y="4297500"/>
            <a:ext cx="1284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Variance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29"/>
          <p:cNvCxnSpPr>
            <a:stCxn id="126" idx="2"/>
            <a:endCxn id="127" idx="0"/>
          </p:cNvCxnSpPr>
          <p:nvPr/>
        </p:nvCxnSpPr>
        <p:spPr>
          <a:xfrm rot="5400000">
            <a:off x="5405850" y="1998475"/>
            <a:ext cx="578700" cy="10989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" name="Google Shape;137;p29"/>
          <p:cNvCxnSpPr>
            <a:stCxn id="126" idx="2"/>
            <a:endCxn id="128" idx="0"/>
          </p:cNvCxnSpPr>
          <p:nvPr/>
        </p:nvCxnSpPr>
        <p:spPr>
          <a:xfrm flipH="1" rot="-5400000">
            <a:off x="6521400" y="1981825"/>
            <a:ext cx="578700" cy="11322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" name="Google Shape;138;p29"/>
          <p:cNvCxnSpPr>
            <a:stCxn id="127" idx="2"/>
            <a:endCxn id="129" idx="0"/>
          </p:cNvCxnSpPr>
          <p:nvPr/>
        </p:nvCxnSpPr>
        <p:spPr>
          <a:xfrm rot="5400000">
            <a:off x="4295750" y="3367250"/>
            <a:ext cx="768900" cy="9312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" name="Google Shape;139;p29"/>
          <p:cNvCxnSpPr>
            <a:stCxn id="127" idx="2"/>
            <a:endCxn id="130" idx="0"/>
          </p:cNvCxnSpPr>
          <p:nvPr/>
        </p:nvCxnSpPr>
        <p:spPr>
          <a:xfrm flipH="1" rot="-5400000">
            <a:off x="5221850" y="3372350"/>
            <a:ext cx="768900" cy="9210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idx="1" type="body"/>
          </p:nvPr>
        </p:nvSpPr>
        <p:spPr>
          <a:xfrm>
            <a:off x="311700" y="1259697"/>
            <a:ext cx="8520600" cy="33091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Bias</a:t>
            </a:r>
            <a:r>
              <a:rPr lang="en">
                <a:solidFill>
                  <a:schemeClr val="dk1"/>
                </a:solidFill>
              </a:rPr>
              <a:t> refers to the error introduced by approximating a real-world problem with a simplified model, leading to underfitting. 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Variance</a:t>
            </a:r>
            <a:r>
              <a:rPr lang="en">
                <a:solidFill>
                  <a:schemeClr val="dk1"/>
                </a:solidFill>
              </a:rPr>
              <a:t> refers to the model's sensitivity to small changes in the training data, often resulting in overfitting.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idx="1" type="body"/>
          </p:nvPr>
        </p:nvSpPr>
        <p:spPr>
          <a:xfrm>
            <a:off x="311700" y="411725"/>
            <a:ext cx="8520600" cy="4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7297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</a:rPr>
              <a:t>Bias and Variance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1621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Bias can be also inherent to our model: a classifier can be biased to a particular kind of solution (e.g. linear classifier).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1621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1621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HIGH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bias and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LOW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variance ---&gt; underfitting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258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the model is unable to capture the underlying pattern of the data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25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train error &gt; test error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25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is not robust enough to produce accurate predictions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25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use more complex model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25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Boosting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1621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1621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LOW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bias and 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HIGH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variance ---&gt; overfitting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258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train error &lt;&lt; test error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25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add more data, reduce model complexity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25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Bagging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/>
        </p:nvSpPr>
        <p:spPr>
          <a:xfrm>
            <a:off x="137250" y="102925"/>
            <a:ext cx="7943100" cy="1214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Bias, variance tradeoff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bias and </a:t>
            </a: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variance will give us a balanced mode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4526" y="1494647"/>
            <a:ext cx="3352800" cy="28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idx="1" type="body"/>
          </p:nvPr>
        </p:nvSpPr>
        <p:spPr>
          <a:xfrm>
            <a:off x="311700" y="1152475"/>
            <a:ext cx="8520600" cy="3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500">
                <a:solidFill>
                  <a:schemeClr val="dk1"/>
                </a:solidFill>
                <a:highlight>
                  <a:srgbClr val="FFFFFF"/>
                </a:highlight>
              </a:rPr>
              <a:t>Validation set</a:t>
            </a:r>
            <a:endParaRPr sz="2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61" name="Google Shape;161;p33"/>
          <p:cNvSpPr/>
          <p:nvPr/>
        </p:nvSpPr>
        <p:spPr>
          <a:xfrm>
            <a:off x="0" y="3300"/>
            <a:ext cx="9144000" cy="914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4.3 Overfitting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242" y="1955268"/>
            <a:ext cx="6642100" cy="290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Train Set:</a:t>
            </a:r>
            <a:r>
              <a:rPr lang="en">
                <a:solidFill>
                  <a:schemeClr val="dk1"/>
                </a:solidFill>
              </a:rPr>
              <a:t> Used to train the model by adjusting its parameters to minimize error.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Validation Set:</a:t>
            </a:r>
            <a:r>
              <a:rPr lang="en">
                <a:solidFill>
                  <a:schemeClr val="dk1"/>
                </a:solidFill>
              </a:rPr>
              <a:t> Used to tune hyperparameters and evaluate the model's performance during training to avoid overfitting.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Test Set:</a:t>
            </a:r>
            <a:r>
              <a:rPr lang="en">
                <a:solidFill>
                  <a:schemeClr val="dk1"/>
                </a:solidFill>
              </a:rPr>
              <a:t> Used for the final evaluation of the model's performance on unseen data.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98" y="441556"/>
            <a:ext cx="5744796" cy="3896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Time series data</a:t>
            </a:r>
            <a:endParaRPr/>
          </a:p>
        </p:txBody>
      </p:sp>
      <p:pic>
        <p:nvPicPr>
          <p:cNvPr id="178" name="Google Shape;17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954" y="1043558"/>
            <a:ext cx="5534896" cy="3693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7"/>
          <p:cNvSpPr/>
          <p:nvPr/>
        </p:nvSpPr>
        <p:spPr>
          <a:xfrm>
            <a:off x="0" y="3300"/>
            <a:ext cx="9144000" cy="914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4.4 Classification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445" y="1035219"/>
            <a:ext cx="6342903" cy="3754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863" y="444500"/>
            <a:ext cx="7188200" cy="425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231" y="444500"/>
            <a:ext cx="7188200" cy="425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444500"/>
            <a:ext cx="7188200" cy="425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444500"/>
            <a:ext cx="7188200" cy="425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2"/>
          <p:cNvSpPr/>
          <p:nvPr/>
        </p:nvSpPr>
        <p:spPr>
          <a:xfrm>
            <a:off x="0" y="3300"/>
            <a:ext cx="9144000" cy="914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4.5 Classification Metrics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2"/>
          <p:cNvSpPr txBox="1"/>
          <p:nvPr/>
        </p:nvSpPr>
        <p:spPr>
          <a:xfrm>
            <a:off x="152875" y="983200"/>
            <a:ext cx="5885700" cy="3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Misclassification</a:t>
            </a:r>
            <a:endParaRPr b="1" i="0" sz="17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b="1" i="0" sz="17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	</a:t>
            </a:r>
            <a:endParaRPr b="0" i="0" sz="8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Perfect classification is very rare.</a:t>
            </a:r>
            <a:b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use the Confusion Matrix to evaluate our classification results.</a:t>
            </a:r>
            <a:b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 general there are 4 values in the 2 class case: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	</a:t>
            </a:r>
            <a:endParaRPr b="0" i="0" sz="8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true positive (TP) = Predicted True &amp; Actual True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true negative (TN) = Predicted False &amp; Actual False 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false positive (FP)= Predicted True &amp; Actual False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false negative (FN)= Predicted False &amp; Actual True</a:t>
            </a:r>
            <a:r>
              <a:rPr b="0" i="0" lang="en" sz="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</a:t>
            </a:r>
            <a:endParaRPr b="0" i="0" sz="8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However, there are other important statistics. 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</a:t>
            </a:r>
            <a:endParaRPr b="0" i="0" sz="8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</a:t>
            </a:r>
            <a:endParaRPr b="0" i="0" sz="8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endParaRPr b="0" i="0" sz="8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2258" y="2585678"/>
            <a:ext cx="3152691" cy="2015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"/>
          <p:cNvSpPr txBox="1"/>
          <p:nvPr>
            <p:ph idx="1" type="body"/>
          </p:nvPr>
        </p:nvSpPr>
        <p:spPr>
          <a:xfrm>
            <a:off x="311700" y="278825"/>
            <a:ext cx="8520600" cy="4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3636"/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</a:rPr>
              <a:t>Important statistics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					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04545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Accuracy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: Overall, how often is the classifier correct? 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(TP+TN) / total = (100+50)/165 = 0.91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						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04545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Precision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: When it predicts yes, how often is it correct? 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TP / (TP+FP) = 100/(100+10) = 0.91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04545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04545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Recall/Sensitivity/TPR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: How good is it at positive? 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TP / (TP+FN) = 100/(100+5) = 0.95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					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04545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04545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Specificity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: How good is it at negative? 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04545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	TN / (TN+FP) = 50/(50+10) = 0.83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04545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04545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</a:rPr>
              <a:t>False Positive Rate </a:t>
            </a:r>
            <a:endParaRPr b="1"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204545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FPR = FP / (TN + FP) = 10/(50+10) = 0.6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17" name="Google Shape;21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7264" y="50477"/>
            <a:ext cx="3866925" cy="5093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412750"/>
            <a:ext cx="7188200" cy="43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059" y="412750"/>
            <a:ext cx="7188200" cy="43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98189"/>
            <a:ext cx="7772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6"/>
          <p:cNvSpPr txBox="1"/>
          <p:nvPr>
            <p:ph idx="1" type="body"/>
          </p:nvPr>
        </p:nvSpPr>
        <p:spPr>
          <a:xfrm>
            <a:off x="217410" y="4552718"/>
            <a:ext cx="1982266" cy="9911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Code on colab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7"/>
          <p:cNvSpPr txBox="1"/>
          <p:nvPr>
            <p:ph idx="1" type="body"/>
          </p:nvPr>
        </p:nvSpPr>
        <p:spPr>
          <a:xfrm>
            <a:off x="217410" y="4552718"/>
            <a:ext cx="1982266" cy="9911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Code on colab</a:t>
            </a:r>
            <a:endParaRPr/>
          </a:p>
        </p:txBody>
      </p:sp>
      <p:pic>
        <p:nvPicPr>
          <p:cNvPr id="239" name="Google Shape;239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9045" y="0"/>
            <a:ext cx="7772400" cy="4552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8"/>
          <p:cNvSpPr/>
          <p:nvPr/>
        </p:nvSpPr>
        <p:spPr>
          <a:xfrm>
            <a:off x="0" y="3300"/>
            <a:ext cx="9144000" cy="914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/>
              <a:t>4</a:t>
            </a: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2800"/>
              <a:t>6</a:t>
            </a: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800">
                <a:solidFill>
                  <a:schemeClr val="dk1"/>
                </a:solidFill>
              </a:rPr>
              <a:t>Final Project Task 3 - Census Data Regression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8"/>
          <p:cNvSpPr txBox="1"/>
          <p:nvPr/>
        </p:nvSpPr>
        <p:spPr>
          <a:xfrm>
            <a:off x="466425" y="1321500"/>
            <a:ext cx="7773600" cy="26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https://github.com/zahariesergiu/ubb-sociology-ml/blob/main/final_project/Final_Project_Task_3_Census_Modeling_Regression.ipynb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9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900">
                <a:solidFill>
                  <a:schemeClr val="dk1"/>
                </a:solidFill>
              </a:rPr>
              <a:t>#1 </a:t>
            </a:r>
            <a:r>
              <a:rPr lang="en" sz="9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Bias versus variance</a:t>
            </a:r>
            <a:r>
              <a:rPr lang="en" sz="900">
                <a:solidFill>
                  <a:schemeClr val="dk1"/>
                </a:solidFill>
              </a:rPr>
              <a:t>: </a:t>
            </a:r>
            <a:r>
              <a:rPr lang="en" sz="900" u="sng">
                <a:solidFill>
                  <a:schemeClr val="hlink"/>
                </a:solidFill>
                <a:hlinkClick r:id="rId4"/>
              </a:rPr>
              <a:t>https://inria.github.io/scikit-learn-mooc/overfit/bias_vs_variance_slides.html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900">
                <a:solidFill>
                  <a:schemeClr val="dk1"/>
                </a:solidFill>
              </a:rPr>
              <a:t>#2 </a:t>
            </a:r>
            <a:r>
              <a:rPr lang="en" sz="900">
                <a:solidFill>
                  <a:schemeClr val="hlink"/>
                </a:solidFill>
                <a:uFill>
                  <a:noFill/>
                </a:uFill>
                <a:hlinkClick r:id="rId5"/>
              </a:rPr>
              <a:t>Bias variance decomposition</a:t>
            </a:r>
            <a:r>
              <a:rPr lang="en" sz="900">
                <a:solidFill>
                  <a:schemeClr val="dk1"/>
                </a:solidFill>
              </a:rPr>
              <a:t>: </a:t>
            </a:r>
            <a:r>
              <a:rPr lang="en" sz="900" u="sng">
                <a:solidFill>
                  <a:schemeClr val="hlink"/>
                </a:solidFill>
                <a:hlinkClick r:id="rId6"/>
              </a:rPr>
              <a:t>https://www.youtube.com/watch?v=zUJbRO0Wavo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900">
                <a:solidFill>
                  <a:schemeClr val="dk1"/>
                </a:solidFill>
              </a:rPr>
              <a:t>#3 </a:t>
            </a:r>
            <a:r>
              <a:rPr lang="en" sz="900">
                <a:solidFill>
                  <a:schemeClr val="hlink"/>
                </a:solidFill>
                <a:uFill>
                  <a:noFill/>
                </a:uFill>
                <a:hlinkClick r:id="rId7"/>
              </a:rPr>
              <a:t>How (and why) to create a good validation set</a:t>
            </a:r>
            <a:r>
              <a:rPr lang="en" sz="900">
                <a:solidFill>
                  <a:schemeClr val="dk1"/>
                </a:solidFill>
              </a:rPr>
              <a:t>: </a:t>
            </a:r>
            <a:r>
              <a:rPr lang="en" sz="900" u="sng">
                <a:solidFill>
                  <a:schemeClr val="hlink"/>
                </a:solidFill>
                <a:hlinkClick r:id="rId8"/>
              </a:rPr>
              <a:t>https://www.fast.ai/posts/2017-11-13-validation-sets.html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900">
                <a:solidFill>
                  <a:schemeClr val="dk1"/>
                </a:solidFill>
              </a:rPr>
              <a:t>#4 </a:t>
            </a:r>
            <a:r>
              <a:rPr lang="en" sz="900">
                <a:solidFill>
                  <a:schemeClr val="hlink"/>
                </a:solidFill>
                <a:uFill>
                  <a:noFill/>
                </a:uFill>
                <a:hlinkClick r:id="rId9"/>
              </a:rPr>
              <a:t>Problems with metrics</a:t>
            </a:r>
            <a:r>
              <a:rPr lang="en" sz="900">
                <a:solidFill>
                  <a:schemeClr val="dk1"/>
                </a:solidFill>
              </a:rPr>
              <a:t>: </a:t>
            </a:r>
            <a:r>
              <a:rPr lang="en" sz="900" u="sng">
                <a:solidFill>
                  <a:schemeClr val="hlink"/>
                </a:solidFill>
                <a:hlinkClick r:id="rId10"/>
              </a:rPr>
              <a:t>https://www.fast.ai/posts/2019-09-24-metrics.html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900">
                <a:solidFill>
                  <a:schemeClr val="dk1"/>
                </a:solidFill>
              </a:rPr>
              <a:t>#5 </a:t>
            </a:r>
            <a:r>
              <a:rPr lang="en" sz="900">
                <a:solidFill>
                  <a:schemeClr val="hlink"/>
                </a:solidFill>
                <a:uFill>
                  <a:noFill/>
                </a:uFill>
                <a:hlinkClick r:id="rId11"/>
              </a:rPr>
              <a:t>Evaluating models</a:t>
            </a:r>
            <a:r>
              <a:rPr lang="en" sz="900">
                <a:solidFill>
                  <a:schemeClr val="dk1"/>
                </a:solidFill>
              </a:rPr>
              <a:t>: </a:t>
            </a:r>
            <a:r>
              <a:rPr lang="en" sz="900" u="sng">
                <a:solidFill>
                  <a:schemeClr val="hlink"/>
                </a:solidFill>
                <a:hlinkClick r:id="rId12"/>
              </a:rPr>
              <a:t>https://alan-turing-institute.github.io/rds-course/modules/m4/4.4-ModelEvaluation.html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900">
                <a:solidFill>
                  <a:schemeClr val="dk1"/>
                </a:solidFill>
              </a:rPr>
              <a:t>#6 </a:t>
            </a:r>
            <a:r>
              <a:rPr lang="en" sz="900">
                <a:solidFill>
                  <a:schemeClr val="hlink"/>
                </a:solidFill>
                <a:uFill>
                  <a:noFill/>
                </a:uFill>
                <a:hlinkClick r:id="rId13"/>
              </a:rPr>
              <a:t>Sensitivity and Specificity for more than two classes</a:t>
            </a:r>
            <a:r>
              <a:rPr lang="en" sz="900">
                <a:solidFill>
                  <a:schemeClr val="dk1"/>
                </a:solidFill>
              </a:rPr>
              <a:t>: </a:t>
            </a:r>
            <a:r>
              <a:rPr lang="en" sz="900" u="sng">
                <a:solidFill>
                  <a:schemeClr val="hlink"/>
                </a:solidFill>
                <a:hlinkClick r:id="rId14"/>
              </a:rPr>
              <a:t>https://www.youtube.com/watch?v=vP06aMoz4v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900">
                <a:solidFill>
                  <a:schemeClr val="dk1"/>
                </a:solidFill>
              </a:rPr>
              <a:t>#7 </a:t>
            </a:r>
            <a:r>
              <a:rPr lang="en" sz="900">
                <a:solidFill>
                  <a:schemeClr val="hlink"/>
                </a:solidFill>
                <a:uFill>
                  <a:noFill/>
                </a:uFill>
                <a:hlinkClick r:id="rId15"/>
              </a:rPr>
              <a:t>Should Computers Run the World? - with Hannah Fry</a:t>
            </a:r>
            <a:r>
              <a:rPr lang="en" sz="900">
                <a:solidFill>
                  <a:schemeClr val="dk1"/>
                </a:solidFill>
              </a:rPr>
              <a:t>: </a:t>
            </a:r>
            <a:r>
              <a:rPr lang="en" sz="900" u="sng">
                <a:solidFill>
                  <a:schemeClr val="hlink"/>
                </a:solidFill>
                <a:hlinkClick r:id="rId16"/>
              </a:rPr>
              <a:t>https://www.youtube.com/watch?v=Rzhpf1Ai7Z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900">
                <a:solidFill>
                  <a:schemeClr val="dk1"/>
                </a:solidFill>
              </a:rPr>
              <a:t>#8 </a:t>
            </a:r>
            <a:r>
              <a:rPr lang="en" sz="900">
                <a:solidFill>
                  <a:schemeClr val="hlink"/>
                </a:solidFill>
                <a:uFill>
                  <a:noFill/>
                </a:uFill>
                <a:hlinkClick r:id="rId17"/>
              </a:rPr>
              <a:t>Build a classification tree using Gini impurity</a:t>
            </a:r>
            <a:r>
              <a:rPr lang="en" sz="900">
                <a:solidFill>
                  <a:schemeClr val="dk1"/>
                </a:solidFill>
              </a:rPr>
              <a:t>: </a:t>
            </a:r>
            <a:r>
              <a:rPr lang="en" sz="900" u="sng">
                <a:solidFill>
                  <a:schemeClr val="hlink"/>
                </a:solidFill>
                <a:hlinkClick r:id="rId18"/>
              </a:rPr>
              <a:t>https://www.youtube.com/watch?v=_L39rN6gz7Y&amp;t=196s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900">
                <a:solidFill>
                  <a:schemeClr val="dk1"/>
                </a:solidFill>
              </a:rPr>
              <a:t>#9 </a:t>
            </a:r>
            <a:r>
              <a:rPr lang="en" sz="900">
                <a:solidFill>
                  <a:schemeClr val="hlink"/>
                </a:solidFill>
                <a:uFill>
                  <a:noFill/>
                </a:uFill>
                <a:hlinkClick r:id="rId19"/>
              </a:rPr>
              <a:t>Adaptive Boosting (AdaBoost) on Penguin data</a:t>
            </a:r>
            <a:r>
              <a:rPr lang="en" sz="900">
                <a:solidFill>
                  <a:schemeClr val="dk1"/>
                </a:solidFill>
              </a:rPr>
              <a:t>: </a:t>
            </a:r>
            <a:r>
              <a:rPr lang="en" sz="900" u="sng">
                <a:solidFill>
                  <a:schemeClr val="hlink"/>
                </a:solidFill>
                <a:hlinkClick r:id="rId20"/>
              </a:rPr>
              <a:t>https://github.com/INRIA/scikit-learn-mooc/blob/main/notebooks/ensemble_adaboost.ipynb</a:t>
            </a:r>
            <a:endParaRPr sz="9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900">
                <a:solidFill>
                  <a:schemeClr val="dk1"/>
                </a:solidFill>
              </a:rPr>
              <a:t>#10</a:t>
            </a:r>
            <a:r>
              <a:rPr lang="en" sz="900"/>
              <a:t> </a:t>
            </a:r>
            <a:r>
              <a:rPr lang="en" sz="900">
                <a:solidFill>
                  <a:schemeClr val="hlink"/>
                </a:solidFill>
                <a:uFill>
                  <a:noFill/>
                </a:uFill>
                <a:hlinkClick r:id="rId21"/>
              </a:rPr>
              <a:t>ROC and AUC</a:t>
            </a:r>
            <a:r>
              <a:rPr lang="en" sz="900"/>
              <a:t>: </a:t>
            </a:r>
            <a:r>
              <a:rPr lang="en" sz="700" u="sng">
                <a:solidFill>
                  <a:schemeClr val="hlink"/>
                </a:solidFill>
                <a:hlinkClick r:id="rId22"/>
              </a:rPr>
              <a:t>https://developers.google.com/machine-learning/crash-course/classification/roc-and-auc#:~:text=The%20points%20on%20a%20ROC,to%20the%20specific%20use%20case.</a:t>
            </a:r>
            <a:endParaRPr sz="7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900">
                <a:solidFill>
                  <a:schemeClr val="dk1"/>
                </a:solidFill>
              </a:rPr>
              <a:t>#11</a:t>
            </a:r>
            <a:r>
              <a:rPr lang="en" sz="900">
                <a:solidFill>
                  <a:schemeClr val="dk1"/>
                </a:solidFill>
              </a:rPr>
              <a:t> </a:t>
            </a:r>
            <a:r>
              <a:rPr lang="en" sz="900">
                <a:solidFill>
                  <a:schemeClr val="hlink"/>
                </a:solidFill>
                <a:uFill>
                  <a:noFill/>
                </a:uFill>
                <a:hlinkClick r:id="rId23"/>
              </a:rPr>
              <a:t>What is the Classification Threshold in Machine Learning?:</a:t>
            </a:r>
            <a:r>
              <a:rPr lang="en" sz="900"/>
              <a:t> </a:t>
            </a:r>
            <a:r>
              <a:rPr lang="en" sz="900" u="sng">
                <a:solidFill>
                  <a:schemeClr val="hlink"/>
                </a:solidFill>
                <a:hlinkClick r:id="rId24"/>
              </a:rPr>
              <a:t>https://www.iguazio.com/glossary/classification-threshold/</a:t>
            </a:r>
            <a:endParaRPr sz="900"/>
          </a:p>
        </p:txBody>
      </p:sp>
      <p:sp>
        <p:nvSpPr>
          <p:cNvPr id="251" name="Google Shape;251;p49"/>
          <p:cNvSpPr/>
          <p:nvPr/>
        </p:nvSpPr>
        <p:spPr>
          <a:xfrm>
            <a:off x="0" y="3300"/>
            <a:ext cx="9144000" cy="914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4.7 Further Reading &amp; Questions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0"/>
          <p:cNvSpPr txBox="1"/>
          <p:nvPr>
            <p:ph idx="1" type="subTitle"/>
          </p:nvPr>
        </p:nvSpPr>
        <p:spPr>
          <a:xfrm>
            <a:off x="557650" y="293500"/>
            <a:ext cx="7550100" cy="42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8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8200">
                <a:solidFill>
                  <a:schemeClr val="dk1"/>
                </a:solidFill>
              </a:rPr>
              <a:t>Thank you !!</a:t>
            </a:r>
            <a:endParaRPr b="1" sz="8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00">
                <a:solidFill>
                  <a:schemeClr val="dk1"/>
                </a:solidFill>
              </a:rPr>
              <a:t>Machine Learning Engineer / Data Scientist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zahariesergiu@gmail.com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00">
                <a:solidFill>
                  <a:schemeClr val="hlink"/>
                </a:solidFill>
                <a:uFill>
                  <a:noFill/>
                </a:uFill>
                <a:hlinkClick r:id="rId4"/>
              </a:rPr>
              <a:t>https://www.linkedin.com/in/zahariesergiu/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https://github.com/zahariesergiu/ubb-sociology-ml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